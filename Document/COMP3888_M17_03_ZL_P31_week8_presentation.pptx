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70" r:id="rId3"/>
    <p:sldId id="257" r:id="rId5"/>
    <p:sldId id="258" r:id="rId6"/>
    <p:sldId id="259" r:id="rId7"/>
    <p:sldId id="260" r:id="rId8"/>
    <p:sldId id="261" r:id="rId9"/>
    <p:sldId id="262" r:id="rId10"/>
    <p:sldId id="263" r:id="rId11"/>
    <p:sldId id="264" r:id="rId12"/>
    <p:sldId id="265" r:id="rId13"/>
    <p:sldId id="266" r:id="rId14"/>
    <p:sldId id="267" r:id="rId15"/>
    <p:sldId id="268"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27" userDrawn="1">
          <p15:clr>
            <a:srgbClr val="A4A3A4"/>
          </p15:clr>
        </p15:guide>
        <p15:guide id="2" pos="40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6C9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52"/>
    <p:restoredTop sz="94610"/>
  </p:normalViewPr>
  <p:slideViewPr>
    <p:cSldViewPr snapToGrid="0" snapToObjects="1" showGuides="1">
      <p:cViewPr varScale="1">
        <p:scale>
          <a:sx n="107" d="100"/>
          <a:sy n="107" d="100"/>
        </p:scale>
        <p:origin x="640" y="160"/>
      </p:cViewPr>
      <p:guideLst>
        <p:guide orient="horz" pos="727"/>
        <p:guide pos="40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Hi everyone. We are team P31, and our project is a longitudinal PET/CT lesion tracking prototype. In the next eight minutes, we will explain the problem, our system design, the current pipeline, and the main results. After that, our recorded demo will show the prototype running on real data.</a:t>
            </a:r>
            <a:endParaRPr lang="en-US" altLang="zh-CN"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Y
This slide is client-oriented. Avoid detailed implementation; focus on what is usable today.
Mention that the prototype is not a diagnostic system, but it can support research review and inspection.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Y
Walk through the user stories quickly. Do not read every cell.
Emphasise that each story has acceptance evidence either in the live dashboard or in generated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L
Explain the architecture at a high level: data preparation, registration, features, matching, evaluation, dashboard.
Client point: modular structure makes it easier to verify and polish rather than being a black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L
Client focus: the launcher is a deployment aid. It reduces setup friction and path mistakes.
Mention that it supports demo mode so the live presentation does not wait for registration during the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H
Explain what will be shown in the live demo: axial, coronal, sagittal; masks; CT/PET if available.
Client point: this is the main review interface, and it now responds quickly on real Cohort A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H
Explain outcomes in simple client language: matched, merge, new, disappearing.
Do not over-explain the algorithm; focus on interpretability and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Y
Tell the client these are baseline evaluation results, not a final clinical benchmark.
Emphasise that ground truth is not used by the matcher; it is only used after prediction for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Y
Use this slide to set expectations for the live demo. The live test sequence is short and client-focused.
This is a bridge from slide presentation to dashboard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Q
Clients may care less about docs and more about confidence. Explain quality in terms of what protects their workflow.
Mention performance fix briefly as evidence of real integration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Q
Client-oriented transparency slide. Do not over-apologise; show that the team knows limits and next steps.
Clarify that the prototype is useful for research review, not clinical diagnosis or treatment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Q
Close the spoken section by inviting targeted client feedback.
Then hand over to the live demo operator.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Q
Thank the client and transition directly into the live dashboard demonstration.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080E1D"/>
        </a:solidFill>
        <a:effectLst/>
      </p:bgPr>
    </p:bg>
    <p:spTree>
      <p:nvGrpSpPr>
        <p:cNvPr id="1" name=""/>
        <p:cNvGrpSpPr/>
        <p:nvPr/>
      </p:nvGrpSpPr>
      <p:grpSpPr>
        <a:xfrm>
          <a:off x="0" y="0"/>
          <a:ext cx="0" cy="0"/>
          <a:chOff x="0" y="0"/>
          <a:chExt cx="0" cy="0"/>
        </a:xfrm>
      </p:grpSpPr>
      <p:sp>
        <p:nvSpPr>
          <p:cNvPr id="2" name="Shape 0"/>
          <p:cNvSpPr/>
          <p:nvPr/>
        </p:nvSpPr>
        <p:spPr>
          <a:xfrm>
            <a:off x="320040" y="6537960"/>
            <a:ext cx="11567160" cy="0"/>
          </a:xfrm>
          <a:prstGeom prst="line">
            <a:avLst/>
          </a:prstGeom>
          <a:noFill/>
          <a:ln w="7620">
            <a:solidFill>
              <a:srgbClr val="293345">
                <a:alpha val="90000"/>
              </a:srgbClr>
            </a:solidFill>
            <a:prstDash val="solid"/>
          </a:ln>
        </p:spPr>
        <p:txBody>
          <a:bodyPr/>
          <a:lstStyle/>
          <a:p>
            <a:endParaRPr lang="zh-CN" altLang="en-US"/>
          </a:p>
        </p:txBody>
      </p:sp>
      <p:sp>
        <p:nvSpPr>
          <p:cNvPr id="3" name="Text 1"/>
          <p:cNvSpPr/>
          <p:nvPr/>
        </p:nvSpPr>
        <p:spPr>
          <a:xfrm>
            <a:off x="347472" y="6592824"/>
            <a:ext cx="4389120" cy="137160"/>
          </a:xfrm>
          <a:prstGeom prst="rect">
            <a:avLst/>
          </a:prstGeom>
          <a:noFill/>
        </p:spPr>
        <p:txBody>
          <a:bodyPr wrap="square" lIns="0" tIns="0" rIns="0" bIns="0" rtlCol="0" anchor="ctr"/>
          <a:lstStyle/>
          <a:p>
            <a:pPr marL="0" indent="0">
              <a:buNone/>
            </a:pPr>
            <a:r>
              <a:rPr lang="en-US" sz="550" dirty="0">
                <a:solidFill>
                  <a:srgbClr val="6F7D91"/>
                </a:solidFill>
                <a:latin typeface="Aptos" pitchFamily="34" charset="0"/>
                <a:ea typeface="Aptos" pitchFamily="34" charset="-122"/>
                <a:cs typeface="Aptos" pitchFamily="34" charset="-120"/>
              </a:rPr>
              <a:t>COMP3888 P31 · Longitudinal PET/CT Lesion Tracking</a:t>
            </a:r>
            <a:endParaRPr lang="en-US" sz="550" dirty="0"/>
          </a:p>
        </p:txBody>
      </p:sp>
      <p:sp>
        <p:nvSpPr>
          <p:cNvPr id="25" name="Slide Number Placeholder 0"/>
          <p:cNvSpPr>
            <a:spLocks noGrp="1"/>
          </p:cNvSpPr>
          <p:nvPr>
            <p:ph type="sldNum" sz="quarter" idx="4294967295"/>
          </p:nvPr>
        </p:nvSpPr>
        <p:spPr>
          <a:xfrm>
            <a:off x="11567160" y="6574536"/>
            <a:ext cx="800000" cy="300000"/>
          </a:xfrm>
          <a:prstGeom prst="rect">
            <a:avLst/>
          </a:prstGeom>
        </p:spPr>
        <p:txBody>
          <a:bodyPr/>
          <a:lstStyle>
            <a:lvl1pPr>
              <a:defRPr sz="550">
                <a:solidFill>
                  <a:srgbClr val="6F7D91"/>
                </a:solidFill>
                <a:latin typeface="Aptos"/>
                <a:ea typeface="Aptos"/>
                <a:cs typeface="Aptos"/>
              </a:defRPr>
            </a:lvl1pPr>
          </a:lstStyle>
          <a:p>
            <a:pPr algn="l"/>
            <a:fld id="{F7021451-1387-4CA6-816F-3879F97B5CBC}" type="slidenum">
              <a:rPr lang="en-US" b="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BASE">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502920" y="6510528"/>
            <a:ext cx="11201400" cy="0"/>
          </a:xfrm>
          <a:prstGeom prst="line">
            <a:avLst/>
          </a:prstGeom>
          <a:noFill/>
          <a:ln w="12700">
            <a:solidFill>
              <a:srgbClr val="2D3B57"/>
            </a:solidFill>
            <a:prstDash val="solid"/>
          </a:ln>
        </p:spPr>
        <p:txBody>
          <a:bodyPr/>
          <a:lstStyle/>
          <a:p>
            <a:endParaRPr lang="zh-CN" altLang="en-US"/>
          </a:p>
        </p:txBody>
      </p:sp>
      <p:sp>
        <p:nvSpPr>
          <p:cNvPr id="3" name="Text 1"/>
          <p:cNvSpPr/>
          <p:nvPr/>
        </p:nvSpPr>
        <p:spPr>
          <a:xfrm>
            <a:off x="548640" y="6565392"/>
            <a:ext cx="7498080" cy="164592"/>
          </a:xfrm>
          <a:prstGeom prst="rect">
            <a:avLst/>
          </a:prstGeom>
          <a:noFill/>
        </p:spPr>
        <p:txBody>
          <a:bodyPr wrap="square" rtlCol="0" anchor="ctr"/>
          <a:lstStyle/>
          <a:p>
            <a:pPr marL="0" indent="0">
              <a:buNone/>
            </a:pPr>
            <a:r>
              <a:rPr lang="en-US" sz="750" dirty="0">
                <a:solidFill>
                  <a:srgbClr val="94A3B8"/>
                </a:solidFill>
                <a:latin typeface="Aptos" pitchFamily="34" charset="0"/>
                <a:ea typeface="Aptos" pitchFamily="34" charset="-122"/>
                <a:cs typeface="Aptos" pitchFamily="34" charset="-120"/>
              </a:rPr>
              <a:t>COMP3888 P31 · Longitudinal PET/CT Lesion Tracking</a:t>
            </a:r>
            <a:endParaRPr lang="en-US" sz="750" dirty="0"/>
          </a:p>
        </p:txBody>
      </p:sp>
      <p:sp>
        <p:nvSpPr>
          <p:cNvPr id="25" name="Slide Number Placeholder 0"/>
          <p:cNvSpPr>
            <a:spLocks noGrp="1"/>
          </p:cNvSpPr>
          <p:nvPr>
            <p:ph type="sldNum" sz="quarter" idx="4294967295"/>
          </p:nvPr>
        </p:nvSpPr>
        <p:spPr>
          <a:xfrm>
            <a:off x="11384280" y="6547104"/>
            <a:ext cx="800000" cy="300000"/>
          </a:xfrm>
          <a:prstGeom prst="rect">
            <a:avLst/>
          </a:prstGeom>
        </p:spPr>
        <p:txBody>
          <a:bodyPr/>
          <a:lstStyle>
            <a:lvl1pPr>
              <a:defRPr sz="700">
                <a:solidFill>
                  <a:srgbClr val="94A3B8"/>
                </a:solidFill>
                <a:latin typeface="Aptos"/>
                <a:ea typeface="Aptos"/>
                <a:cs typeface="Aptos"/>
              </a:defRPr>
            </a:lvl1pPr>
          </a:lstStyle>
          <a:p>
            <a:pPr algn="l"/>
            <a:fld id="{F7021451-1387-4CA6-816F-3879F97B5CBC}" type="slidenum">
              <a:rPr lang="en-US" b="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67160" y="6574536"/>
            <a:ext cx="800000" cy="300000"/>
          </a:xfrm>
          <a:prstGeom prst="rect">
            <a:avLst/>
          </a:prstGeom>
        </p:spPr>
        <p:txBody>
          <a:bodyPr/>
          <a:lstStyle>
            <a:lvl1pPr>
              <a:defRPr sz="550">
                <a:solidFill>
                  <a:srgbClr val="6F7D91"/>
                </a:solidFill>
                <a:latin typeface="Aptos"/>
                <a:ea typeface="Aptos"/>
                <a:cs typeface="Aptos"/>
              </a:defRPr>
            </a:lvl1pPr>
          </a:lstStyle>
          <a:p>
            <a:pPr algn="l"/>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a:spLocks noGrp="1"/>
          </p:cNvSpPr>
          <p:nvPr/>
        </p:nvSpPr>
        <p:spPr>
          <a:xfrm>
            <a:off x="616524" y="278825"/>
            <a:ext cx="6455475" cy="285750"/>
          </a:xfrm>
          <a:prstGeom prst="rect">
            <a:avLst/>
          </a:prstGeom>
          <a:noFill/>
          <a:ln w="0">
            <a:noFill/>
            <a:prstDash val="solid"/>
          </a:ln>
        </p:spPr>
        <p:txBody>
          <a:bodyPr anchor="t"/>
          <a:lstStyle/>
          <a:p>
            <a:pPr>
              <a:defRPr sz="1650" b="1">
                <a:solidFill>
                  <a:srgbClr val="5A5F68"/>
                </a:solidFill>
              </a:defRPr>
            </a:pPr>
            <a:r>
              <a:rPr sz="1650" b="1" i="1" dirty="0">
                <a:solidFill>
                  <a:schemeClr val="bg1"/>
                </a:solidFill>
                <a:latin typeface="Times New Roman" panose="02020603050405020304" pitchFamily="18" charset="0"/>
                <a:cs typeface="Times New Roman" panose="02020603050405020304" pitchFamily="18" charset="0"/>
              </a:rPr>
              <a:t>COMP3888_M17_03_ZL | Project 31</a:t>
            </a:r>
            <a:r>
              <a:rPr lang="zh-CN" altLang="en-US" sz="1650" b="1" i="1" dirty="0">
                <a:solidFill>
                  <a:schemeClr val="bg1"/>
                </a:solidFill>
                <a:latin typeface="Times New Roman" panose="02020603050405020304" pitchFamily="18" charset="0"/>
                <a:cs typeface="Times New Roman" panose="02020603050405020304" pitchFamily="18" charset="0"/>
              </a:rPr>
              <a:t> </a:t>
            </a:r>
            <a:r>
              <a:rPr lang="en-US" altLang="zh-CN" sz="1650" b="1" i="1" dirty="0">
                <a:solidFill>
                  <a:schemeClr val="bg1"/>
                </a:solidFill>
                <a:latin typeface="Times New Roman" panose="02020603050405020304" pitchFamily="18" charset="0"/>
                <a:cs typeface="Times New Roman" panose="02020603050405020304" pitchFamily="18" charset="0"/>
              </a:rPr>
              <a:t>| </a:t>
            </a:r>
            <a:r>
              <a:rPr lang="en-US" sz="1650" b="1" i="1" dirty="0">
                <a:solidFill>
                  <a:schemeClr val="bg1"/>
                </a:solidFill>
                <a:latin typeface="Times New Roman" panose="02020603050405020304" pitchFamily="18" charset="0"/>
                <a:cs typeface="Times New Roman" panose="02020603050405020304" pitchFamily="18" charset="0"/>
              </a:rPr>
              <a:t>Client Deployment Demo</a:t>
            </a:r>
            <a:endParaRPr lang="en-US" sz="1650" b="1" i="1" dirty="0">
              <a:solidFill>
                <a:schemeClr val="bg1"/>
              </a:solidFill>
              <a:latin typeface="Times New Roman" panose="02020603050405020304" pitchFamily="18" charset="0"/>
              <a:cs typeface="Times New Roman" panose="02020603050405020304" pitchFamily="18" charset="0"/>
            </a:endParaRPr>
          </a:p>
          <a:p>
            <a:pPr>
              <a:defRPr sz="1650" b="1">
                <a:solidFill>
                  <a:srgbClr val="5A5F68"/>
                </a:solidFill>
              </a:defRPr>
            </a:pPr>
            <a:endParaRPr sz="1650" b="1" i="1" dirty="0">
              <a:solidFill>
                <a:schemeClr val="bg1"/>
              </a:solidFill>
              <a:latin typeface="Times New Roman" panose="02020603050405020304" pitchFamily="18" charset="0"/>
              <a:cs typeface="Times New Roman" panose="02020603050405020304" pitchFamily="18" charset="0"/>
            </a:endParaRPr>
          </a:p>
        </p:txBody>
      </p:sp>
      <p:sp>
        <p:nvSpPr>
          <p:cNvPr id="9" name="矩形 8"/>
          <p:cNvSpPr>
            <a:spLocks noGrp="1"/>
          </p:cNvSpPr>
          <p:nvPr/>
        </p:nvSpPr>
        <p:spPr>
          <a:xfrm>
            <a:off x="592775" y="1582636"/>
            <a:ext cx="7524750" cy="1428750"/>
          </a:xfrm>
          <a:prstGeom prst="rect">
            <a:avLst/>
          </a:prstGeom>
          <a:noFill/>
          <a:ln w="0">
            <a:noFill/>
            <a:prstDash val="solid"/>
          </a:ln>
        </p:spPr>
        <p:txBody>
          <a:bodyPr anchor="t"/>
          <a:lstStyle/>
          <a:p>
            <a:pPr algn="l">
              <a:spcBef>
                <a:spcPts val="600"/>
              </a:spcBef>
              <a:defRPr sz="3450" b="1">
                <a:solidFill>
                  <a:srgbClr val="111111"/>
                </a:solidFill>
              </a:defRPr>
            </a:pPr>
            <a:r>
              <a:rPr sz="3600" b="1" dirty="0">
                <a:solidFill>
                  <a:schemeClr val="bg1"/>
                </a:solidFill>
                <a:latin typeface="Times New Roman" panose="02020603050405020304" pitchFamily="18" charset="0"/>
                <a:cs typeface="Times New Roman" panose="02020603050405020304" pitchFamily="18" charset="0"/>
              </a:rPr>
              <a:t>Longitudinal PET/CT Lesion Quantification and Treatment</a:t>
            </a:r>
            <a:endParaRPr sz="3600" b="1" dirty="0">
              <a:solidFill>
                <a:schemeClr val="bg1"/>
              </a:solidFill>
              <a:latin typeface="Times New Roman" panose="02020603050405020304" pitchFamily="18" charset="0"/>
              <a:cs typeface="Times New Roman" panose="02020603050405020304" pitchFamily="18" charset="0"/>
            </a:endParaRPr>
          </a:p>
        </p:txBody>
      </p:sp>
      <p:sp>
        <p:nvSpPr>
          <p:cNvPr id="11" name="矩形 10"/>
          <p:cNvSpPr>
            <a:spLocks noGrp="1"/>
          </p:cNvSpPr>
          <p:nvPr/>
        </p:nvSpPr>
        <p:spPr>
          <a:xfrm>
            <a:off x="711528" y="3346617"/>
            <a:ext cx="3429000" cy="2116031"/>
          </a:xfrm>
          <a:prstGeom prst="rect">
            <a:avLst/>
          </a:prstGeom>
          <a:noFill/>
          <a:ln w="0">
            <a:noFill/>
            <a:prstDash val="solid"/>
          </a:ln>
        </p:spPr>
        <p:txBody>
          <a:bodyPr anchor="t"/>
          <a:lstStyle/>
          <a:p>
            <a:pPr algn="l">
              <a:lnSpc>
                <a:spcPct val="200000"/>
              </a:lnSpc>
              <a:defRPr sz="1575" b="0">
                <a:solidFill>
                  <a:srgbClr val="111111"/>
                </a:solidFill>
              </a:defRPr>
            </a:pPr>
            <a:r>
              <a:rPr sz="1575" b="0" dirty="0">
                <a:solidFill>
                  <a:schemeClr val="bg1"/>
                </a:solidFill>
                <a:latin typeface="Times New Roman" panose="02020603050405020304" pitchFamily="18" charset="0"/>
                <a:cs typeface="Times New Roman" panose="02020603050405020304" pitchFamily="18" charset="0"/>
              </a:rPr>
              <a:t>Client: Zilin Zhang</a:t>
            </a:r>
            <a:endParaRPr sz="1575" b="0" dirty="0">
              <a:solidFill>
                <a:schemeClr val="bg1"/>
              </a:solidFill>
              <a:latin typeface="Times New Roman" panose="02020603050405020304" pitchFamily="18" charset="0"/>
              <a:cs typeface="Times New Roman" panose="02020603050405020304" pitchFamily="18" charset="0"/>
            </a:endParaRPr>
          </a:p>
          <a:p>
            <a:pPr algn="l">
              <a:lnSpc>
                <a:spcPct val="200000"/>
              </a:lnSpc>
              <a:defRPr sz="1575" b="0">
                <a:solidFill>
                  <a:srgbClr val="111111"/>
                </a:solidFill>
              </a:defRPr>
            </a:pPr>
            <a:r>
              <a:rPr sz="1575" b="0" dirty="0">
                <a:solidFill>
                  <a:schemeClr val="bg1"/>
                </a:solidFill>
                <a:latin typeface="Times New Roman" panose="02020603050405020304" pitchFamily="18" charset="0"/>
                <a:cs typeface="Times New Roman" panose="02020603050405020304" pitchFamily="18" charset="0"/>
              </a:rPr>
              <a:t>Tutor: </a:t>
            </a:r>
            <a:r>
              <a:rPr sz="1575" b="0" dirty="0" err="1">
                <a:solidFill>
                  <a:schemeClr val="bg1"/>
                </a:solidFill>
                <a:latin typeface="Times New Roman" panose="02020603050405020304" pitchFamily="18" charset="0"/>
                <a:cs typeface="Times New Roman" panose="02020603050405020304" pitchFamily="18" charset="0"/>
              </a:rPr>
              <a:t>Zhenlin</a:t>
            </a:r>
            <a:r>
              <a:rPr sz="1575" b="0" dirty="0">
                <a:solidFill>
                  <a:schemeClr val="bg1"/>
                </a:solidFill>
                <a:latin typeface="Times New Roman" panose="02020603050405020304" pitchFamily="18" charset="0"/>
                <a:cs typeface="Times New Roman" panose="02020603050405020304" pitchFamily="18" charset="0"/>
              </a:rPr>
              <a:t> Liu</a:t>
            </a:r>
            <a:endParaRPr sz="1575" b="0" dirty="0">
              <a:solidFill>
                <a:schemeClr val="bg1"/>
              </a:solidFill>
              <a:latin typeface="Times New Roman" panose="02020603050405020304" pitchFamily="18" charset="0"/>
              <a:cs typeface="Times New Roman" panose="02020603050405020304" pitchFamily="18" charset="0"/>
            </a:endParaRPr>
          </a:p>
          <a:p>
            <a:pPr algn="l">
              <a:lnSpc>
                <a:spcPct val="200000"/>
              </a:lnSpc>
              <a:defRPr sz="1575" b="0">
                <a:solidFill>
                  <a:srgbClr val="111111"/>
                </a:solidFill>
              </a:defRPr>
            </a:pPr>
            <a:r>
              <a:rPr sz="1575" b="0" dirty="0">
                <a:solidFill>
                  <a:schemeClr val="bg1"/>
                </a:solidFill>
                <a:latin typeface="Times New Roman" panose="02020603050405020304" pitchFamily="18" charset="0"/>
                <a:cs typeface="Times New Roman" panose="02020603050405020304" pitchFamily="18" charset="0"/>
              </a:rPr>
              <a:t>Tutorial: M17</a:t>
            </a:r>
            <a:r>
              <a:rPr lang="en-US" sz="1575" b="0" dirty="0">
                <a:solidFill>
                  <a:schemeClr val="bg1"/>
                </a:solidFill>
                <a:latin typeface="Times New Roman" panose="02020603050405020304" pitchFamily="18" charset="0"/>
                <a:cs typeface="Times New Roman" panose="02020603050405020304" pitchFamily="18" charset="0"/>
              </a:rPr>
              <a:t>(</a:t>
            </a:r>
            <a:r>
              <a:rPr lang="en-US" altLang="zh-CN" sz="1575" b="0" dirty="0">
                <a:solidFill>
                  <a:schemeClr val="bg1"/>
                </a:solidFill>
                <a:latin typeface="Times New Roman" panose="02020603050405020304" pitchFamily="18" charset="0"/>
                <a:cs typeface="Times New Roman" panose="02020603050405020304" pitchFamily="18" charset="0"/>
              </a:rPr>
              <a:t>17</a:t>
            </a:r>
            <a:r>
              <a:rPr lang="en-US" sz="1575" b="0" dirty="0">
                <a:solidFill>
                  <a:schemeClr val="bg1"/>
                </a:solidFill>
                <a:latin typeface="Times New Roman" panose="02020603050405020304" pitchFamily="18" charset="0"/>
                <a:cs typeface="Times New Roman" panose="02020603050405020304" pitchFamily="18" charset="0"/>
              </a:rPr>
              <a:t>:00-</a:t>
            </a:r>
            <a:r>
              <a:rPr lang="en-US" altLang="zh-CN" sz="1575" b="0" dirty="0">
                <a:solidFill>
                  <a:schemeClr val="bg1"/>
                </a:solidFill>
                <a:latin typeface="Times New Roman" panose="02020603050405020304" pitchFamily="18" charset="0"/>
                <a:cs typeface="Times New Roman" panose="02020603050405020304" pitchFamily="18" charset="0"/>
              </a:rPr>
              <a:t>19</a:t>
            </a:r>
            <a:r>
              <a:rPr lang="en-US" sz="1575" b="0" dirty="0">
                <a:solidFill>
                  <a:schemeClr val="bg1"/>
                </a:solidFill>
                <a:latin typeface="Times New Roman" panose="02020603050405020304" pitchFamily="18" charset="0"/>
                <a:cs typeface="Times New Roman" panose="02020603050405020304" pitchFamily="18" charset="0"/>
              </a:rPr>
              <a:t>:00)</a:t>
            </a:r>
            <a:endParaRPr sz="1575" b="0" dirty="0">
              <a:solidFill>
                <a:schemeClr val="bg1"/>
              </a:solidFill>
              <a:latin typeface="Times New Roman" panose="02020603050405020304" pitchFamily="18" charset="0"/>
              <a:cs typeface="Times New Roman" panose="02020603050405020304" pitchFamily="18" charset="0"/>
            </a:endParaRPr>
          </a:p>
          <a:p>
            <a:pPr algn="l">
              <a:lnSpc>
                <a:spcPct val="200000"/>
              </a:lnSpc>
              <a:defRPr sz="1575" b="0">
                <a:solidFill>
                  <a:srgbClr val="111111"/>
                </a:solidFill>
              </a:defRPr>
            </a:pPr>
            <a:r>
              <a:rPr sz="1575" b="0" dirty="0">
                <a:solidFill>
                  <a:schemeClr val="bg1"/>
                </a:solidFill>
                <a:latin typeface="Times New Roman" panose="02020603050405020304" pitchFamily="18" charset="0"/>
                <a:cs typeface="Times New Roman" panose="02020603050405020304" pitchFamily="18" charset="0"/>
              </a:rPr>
              <a:t>Submission date:</a:t>
            </a:r>
            <a:r>
              <a:rPr lang="en-US" sz="1575" b="0" dirty="0">
                <a:solidFill>
                  <a:schemeClr val="bg1"/>
                </a:solidFill>
                <a:latin typeface="Times New Roman" panose="02020603050405020304" pitchFamily="18" charset="0"/>
                <a:cs typeface="Times New Roman" panose="02020603050405020304" pitchFamily="18" charset="0"/>
              </a:rPr>
              <a:t> 10 Sep </a:t>
            </a:r>
            <a:r>
              <a:rPr sz="1575" b="0" dirty="0">
                <a:solidFill>
                  <a:schemeClr val="bg1"/>
                </a:solidFill>
                <a:latin typeface="Times New Roman" panose="02020603050405020304" pitchFamily="18" charset="0"/>
                <a:cs typeface="Times New Roman" panose="02020603050405020304" pitchFamily="18" charset="0"/>
              </a:rPr>
              <a:t>2026</a:t>
            </a:r>
            <a:endParaRPr sz="1575" b="0" dirty="0">
              <a:solidFill>
                <a:schemeClr val="bg1"/>
              </a:solidFill>
              <a:latin typeface="Times New Roman" panose="02020603050405020304" pitchFamily="18" charset="0"/>
              <a:cs typeface="Times New Roman" panose="02020603050405020304" pitchFamily="18" charset="0"/>
            </a:endParaRPr>
          </a:p>
        </p:txBody>
      </p:sp>
      <p:sp>
        <p:nvSpPr>
          <p:cNvPr id="12" name="矩形 11"/>
          <p:cNvSpPr>
            <a:spLocks noGrp="1"/>
          </p:cNvSpPr>
          <p:nvPr/>
        </p:nvSpPr>
        <p:spPr>
          <a:xfrm>
            <a:off x="7072000" y="1270658"/>
            <a:ext cx="4191000" cy="4378779"/>
          </a:xfrm>
          <a:prstGeom prst="rect">
            <a:avLst/>
          </a:prstGeom>
          <a:solidFill>
            <a:schemeClr val="accent5">
              <a:lumMod val="40000"/>
              <a:lumOff val="60000"/>
            </a:schemeClr>
          </a:solidFill>
          <a:ln w="9525">
            <a:solidFill>
              <a:srgbClr val="37BDF9"/>
            </a:solidFill>
            <a:prstDash val="solid"/>
          </a:ln>
        </p:spPr>
        <p:txBody>
          <a:bodyPr/>
          <a:lstStyle/>
          <a:p>
            <a:endParaRPr lang="zh-CN" altLang="en-US" dirty="0">
              <a:latin typeface="Times New Roman" panose="02020603050405020304" pitchFamily="18" charset="0"/>
              <a:cs typeface="Times New Roman" panose="02020603050405020304" pitchFamily="18" charset="0"/>
            </a:endParaRPr>
          </a:p>
        </p:txBody>
      </p:sp>
      <p:sp>
        <p:nvSpPr>
          <p:cNvPr id="13" name="矩形 12"/>
          <p:cNvSpPr>
            <a:spLocks noGrp="1"/>
          </p:cNvSpPr>
          <p:nvPr/>
        </p:nvSpPr>
        <p:spPr>
          <a:xfrm>
            <a:off x="7393625" y="1658463"/>
            <a:ext cx="2476500" cy="304800"/>
          </a:xfrm>
          <a:prstGeom prst="rect">
            <a:avLst/>
          </a:prstGeom>
          <a:noFill/>
          <a:ln w="0">
            <a:noFill/>
            <a:prstDash val="solid"/>
          </a:ln>
        </p:spPr>
        <p:txBody>
          <a:bodyPr anchor="t"/>
          <a:lstStyle/>
          <a:p>
            <a:pPr algn="l">
              <a:defRPr sz="1950" b="1">
                <a:solidFill>
                  <a:srgbClr val="111111"/>
                </a:solidFill>
              </a:defRPr>
            </a:pPr>
            <a:r>
              <a:rPr sz="1950" b="1" dirty="0">
                <a:latin typeface="Times New Roman" panose="02020603050405020304" pitchFamily="18" charset="0"/>
                <a:cs typeface="Times New Roman" panose="02020603050405020304" pitchFamily="18" charset="0"/>
              </a:rPr>
              <a:t>Team members</a:t>
            </a:r>
            <a:endParaRPr sz="1950" b="1" dirty="0">
              <a:latin typeface="Times New Roman" panose="02020603050405020304" pitchFamily="18" charset="0"/>
              <a:cs typeface="Times New Roman" panose="02020603050405020304" pitchFamily="18" charset="0"/>
            </a:endParaRPr>
          </a:p>
        </p:txBody>
      </p:sp>
      <p:sp>
        <p:nvSpPr>
          <p:cNvPr id="14" name="矩形 13"/>
          <p:cNvSpPr>
            <a:spLocks noGrp="1"/>
          </p:cNvSpPr>
          <p:nvPr/>
        </p:nvSpPr>
        <p:spPr>
          <a:xfrm>
            <a:off x="7441125" y="2201388"/>
            <a:ext cx="1571625" cy="228600"/>
          </a:xfrm>
          <a:prstGeom prst="rect">
            <a:avLst/>
          </a:prstGeom>
          <a:noFill/>
          <a:ln w="0">
            <a:noFill/>
            <a:prstDash val="solid"/>
          </a:ln>
        </p:spPr>
        <p:txBody>
          <a:bodyPr anchor="t"/>
          <a:lstStyle/>
          <a:p>
            <a:pPr algn="l">
              <a:defRPr sz="1500" b="1">
                <a:solidFill>
                  <a:srgbClr val="111111"/>
                </a:solidFill>
              </a:defRPr>
            </a:pPr>
            <a:r>
              <a:rPr sz="1500" b="1">
                <a:latin typeface="Times New Roman" panose="02020603050405020304" pitchFamily="18" charset="0"/>
                <a:cs typeface="Times New Roman" panose="02020603050405020304" pitchFamily="18" charset="0"/>
              </a:rPr>
              <a:t>Qiang Li</a:t>
            </a:r>
            <a:endParaRPr sz="1500" b="1">
              <a:latin typeface="Times New Roman" panose="02020603050405020304" pitchFamily="18" charset="0"/>
              <a:cs typeface="Times New Roman" panose="02020603050405020304" pitchFamily="18" charset="0"/>
            </a:endParaRPr>
          </a:p>
        </p:txBody>
      </p:sp>
      <p:sp>
        <p:nvSpPr>
          <p:cNvPr id="15" name="矩形 14"/>
          <p:cNvSpPr>
            <a:spLocks noGrp="1"/>
          </p:cNvSpPr>
          <p:nvPr/>
        </p:nvSpPr>
        <p:spPr>
          <a:xfrm>
            <a:off x="9108000" y="2182338"/>
            <a:ext cx="1809750" cy="419100"/>
          </a:xfrm>
          <a:prstGeom prst="rect">
            <a:avLst/>
          </a:prstGeom>
          <a:noFill/>
          <a:ln w="0">
            <a:noFill/>
            <a:prstDash val="solid"/>
          </a:ln>
        </p:spPr>
        <p:txBody>
          <a:bodyPr anchor="t"/>
          <a:lstStyle/>
          <a:p>
            <a:pPr algn="l">
              <a:defRPr sz="1275" b="0">
                <a:solidFill>
                  <a:srgbClr val="5A5F68"/>
                </a:solidFill>
              </a:defRPr>
            </a:pPr>
            <a:r>
              <a:rPr sz="1275" b="0">
                <a:latin typeface="Times New Roman" panose="02020603050405020304" pitchFamily="18" charset="0"/>
                <a:cs typeface="Times New Roman" panose="02020603050405020304" pitchFamily="18" charset="0"/>
              </a:rPr>
              <a:t>SID: 540788868</a:t>
            </a:r>
            <a:endParaRPr sz="1275" b="0">
              <a:latin typeface="Times New Roman" panose="02020603050405020304" pitchFamily="18" charset="0"/>
              <a:cs typeface="Times New Roman" panose="02020603050405020304" pitchFamily="18" charset="0"/>
            </a:endParaRPr>
          </a:p>
          <a:p>
            <a:pPr algn="l">
              <a:defRPr sz="1275" b="0">
                <a:solidFill>
                  <a:srgbClr val="5A5F68"/>
                </a:solidFill>
              </a:defRPr>
            </a:pPr>
            <a:r>
              <a:rPr sz="1275" b="0">
                <a:latin typeface="Times New Roman" panose="02020603050405020304" pitchFamily="18" charset="0"/>
                <a:cs typeface="Times New Roman" panose="02020603050405020304" pitchFamily="18" charset="0"/>
              </a:rPr>
              <a:t>Unikey: qili0179</a:t>
            </a:r>
            <a:endParaRPr sz="1275" b="0">
              <a:latin typeface="Times New Roman" panose="02020603050405020304" pitchFamily="18" charset="0"/>
              <a:cs typeface="Times New Roman" panose="02020603050405020304" pitchFamily="18" charset="0"/>
            </a:endParaRPr>
          </a:p>
        </p:txBody>
      </p:sp>
      <p:sp>
        <p:nvSpPr>
          <p:cNvPr id="16" name="矩形 15"/>
          <p:cNvSpPr>
            <a:spLocks noGrp="1"/>
          </p:cNvSpPr>
          <p:nvPr/>
        </p:nvSpPr>
        <p:spPr>
          <a:xfrm>
            <a:off x="7441125" y="2753838"/>
            <a:ext cx="3429000" cy="9525"/>
          </a:xfrm>
          <a:prstGeom prst="rect">
            <a:avLst/>
          </a:prstGeom>
          <a:solidFill>
            <a:srgbClr val="B8BCC4"/>
          </a:solidFill>
          <a:ln w="0">
            <a:solidFill>
              <a:srgbClr val="B8BCC4"/>
            </a:solidFill>
            <a:prstDash val="solid"/>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17" name="矩形 16"/>
          <p:cNvSpPr>
            <a:spLocks noGrp="1"/>
          </p:cNvSpPr>
          <p:nvPr/>
        </p:nvSpPr>
        <p:spPr>
          <a:xfrm>
            <a:off x="7441125" y="3020538"/>
            <a:ext cx="1571625" cy="228600"/>
          </a:xfrm>
          <a:prstGeom prst="rect">
            <a:avLst/>
          </a:prstGeom>
          <a:noFill/>
          <a:ln w="0">
            <a:noFill/>
            <a:prstDash val="solid"/>
          </a:ln>
        </p:spPr>
        <p:txBody>
          <a:bodyPr anchor="t"/>
          <a:lstStyle/>
          <a:p>
            <a:pPr algn="l">
              <a:defRPr sz="1500" b="1">
                <a:solidFill>
                  <a:srgbClr val="111111"/>
                </a:solidFill>
              </a:defRPr>
            </a:pPr>
            <a:r>
              <a:rPr sz="1500" b="1">
                <a:latin typeface="Times New Roman" panose="02020603050405020304" pitchFamily="18" charset="0"/>
                <a:cs typeface="Times New Roman" panose="02020603050405020304" pitchFamily="18" charset="0"/>
              </a:rPr>
              <a:t>Linkang Wen</a:t>
            </a:r>
            <a:endParaRPr sz="1500" b="1">
              <a:latin typeface="Times New Roman" panose="02020603050405020304" pitchFamily="18" charset="0"/>
              <a:cs typeface="Times New Roman" panose="02020603050405020304" pitchFamily="18" charset="0"/>
            </a:endParaRPr>
          </a:p>
        </p:txBody>
      </p:sp>
      <p:sp>
        <p:nvSpPr>
          <p:cNvPr id="18" name="矩形 17"/>
          <p:cNvSpPr>
            <a:spLocks noGrp="1"/>
          </p:cNvSpPr>
          <p:nvPr/>
        </p:nvSpPr>
        <p:spPr>
          <a:xfrm>
            <a:off x="9108000" y="3001488"/>
            <a:ext cx="1809750" cy="419100"/>
          </a:xfrm>
          <a:prstGeom prst="rect">
            <a:avLst/>
          </a:prstGeom>
          <a:noFill/>
          <a:ln w="0">
            <a:noFill/>
            <a:prstDash val="solid"/>
          </a:ln>
        </p:spPr>
        <p:txBody>
          <a:bodyPr anchor="t"/>
          <a:lstStyle/>
          <a:p>
            <a:pPr algn="l">
              <a:defRPr sz="1275" b="0">
                <a:solidFill>
                  <a:srgbClr val="5A5F68"/>
                </a:solidFill>
              </a:defRPr>
            </a:pPr>
            <a:r>
              <a:rPr sz="1275" b="0">
                <a:latin typeface="Times New Roman" panose="02020603050405020304" pitchFamily="18" charset="0"/>
                <a:cs typeface="Times New Roman" panose="02020603050405020304" pitchFamily="18" charset="0"/>
              </a:rPr>
              <a:t>SID: 540276619</a:t>
            </a:r>
            <a:endParaRPr sz="1275" b="0">
              <a:latin typeface="Times New Roman" panose="02020603050405020304" pitchFamily="18" charset="0"/>
              <a:cs typeface="Times New Roman" panose="02020603050405020304" pitchFamily="18" charset="0"/>
            </a:endParaRPr>
          </a:p>
          <a:p>
            <a:pPr algn="l">
              <a:defRPr sz="1275" b="0">
                <a:solidFill>
                  <a:srgbClr val="5A5F68"/>
                </a:solidFill>
              </a:defRPr>
            </a:pPr>
            <a:r>
              <a:rPr sz="1275" b="0">
                <a:latin typeface="Times New Roman" panose="02020603050405020304" pitchFamily="18" charset="0"/>
                <a:cs typeface="Times New Roman" panose="02020603050405020304" pitchFamily="18" charset="0"/>
              </a:rPr>
              <a:t>Unikey: lwen0131</a:t>
            </a:r>
            <a:endParaRPr sz="1275" b="0">
              <a:latin typeface="Times New Roman" panose="02020603050405020304" pitchFamily="18" charset="0"/>
              <a:cs typeface="Times New Roman" panose="02020603050405020304" pitchFamily="18" charset="0"/>
            </a:endParaRPr>
          </a:p>
        </p:txBody>
      </p:sp>
      <p:sp>
        <p:nvSpPr>
          <p:cNvPr id="19" name="矩形 18"/>
          <p:cNvSpPr>
            <a:spLocks noGrp="1"/>
          </p:cNvSpPr>
          <p:nvPr/>
        </p:nvSpPr>
        <p:spPr>
          <a:xfrm>
            <a:off x="7441125" y="3572988"/>
            <a:ext cx="3429000" cy="9525"/>
          </a:xfrm>
          <a:prstGeom prst="rect">
            <a:avLst/>
          </a:prstGeom>
          <a:solidFill>
            <a:srgbClr val="B8BCC4"/>
          </a:solidFill>
          <a:ln w="0">
            <a:solidFill>
              <a:srgbClr val="B8BCC4"/>
            </a:solidFill>
            <a:prstDash val="solid"/>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20" name="矩形 19"/>
          <p:cNvSpPr>
            <a:spLocks noGrp="1"/>
          </p:cNvSpPr>
          <p:nvPr/>
        </p:nvSpPr>
        <p:spPr>
          <a:xfrm>
            <a:off x="7441125" y="3839688"/>
            <a:ext cx="1571625" cy="228600"/>
          </a:xfrm>
          <a:prstGeom prst="rect">
            <a:avLst/>
          </a:prstGeom>
          <a:noFill/>
          <a:ln w="0">
            <a:noFill/>
            <a:prstDash val="solid"/>
          </a:ln>
        </p:spPr>
        <p:txBody>
          <a:bodyPr anchor="t"/>
          <a:lstStyle/>
          <a:p>
            <a:pPr algn="l">
              <a:defRPr sz="1500" b="1">
                <a:solidFill>
                  <a:srgbClr val="111111"/>
                </a:solidFill>
              </a:defRPr>
            </a:pPr>
            <a:r>
              <a:rPr sz="1500" b="1">
                <a:latin typeface="Times New Roman" panose="02020603050405020304" pitchFamily="18" charset="0"/>
                <a:cs typeface="Times New Roman" panose="02020603050405020304" pitchFamily="18" charset="0"/>
              </a:rPr>
              <a:t>Yuqi Wu</a:t>
            </a:r>
            <a:endParaRPr sz="1500" b="1">
              <a:latin typeface="Times New Roman" panose="02020603050405020304" pitchFamily="18" charset="0"/>
              <a:cs typeface="Times New Roman" panose="02020603050405020304" pitchFamily="18" charset="0"/>
            </a:endParaRPr>
          </a:p>
        </p:txBody>
      </p:sp>
      <p:sp>
        <p:nvSpPr>
          <p:cNvPr id="21" name="矩形 20"/>
          <p:cNvSpPr>
            <a:spLocks noGrp="1"/>
          </p:cNvSpPr>
          <p:nvPr/>
        </p:nvSpPr>
        <p:spPr>
          <a:xfrm>
            <a:off x="9108000" y="3820638"/>
            <a:ext cx="1809750" cy="419100"/>
          </a:xfrm>
          <a:prstGeom prst="rect">
            <a:avLst/>
          </a:prstGeom>
          <a:noFill/>
          <a:ln w="0">
            <a:noFill/>
            <a:prstDash val="solid"/>
          </a:ln>
        </p:spPr>
        <p:txBody>
          <a:bodyPr anchor="t"/>
          <a:lstStyle/>
          <a:p>
            <a:pPr algn="l">
              <a:defRPr sz="1275" b="0">
                <a:solidFill>
                  <a:srgbClr val="5A5F68"/>
                </a:solidFill>
              </a:defRPr>
            </a:pPr>
            <a:r>
              <a:rPr sz="1275" b="0">
                <a:latin typeface="Times New Roman" panose="02020603050405020304" pitchFamily="18" charset="0"/>
                <a:cs typeface="Times New Roman" panose="02020603050405020304" pitchFamily="18" charset="0"/>
              </a:rPr>
              <a:t>SID: 540035669</a:t>
            </a:r>
            <a:endParaRPr sz="1275" b="0">
              <a:latin typeface="Times New Roman" panose="02020603050405020304" pitchFamily="18" charset="0"/>
              <a:cs typeface="Times New Roman" panose="02020603050405020304" pitchFamily="18" charset="0"/>
            </a:endParaRPr>
          </a:p>
          <a:p>
            <a:pPr algn="l">
              <a:defRPr sz="1275" b="0">
                <a:solidFill>
                  <a:srgbClr val="5A5F68"/>
                </a:solidFill>
              </a:defRPr>
            </a:pPr>
            <a:r>
              <a:rPr sz="1275" b="0">
                <a:latin typeface="Times New Roman" panose="02020603050405020304" pitchFamily="18" charset="0"/>
                <a:cs typeface="Times New Roman" panose="02020603050405020304" pitchFamily="18" charset="0"/>
              </a:rPr>
              <a:t>Unikey: yuwu0501</a:t>
            </a:r>
            <a:endParaRPr sz="1275" b="0">
              <a:latin typeface="Times New Roman" panose="02020603050405020304" pitchFamily="18" charset="0"/>
              <a:cs typeface="Times New Roman" panose="02020603050405020304" pitchFamily="18" charset="0"/>
            </a:endParaRPr>
          </a:p>
        </p:txBody>
      </p:sp>
      <p:sp>
        <p:nvSpPr>
          <p:cNvPr id="22" name="矩形 21"/>
          <p:cNvSpPr>
            <a:spLocks noGrp="1"/>
          </p:cNvSpPr>
          <p:nvPr/>
        </p:nvSpPr>
        <p:spPr>
          <a:xfrm>
            <a:off x="7441125" y="4392138"/>
            <a:ext cx="3429000" cy="9525"/>
          </a:xfrm>
          <a:prstGeom prst="rect">
            <a:avLst/>
          </a:prstGeom>
          <a:solidFill>
            <a:srgbClr val="B8BCC4"/>
          </a:solidFill>
          <a:ln w="0">
            <a:solidFill>
              <a:srgbClr val="B8BCC4"/>
            </a:solidFill>
            <a:prstDash val="solid"/>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23" name="矩形 22"/>
          <p:cNvSpPr>
            <a:spLocks noGrp="1"/>
          </p:cNvSpPr>
          <p:nvPr/>
        </p:nvSpPr>
        <p:spPr>
          <a:xfrm>
            <a:off x="7441125" y="4658838"/>
            <a:ext cx="1571625" cy="228600"/>
          </a:xfrm>
          <a:prstGeom prst="rect">
            <a:avLst/>
          </a:prstGeom>
          <a:noFill/>
          <a:ln w="0">
            <a:noFill/>
            <a:prstDash val="solid"/>
          </a:ln>
        </p:spPr>
        <p:txBody>
          <a:bodyPr anchor="t"/>
          <a:lstStyle/>
          <a:p>
            <a:pPr algn="l">
              <a:defRPr sz="1500" b="1">
                <a:solidFill>
                  <a:srgbClr val="111111"/>
                </a:solidFill>
              </a:defRPr>
            </a:pPr>
            <a:r>
              <a:rPr sz="1500" b="1">
                <a:latin typeface="Times New Roman" panose="02020603050405020304" pitchFamily="18" charset="0"/>
                <a:cs typeface="Times New Roman" panose="02020603050405020304" pitchFamily="18" charset="0"/>
              </a:rPr>
              <a:t>Haoxiong Pan</a:t>
            </a:r>
            <a:endParaRPr sz="1500" b="1">
              <a:latin typeface="Times New Roman" panose="02020603050405020304" pitchFamily="18" charset="0"/>
              <a:cs typeface="Times New Roman" panose="02020603050405020304" pitchFamily="18" charset="0"/>
            </a:endParaRPr>
          </a:p>
        </p:txBody>
      </p:sp>
      <p:sp>
        <p:nvSpPr>
          <p:cNvPr id="24" name="矩形 23"/>
          <p:cNvSpPr>
            <a:spLocks noGrp="1"/>
          </p:cNvSpPr>
          <p:nvPr/>
        </p:nvSpPr>
        <p:spPr>
          <a:xfrm>
            <a:off x="9108000" y="4639788"/>
            <a:ext cx="1809750" cy="419100"/>
          </a:xfrm>
          <a:prstGeom prst="rect">
            <a:avLst/>
          </a:prstGeom>
          <a:noFill/>
          <a:ln w="0">
            <a:noFill/>
            <a:prstDash val="solid"/>
          </a:ln>
        </p:spPr>
        <p:txBody>
          <a:bodyPr anchor="t"/>
          <a:lstStyle/>
          <a:p>
            <a:pPr algn="l">
              <a:defRPr sz="1275" b="0">
                <a:solidFill>
                  <a:srgbClr val="5A5F68"/>
                </a:solidFill>
              </a:defRPr>
            </a:pPr>
            <a:r>
              <a:rPr sz="1275" b="0">
                <a:latin typeface="Times New Roman" panose="02020603050405020304" pitchFamily="18" charset="0"/>
                <a:cs typeface="Times New Roman" panose="02020603050405020304" pitchFamily="18" charset="0"/>
              </a:rPr>
              <a:t>SID: 530425128</a:t>
            </a:r>
            <a:endParaRPr sz="1275" b="0">
              <a:latin typeface="Times New Roman" panose="02020603050405020304" pitchFamily="18" charset="0"/>
              <a:cs typeface="Times New Roman" panose="02020603050405020304" pitchFamily="18" charset="0"/>
            </a:endParaRPr>
          </a:p>
          <a:p>
            <a:pPr algn="l">
              <a:defRPr sz="1275" b="0">
                <a:solidFill>
                  <a:srgbClr val="5A5F68"/>
                </a:solidFill>
              </a:defRPr>
            </a:pPr>
            <a:r>
              <a:rPr sz="1275" b="0">
                <a:latin typeface="Times New Roman" panose="02020603050405020304" pitchFamily="18" charset="0"/>
                <a:cs typeface="Times New Roman" panose="02020603050405020304" pitchFamily="18" charset="0"/>
              </a:rPr>
              <a:t>Unikey: hpan0285</a:t>
            </a:r>
            <a:endParaRPr sz="1275" b="0">
              <a:latin typeface="Times New Roman" panose="02020603050405020304" pitchFamily="18" charset="0"/>
              <a:cs typeface="Times New Roman" panose="02020603050405020304" pitchFamily="18" charset="0"/>
            </a:endParaRPr>
          </a:p>
        </p:txBody>
      </p:sp>
      <p:sp>
        <p:nvSpPr>
          <p:cNvPr id="26" name="矩形 25"/>
          <p:cNvSpPr>
            <a:spLocks noGrp="1"/>
          </p:cNvSpPr>
          <p:nvPr/>
        </p:nvSpPr>
        <p:spPr>
          <a:xfrm>
            <a:off x="711528" y="3103416"/>
            <a:ext cx="2381250" cy="38100"/>
          </a:xfrm>
          <a:prstGeom prst="rect">
            <a:avLst/>
          </a:prstGeom>
          <a:solidFill>
            <a:srgbClr val="3D8DFF"/>
          </a:solidFill>
          <a:ln w="0">
            <a:solidFill>
              <a:srgbClr val="37BDF9"/>
            </a:solidFill>
            <a:prstDash val="solid"/>
          </a:ln>
        </p:spPr>
        <p:txBody>
          <a:bodyPr/>
          <a:lstStyle/>
          <a:p>
            <a:endParaRPr lang="zh-CN" altLang="en-US">
              <a:solidFill>
                <a:schemeClr val="bg1"/>
              </a:solidFill>
              <a:latin typeface="Times New Roman" panose="02020603050405020304" pitchFamily="18" charset="0"/>
              <a:cs typeface="Times New Roman" panose="02020603050405020304" pitchFamily="18" charset="0"/>
            </a:endParaRPr>
          </a:p>
        </p:txBody>
      </p:sp>
      <p:sp>
        <p:nvSpPr>
          <p:cNvPr id="28" name="Slide Number Placeholder 0"/>
          <p:cNvSpPr>
            <a:spLocks noGrp="1"/>
          </p:cNvSpPr>
          <p:nvPr>
            <p:ph type="sldNum" sz="quarter" idx="4294967295"/>
          </p:nvPr>
        </p:nvSpPr>
        <p:spPr>
          <a:xfrm>
            <a:off x="11384280" y="6547104"/>
            <a:ext cx="800000" cy="300000"/>
          </a:xfrm>
          <a:prstGeom prst="rect">
            <a:avLst/>
          </a:prstGeom>
        </p:spPr>
        <p:txBody>
          <a:bodyPr/>
          <a:lstStyle>
            <a:lvl1pPr>
              <a:defRPr sz="700">
                <a:solidFill>
                  <a:srgbClr val="94A3B8"/>
                </a:solidFill>
                <a:latin typeface="Aptos"/>
                <a:ea typeface="Aptos"/>
                <a:cs typeface="Aptos"/>
              </a:defRPr>
            </a:lvl1pPr>
          </a:lstStyle>
          <a:p>
            <a:pPr algn="l"/>
            <a:fld id="{F7021451-1387-4CA6-816F-3879F97B5CBC}" type="slidenum">
              <a:rPr lang="en-US" b="0">
                <a:solidFill>
                  <a:schemeClr val="bg1"/>
                </a:solidFill>
              </a:rPr>
            </a:fld>
            <a:endParaRPr lang="en-US">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4580" y="694945"/>
            <a:ext cx="7863840" cy="393192"/>
          </a:xfrm>
          <a:prstGeom prst="rect">
            <a:avLst/>
          </a:prstGeom>
          <a:noFill/>
        </p:spPr>
        <p:txBody>
          <a:bodyPr wrap="square" lIns="0" tIns="0" rIns="0" bIns="0" rtlCol="0" anchor="ctr"/>
          <a:lstStyle/>
          <a:p>
            <a:pPr marL="0" indent="0">
              <a:buNone/>
            </a:pPr>
            <a:r>
              <a:rPr lang="en-US" sz="2800" b="1" dirty="0">
                <a:solidFill>
                  <a:schemeClr val="bg1"/>
                </a:solidFill>
                <a:latin typeface="Times New Roman" panose="02020603050405020304" pitchFamily="18" charset="0"/>
                <a:ea typeface="Aptos Display" pitchFamily="34" charset="-122"/>
                <a:cs typeface="Times New Roman" panose="02020603050405020304" pitchFamily="18" charset="0"/>
              </a:rPr>
              <a:t>What you can use today</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Text 1"/>
          <p:cNvSpPr/>
          <p:nvPr/>
        </p:nvSpPr>
        <p:spPr>
          <a:xfrm>
            <a:off x="604580" y="1152145"/>
            <a:ext cx="8869680" cy="201168"/>
          </a:xfrm>
          <a:prstGeom prst="rect">
            <a:avLst/>
          </a:prstGeom>
          <a:noFill/>
        </p:spPr>
        <p:txBody>
          <a:bodyPr wrap="square" lIns="0" tIns="0" rIns="0" bIns="0" rtlCol="0" anchor="ctr"/>
          <a:lstStyle/>
          <a:p>
            <a:pPr marL="0" indent="0">
              <a:buNone/>
            </a:pPr>
            <a:r>
              <a:rPr lang="en-US" sz="1200" dirty="0">
                <a:solidFill>
                  <a:schemeClr val="bg1"/>
                </a:solidFill>
                <a:latin typeface="Times New Roman" panose="02020603050405020304" pitchFamily="18" charset="0"/>
                <a:cs typeface="Times New Roman" panose="02020603050405020304" pitchFamily="18" charset="0"/>
              </a:rPr>
              <a:t>A working prototype for end-to-end research review of longitudinal lesions.</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5" name="Text 3"/>
          <p:cNvSpPr/>
          <p:nvPr/>
        </p:nvSpPr>
        <p:spPr>
          <a:xfrm>
            <a:off x="594360" y="1664744"/>
            <a:ext cx="2423160" cy="1097280"/>
          </a:xfrm>
          <a:prstGeom prst="rect">
            <a:avLst/>
          </a:prstGeom>
          <a:solidFill>
            <a:srgbClr val="111A2C"/>
          </a:solidFill>
          <a:ln w="10160">
            <a:solidFill>
              <a:srgbClr val="26C9F4"/>
            </a:solidFill>
          </a:ln>
        </p:spPr>
        <p:txBody>
          <a:bodyPr wrap="square" lIns="0" tIns="0" rIns="0" bIns="0" rtlCol="0" anchor="ctr"/>
          <a:lstStyle/>
          <a:p>
            <a:pPr marL="0" indent="0">
              <a:buNone/>
            </a:pP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6" name="Text 4"/>
          <p:cNvSpPr/>
          <p:nvPr/>
        </p:nvSpPr>
        <p:spPr>
          <a:xfrm>
            <a:off x="722376" y="1774472"/>
            <a:ext cx="2167128" cy="219456"/>
          </a:xfrm>
          <a:prstGeom prst="rect">
            <a:avLst/>
          </a:prstGeom>
          <a:noFill/>
        </p:spPr>
        <p:txBody>
          <a:bodyPr wrap="square" lIns="0" tIns="0" rIns="0" bIns="0" rtlCol="0" anchor="ctr"/>
          <a:lstStyle/>
          <a:p>
            <a:pPr marL="0" indent="0">
              <a:buNone/>
            </a:pPr>
            <a:r>
              <a:rPr lang="en-US" sz="1400" b="1" dirty="0">
                <a:solidFill>
                  <a:schemeClr val="bg1"/>
                </a:solidFill>
                <a:latin typeface="Times New Roman" panose="02020603050405020304" pitchFamily="18" charset="0"/>
                <a:cs typeface="Times New Roman" panose="02020603050405020304" pitchFamily="18" charset="0"/>
              </a:rPr>
              <a:t>Organise</a:t>
            </a:r>
            <a:endParaRPr lang="en-US" sz="1400" dirty="0">
              <a:solidFill>
                <a:schemeClr val="bg1"/>
              </a:solidFill>
              <a:latin typeface="Times New Roman" panose="02020603050405020304" pitchFamily="18" charset="0"/>
              <a:cs typeface="Times New Roman" panose="02020603050405020304" pitchFamily="18" charset="0"/>
            </a:endParaRPr>
          </a:p>
        </p:txBody>
      </p:sp>
      <p:sp>
        <p:nvSpPr>
          <p:cNvPr id="7" name="Text 5"/>
          <p:cNvSpPr/>
          <p:nvPr/>
        </p:nvSpPr>
        <p:spPr>
          <a:xfrm>
            <a:off x="722376" y="2048792"/>
            <a:ext cx="2167128" cy="640080"/>
          </a:xfrm>
          <a:prstGeom prst="rect">
            <a:avLst/>
          </a:prstGeom>
          <a:noFill/>
        </p:spPr>
        <p:txBody>
          <a:bodyPr wrap="square" lIns="0" tIns="0" rIns="0" bIns="0" rtlCol="0" anchor="ctr">
            <a:normAutofit/>
          </a:bodyPr>
          <a:lstStyle/>
          <a:p>
            <a:pPr marL="0" indent="0">
              <a:buNone/>
            </a:pPr>
            <a:r>
              <a:rPr lang="en-US" sz="1100" dirty="0">
                <a:solidFill>
                  <a:schemeClr val="bg1"/>
                </a:solidFill>
                <a:latin typeface="Times New Roman" panose="02020603050405020304" pitchFamily="18" charset="0"/>
                <a:cs typeface="Times New Roman" panose="02020603050405020304" pitchFamily="18" charset="0"/>
              </a:rPr>
              <a:t>BL/FU scan pairs, masks, and references are loaded through reproducible manifests.</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8" name="Text 6"/>
          <p:cNvSpPr/>
          <p:nvPr/>
        </p:nvSpPr>
        <p:spPr>
          <a:xfrm>
            <a:off x="3447288" y="1664744"/>
            <a:ext cx="2423160" cy="1097280"/>
          </a:xfrm>
          <a:prstGeom prst="rect">
            <a:avLst/>
          </a:prstGeom>
          <a:solidFill>
            <a:srgbClr val="111A2C"/>
          </a:solidFill>
          <a:ln w="10160">
            <a:solidFill>
              <a:srgbClr val="26C9F4"/>
            </a:solidFill>
          </a:ln>
        </p:spPr>
        <p:txBody>
          <a:bodyPr wrap="square" lIns="0" tIns="0" rIns="0" bIns="0" rtlCol="0" anchor="ctr"/>
          <a:lstStyle/>
          <a:p>
            <a:pPr marL="0" indent="0">
              <a:buNone/>
            </a:pP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9" name="Text 7"/>
          <p:cNvSpPr/>
          <p:nvPr/>
        </p:nvSpPr>
        <p:spPr>
          <a:xfrm>
            <a:off x="3575304" y="1774472"/>
            <a:ext cx="2167128" cy="219456"/>
          </a:xfrm>
          <a:prstGeom prst="rect">
            <a:avLst/>
          </a:prstGeom>
          <a:noFill/>
        </p:spPr>
        <p:txBody>
          <a:bodyPr wrap="square" lIns="0" tIns="0" rIns="0" bIns="0" rtlCol="0" anchor="ctr"/>
          <a:lstStyle/>
          <a:p>
            <a:pPr marL="0" indent="0">
              <a:buNone/>
            </a:pPr>
            <a:r>
              <a:rPr lang="en-US" sz="1400" b="1" dirty="0">
                <a:solidFill>
                  <a:schemeClr val="bg1"/>
                </a:solidFill>
                <a:latin typeface="Times New Roman" panose="02020603050405020304" pitchFamily="18" charset="0"/>
                <a:cs typeface="Times New Roman" panose="02020603050405020304" pitchFamily="18" charset="0"/>
              </a:rPr>
              <a:t>Align</a:t>
            </a:r>
            <a:endParaRPr lang="en-US" sz="1400" dirty="0">
              <a:solidFill>
                <a:schemeClr val="bg1"/>
              </a:solidFill>
              <a:latin typeface="Times New Roman" panose="02020603050405020304" pitchFamily="18" charset="0"/>
              <a:cs typeface="Times New Roman" panose="02020603050405020304" pitchFamily="18" charset="0"/>
            </a:endParaRPr>
          </a:p>
        </p:txBody>
      </p:sp>
      <p:sp>
        <p:nvSpPr>
          <p:cNvPr id="10" name="Text 8"/>
          <p:cNvSpPr/>
          <p:nvPr/>
        </p:nvSpPr>
        <p:spPr>
          <a:xfrm>
            <a:off x="3575304" y="2048792"/>
            <a:ext cx="2167128" cy="640080"/>
          </a:xfrm>
          <a:prstGeom prst="rect">
            <a:avLst/>
          </a:prstGeom>
          <a:noFill/>
        </p:spPr>
        <p:txBody>
          <a:bodyPr wrap="square" lIns="0" tIns="0" rIns="0" bIns="0" rtlCol="0" anchor="ctr">
            <a:normAutofit/>
          </a:bodyPr>
          <a:lstStyle/>
          <a:p>
            <a:pPr marL="0" indent="0">
              <a:buNone/>
            </a:pPr>
            <a:r>
              <a:rPr lang="en-US" sz="1100" dirty="0">
                <a:solidFill>
                  <a:schemeClr val="bg1"/>
                </a:solidFill>
                <a:latin typeface="Times New Roman" panose="02020603050405020304" pitchFamily="18" charset="0"/>
                <a:cs typeface="Times New Roman" panose="02020603050405020304" pitchFamily="18" charset="0"/>
              </a:rPr>
              <a:t>Baseline imaging and masks are mapped into follow-up space for fair comparison.</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11" name="Text 9"/>
          <p:cNvSpPr/>
          <p:nvPr/>
        </p:nvSpPr>
        <p:spPr>
          <a:xfrm>
            <a:off x="6300216" y="1664744"/>
            <a:ext cx="2423160" cy="1097280"/>
          </a:xfrm>
          <a:prstGeom prst="rect">
            <a:avLst/>
          </a:prstGeom>
          <a:solidFill>
            <a:srgbClr val="111A2C"/>
          </a:solidFill>
          <a:ln w="10160">
            <a:solidFill>
              <a:srgbClr val="26C9F4"/>
            </a:solidFill>
          </a:ln>
        </p:spPr>
        <p:txBody>
          <a:bodyPr wrap="square" lIns="0" tIns="0" rIns="0" bIns="0" rtlCol="0" anchor="ctr"/>
          <a:lstStyle/>
          <a:p>
            <a:pPr marL="0" indent="0">
              <a:buNone/>
            </a:pP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12" name="Text 10"/>
          <p:cNvSpPr/>
          <p:nvPr/>
        </p:nvSpPr>
        <p:spPr>
          <a:xfrm>
            <a:off x="6428232" y="1774472"/>
            <a:ext cx="2167128" cy="219456"/>
          </a:xfrm>
          <a:prstGeom prst="rect">
            <a:avLst/>
          </a:prstGeom>
          <a:noFill/>
        </p:spPr>
        <p:txBody>
          <a:bodyPr wrap="square" lIns="0" tIns="0" rIns="0" bIns="0" rtlCol="0" anchor="ctr"/>
          <a:lstStyle/>
          <a:p>
            <a:pPr marL="0" indent="0">
              <a:buNone/>
            </a:pPr>
            <a:r>
              <a:rPr lang="en-US" sz="1400" b="1" dirty="0">
                <a:solidFill>
                  <a:schemeClr val="bg1"/>
                </a:solidFill>
                <a:latin typeface="Times New Roman" panose="02020603050405020304" pitchFamily="18" charset="0"/>
                <a:cs typeface="Times New Roman" panose="02020603050405020304" pitchFamily="18" charset="0"/>
              </a:rPr>
              <a:t>Track</a:t>
            </a:r>
            <a:endParaRPr lang="en-US" sz="1400" dirty="0">
              <a:solidFill>
                <a:schemeClr val="bg1"/>
              </a:solidFill>
              <a:latin typeface="Times New Roman" panose="02020603050405020304" pitchFamily="18" charset="0"/>
              <a:cs typeface="Times New Roman" panose="02020603050405020304" pitchFamily="18" charset="0"/>
            </a:endParaRPr>
          </a:p>
        </p:txBody>
      </p:sp>
      <p:sp>
        <p:nvSpPr>
          <p:cNvPr id="13" name="Text 11"/>
          <p:cNvSpPr/>
          <p:nvPr/>
        </p:nvSpPr>
        <p:spPr>
          <a:xfrm>
            <a:off x="6428232" y="2048792"/>
            <a:ext cx="2167128" cy="640080"/>
          </a:xfrm>
          <a:prstGeom prst="rect">
            <a:avLst/>
          </a:prstGeom>
          <a:noFill/>
        </p:spPr>
        <p:txBody>
          <a:bodyPr wrap="square" lIns="0" tIns="0" rIns="0" bIns="0" rtlCol="0" anchor="ctr">
            <a:normAutofit/>
          </a:bodyPr>
          <a:lstStyle/>
          <a:p>
            <a:pPr marL="0" indent="0">
              <a:buNone/>
            </a:pPr>
            <a:r>
              <a:rPr lang="en-US" sz="1100" dirty="0">
                <a:solidFill>
                  <a:schemeClr val="bg1"/>
                </a:solidFill>
                <a:latin typeface="Times New Roman" panose="02020603050405020304" pitchFamily="18" charset="0"/>
                <a:cs typeface="Times New Roman" panose="02020603050405020304" pitchFamily="18" charset="0"/>
              </a:rPr>
              <a:t>Candidate costs and min-cost flow produce explicit lesion correspondence outputs.</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14" name="Text 12"/>
          <p:cNvSpPr/>
          <p:nvPr/>
        </p:nvSpPr>
        <p:spPr>
          <a:xfrm>
            <a:off x="9153144" y="1664744"/>
            <a:ext cx="2423160" cy="1097280"/>
          </a:xfrm>
          <a:prstGeom prst="rect">
            <a:avLst/>
          </a:prstGeom>
          <a:solidFill>
            <a:srgbClr val="111A2C"/>
          </a:solidFill>
          <a:ln w="10160">
            <a:solidFill>
              <a:srgbClr val="26C9F4"/>
            </a:solidFill>
          </a:ln>
        </p:spPr>
        <p:txBody>
          <a:bodyPr wrap="square" lIns="0" tIns="0" rIns="0" bIns="0" rtlCol="0" anchor="ctr"/>
          <a:lstStyle/>
          <a:p>
            <a:pPr marL="0" indent="0">
              <a:buNone/>
            </a:pP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15" name="Text 13"/>
          <p:cNvSpPr/>
          <p:nvPr/>
        </p:nvSpPr>
        <p:spPr>
          <a:xfrm>
            <a:off x="9281160" y="1774472"/>
            <a:ext cx="2167128" cy="219456"/>
          </a:xfrm>
          <a:prstGeom prst="rect">
            <a:avLst/>
          </a:prstGeom>
          <a:noFill/>
        </p:spPr>
        <p:txBody>
          <a:bodyPr wrap="square" lIns="0" tIns="0" rIns="0" bIns="0" rtlCol="0" anchor="ctr"/>
          <a:lstStyle/>
          <a:p>
            <a:pPr marL="0" indent="0">
              <a:buNone/>
            </a:pPr>
            <a:r>
              <a:rPr lang="en-US" sz="1400" b="1" dirty="0">
                <a:solidFill>
                  <a:schemeClr val="bg1"/>
                </a:solidFill>
                <a:latin typeface="Times New Roman" panose="02020603050405020304" pitchFamily="18" charset="0"/>
                <a:cs typeface="Times New Roman" panose="02020603050405020304" pitchFamily="18" charset="0"/>
              </a:rPr>
              <a:t>Review</a:t>
            </a:r>
            <a:endParaRPr lang="en-US" sz="1400" dirty="0">
              <a:solidFill>
                <a:schemeClr val="bg1"/>
              </a:solidFill>
              <a:latin typeface="Times New Roman" panose="02020603050405020304" pitchFamily="18" charset="0"/>
              <a:cs typeface="Times New Roman" panose="02020603050405020304" pitchFamily="18" charset="0"/>
            </a:endParaRPr>
          </a:p>
        </p:txBody>
      </p:sp>
      <p:sp>
        <p:nvSpPr>
          <p:cNvPr id="16" name="Text 14"/>
          <p:cNvSpPr/>
          <p:nvPr/>
        </p:nvSpPr>
        <p:spPr>
          <a:xfrm>
            <a:off x="9281160" y="2048792"/>
            <a:ext cx="2167128" cy="640080"/>
          </a:xfrm>
          <a:prstGeom prst="rect">
            <a:avLst/>
          </a:prstGeom>
          <a:noFill/>
        </p:spPr>
        <p:txBody>
          <a:bodyPr wrap="square" lIns="0" tIns="0" rIns="0" bIns="0" rtlCol="0" anchor="ctr">
            <a:normAutofit/>
          </a:bodyPr>
          <a:lstStyle/>
          <a:p>
            <a:pPr marL="0" indent="0">
              <a:buNone/>
            </a:pPr>
            <a:r>
              <a:rPr lang="en-US" sz="1100" dirty="0">
                <a:solidFill>
                  <a:schemeClr val="bg1"/>
                </a:solidFill>
                <a:latin typeface="Times New Roman" panose="02020603050405020304" pitchFamily="18" charset="0"/>
                <a:cs typeface="Times New Roman" panose="02020603050405020304" pitchFamily="18" charset="0"/>
              </a:rPr>
              <a:t>Dashboard shows images, masks, matches, evaluation, and patient summaries.</a:t>
            </a:r>
            <a:endParaRPr lang="en-US" sz="1100" dirty="0">
              <a:solidFill>
                <a:schemeClr val="bg1"/>
              </a:solidFill>
              <a:latin typeface="Times New Roman" panose="02020603050405020304" pitchFamily="18" charset="0"/>
              <a:cs typeface="Times New Roman" panose="02020603050405020304" pitchFamily="18" charset="0"/>
            </a:endParaRPr>
          </a:p>
        </p:txBody>
      </p:sp>
      <p:pic>
        <p:nvPicPr>
          <p:cNvPr id="17" name="Image 0" descr="/mnt/data/old_ppt_extract/ppt/media/image1.jpeg"/>
          <p:cNvPicPr>
            <a:picLocks noChangeAspect="1"/>
          </p:cNvPicPr>
          <p:nvPr/>
        </p:nvPicPr>
        <p:blipFill>
          <a:blip r:embed="rId1"/>
          <a:srcRect t="9548" b="9548"/>
          <a:stretch>
            <a:fillRect/>
          </a:stretch>
        </p:blipFill>
        <p:spPr>
          <a:xfrm>
            <a:off x="6629400" y="3173504"/>
            <a:ext cx="1965960" cy="2834640"/>
          </a:xfrm>
          <a:prstGeom prst="rect">
            <a:avLst/>
          </a:prstGeom>
        </p:spPr>
      </p:pic>
      <p:pic>
        <p:nvPicPr>
          <p:cNvPr id="18" name="Image 1" descr="/mnt/data/old_ppt_extract/ppt/media/image2.jpeg"/>
          <p:cNvPicPr>
            <a:picLocks noChangeAspect="1"/>
          </p:cNvPicPr>
          <p:nvPr/>
        </p:nvPicPr>
        <p:blipFill>
          <a:blip r:embed="rId2"/>
          <a:srcRect t="9548" b="9548"/>
          <a:stretch>
            <a:fillRect/>
          </a:stretch>
        </p:blipFill>
        <p:spPr>
          <a:xfrm>
            <a:off x="8915400" y="3173504"/>
            <a:ext cx="1965960" cy="2834640"/>
          </a:xfrm>
          <a:prstGeom prst="rect">
            <a:avLst/>
          </a:prstGeom>
        </p:spPr>
      </p:pic>
      <p:sp>
        <p:nvSpPr>
          <p:cNvPr id="19" name="Text 15"/>
          <p:cNvSpPr/>
          <p:nvPr/>
        </p:nvSpPr>
        <p:spPr>
          <a:xfrm>
            <a:off x="7406640" y="6081296"/>
            <a:ext cx="457200" cy="228600"/>
          </a:xfrm>
          <a:prstGeom prst="rect">
            <a:avLst/>
          </a:prstGeom>
          <a:noFill/>
        </p:spPr>
        <p:txBody>
          <a:bodyPr wrap="square" lIns="508" tIns="508" rIns="508" bIns="508" rtlCol="0" anchor="t">
            <a:normAutofit/>
          </a:bodyPr>
          <a:lstStyle/>
          <a:p>
            <a:pPr marL="0" indent="0" algn="ctr">
              <a:buNone/>
            </a:pPr>
            <a:r>
              <a:rPr lang="en-US" sz="1200" dirty="0">
                <a:solidFill>
                  <a:schemeClr val="bg1"/>
                </a:solidFill>
                <a:latin typeface="Times New Roman" panose="02020603050405020304" pitchFamily="18" charset="0"/>
                <a:ea typeface="Aptos" pitchFamily="34" charset="-122"/>
                <a:cs typeface="Times New Roman" panose="02020603050405020304" pitchFamily="18" charset="0"/>
              </a:rPr>
              <a:t>BL</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20" name="Text 16"/>
          <p:cNvSpPr/>
          <p:nvPr/>
        </p:nvSpPr>
        <p:spPr>
          <a:xfrm>
            <a:off x="9692640" y="6081296"/>
            <a:ext cx="457200" cy="228600"/>
          </a:xfrm>
          <a:prstGeom prst="rect">
            <a:avLst/>
          </a:prstGeom>
          <a:noFill/>
        </p:spPr>
        <p:txBody>
          <a:bodyPr wrap="square" lIns="508" tIns="508" rIns="508" bIns="508" rtlCol="0" anchor="t">
            <a:normAutofit/>
          </a:bodyPr>
          <a:lstStyle/>
          <a:p>
            <a:pPr marL="0" indent="0" algn="ctr">
              <a:buNone/>
            </a:pPr>
            <a:r>
              <a:rPr lang="en-US" sz="1200" dirty="0">
                <a:solidFill>
                  <a:schemeClr val="bg1"/>
                </a:solidFill>
                <a:latin typeface="Times New Roman" panose="02020603050405020304" pitchFamily="18" charset="0"/>
                <a:ea typeface="Aptos" pitchFamily="34" charset="-122"/>
                <a:cs typeface="Times New Roman" panose="02020603050405020304" pitchFamily="18" charset="0"/>
              </a:rPr>
              <a:t>FU</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21" name="Shape 17"/>
          <p:cNvSpPr/>
          <p:nvPr/>
        </p:nvSpPr>
        <p:spPr>
          <a:xfrm>
            <a:off x="607806" y="3219224"/>
            <a:ext cx="5212080" cy="2194560"/>
          </a:xfrm>
          <a:prstGeom prst="roundRect">
            <a:avLst>
              <a:gd name="adj" fmla="val 3333"/>
            </a:avLst>
          </a:prstGeom>
          <a:solidFill>
            <a:srgbClr val="0F1727"/>
          </a:solidFill>
          <a:ln w="8890">
            <a:solidFill>
              <a:srgbClr val="25C9F4"/>
            </a:solidFill>
            <a:prstDash val="solid"/>
          </a:ln>
        </p:spPr>
        <p:txBody>
          <a:bodyPr/>
          <a:lstStyle/>
          <a:p>
            <a:endParaRPr lang="zh-CN" altLang="en-US" sz="2800">
              <a:solidFill>
                <a:schemeClr val="bg1"/>
              </a:solidFill>
              <a:latin typeface="Times New Roman" panose="02020603050405020304" pitchFamily="18" charset="0"/>
              <a:cs typeface="Times New Roman" panose="02020603050405020304" pitchFamily="18" charset="0"/>
            </a:endParaRPr>
          </a:p>
        </p:txBody>
      </p:sp>
      <p:sp>
        <p:nvSpPr>
          <p:cNvPr id="22" name="Text 18"/>
          <p:cNvSpPr/>
          <p:nvPr/>
        </p:nvSpPr>
        <p:spPr>
          <a:xfrm>
            <a:off x="836406" y="3429536"/>
            <a:ext cx="2926080" cy="274320"/>
          </a:xfrm>
          <a:prstGeom prst="rect">
            <a:avLst/>
          </a:prstGeom>
          <a:noFill/>
        </p:spPr>
        <p:txBody>
          <a:bodyPr wrap="square" lIns="508" tIns="508" rIns="508" bIns="508" rtlCol="0" anchor="t">
            <a:noAutofit/>
          </a:bodyPr>
          <a:lstStyle/>
          <a:p>
            <a:pPr marL="0" indent="0" algn="l">
              <a:buNone/>
            </a:pPr>
            <a:r>
              <a:rPr lang="en-US" sz="2000" b="1" dirty="0">
                <a:solidFill>
                  <a:schemeClr val="bg1"/>
                </a:solidFill>
                <a:latin typeface="Times New Roman" panose="02020603050405020304" pitchFamily="18" charset="0"/>
                <a:ea typeface="Aptos" pitchFamily="34" charset="-122"/>
                <a:cs typeface="Times New Roman" panose="02020603050405020304" pitchFamily="18" charset="0"/>
              </a:rPr>
              <a:t>Client-facing value</a:t>
            </a:r>
            <a:endParaRPr lang="en-US" sz="2000" dirty="0">
              <a:solidFill>
                <a:schemeClr val="bg1"/>
              </a:solidFill>
              <a:latin typeface="Times New Roman" panose="02020603050405020304" pitchFamily="18" charset="0"/>
              <a:cs typeface="Times New Roman" panose="02020603050405020304" pitchFamily="18" charset="0"/>
            </a:endParaRPr>
          </a:p>
        </p:txBody>
      </p:sp>
      <p:sp>
        <p:nvSpPr>
          <p:cNvPr id="23" name="Text 19"/>
          <p:cNvSpPr/>
          <p:nvPr/>
        </p:nvSpPr>
        <p:spPr>
          <a:xfrm>
            <a:off x="849852" y="3886736"/>
            <a:ext cx="4663440" cy="1143000"/>
          </a:xfrm>
          <a:prstGeom prst="rect">
            <a:avLst/>
          </a:prstGeom>
          <a:noFill/>
        </p:spPr>
        <p:txBody>
          <a:bodyPr wrap="square" lIns="635" tIns="635" rIns="635" bIns="635" rtlCol="0" anchor="ctr">
            <a:normAutofit/>
          </a:bodyPr>
          <a:lstStyle/>
          <a:p>
            <a:r>
              <a:rPr lang="en-US" sz="1400" dirty="0">
                <a:solidFill>
                  <a:schemeClr val="bg1"/>
                </a:solidFill>
                <a:latin typeface="Times New Roman" panose="02020603050405020304" pitchFamily="18" charset="0"/>
                <a:cs typeface="Times New Roman" panose="02020603050405020304" pitchFamily="18" charset="0"/>
              </a:rPr>
              <a:t>one launch path for the demo workflow</a:t>
            </a:r>
            <a:endParaRPr lang="en-US" sz="1400" dirty="0">
              <a:solidFill>
                <a:schemeClr val="bg1"/>
              </a:solidFill>
              <a:latin typeface="Times New Roman" panose="02020603050405020304" pitchFamily="18" charset="0"/>
              <a:cs typeface="Times New Roman" panose="02020603050405020304" pitchFamily="18" charset="0"/>
            </a:endParaRPr>
          </a:p>
          <a:p>
            <a:r>
              <a:rPr lang="en-US" sz="1400" dirty="0">
                <a:solidFill>
                  <a:schemeClr val="bg1"/>
                </a:solidFill>
                <a:latin typeface="Times New Roman" panose="02020603050405020304" pitchFamily="18" charset="0"/>
                <a:cs typeface="Times New Roman" panose="02020603050405020304" pitchFamily="18" charset="0"/>
              </a:rPr>
              <a:t>transparent intermediate outputs, not a black box</a:t>
            </a:r>
            <a:endParaRPr lang="en-US" sz="1400" dirty="0">
              <a:solidFill>
                <a:schemeClr val="bg1"/>
              </a:solidFill>
              <a:latin typeface="Times New Roman" panose="02020603050405020304" pitchFamily="18" charset="0"/>
              <a:cs typeface="Times New Roman" panose="02020603050405020304" pitchFamily="18" charset="0"/>
            </a:endParaRPr>
          </a:p>
          <a:p>
            <a:r>
              <a:rPr lang="en-US" sz="1400" dirty="0">
                <a:solidFill>
                  <a:schemeClr val="bg1"/>
                </a:solidFill>
                <a:latin typeface="Times New Roman" panose="02020603050405020304" pitchFamily="18" charset="0"/>
                <a:cs typeface="Times New Roman" panose="02020603050405020304" pitchFamily="18" charset="0"/>
              </a:rPr>
              <a:t>clear patient-level results and limitations</a:t>
            </a:r>
            <a:endParaRPr lang="en-US" sz="1400" dirty="0">
              <a:solidFill>
                <a:schemeClr val="bg1"/>
              </a:solidFill>
              <a:latin typeface="Times New Roman" panose="02020603050405020304" pitchFamily="18" charset="0"/>
              <a:cs typeface="Times New Roman" panose="02020603050405020304" pitchFamily="18" charset="0"/>
            </a:endParaRPr>
          </a:p>
          <a:p>
            <a:r>
              <a:rPr lang="en-US" sz="1400" dirty="0">
                <a:solidFill>
                  <a:schemeClr val="bg1"/>
                </a:solidFill>
                <a:latin typeface="Times New Roman" panose="02020603050405020304" pitchFamily="18" charset="0"/>
                <a:cs typeface="Times New Roman" panose="02020603050405020304" pitchFamily="18" charset="0"/>
              </a:rPr>
              <a:t>same viewer supports CT/PET and three anatomical planes</a:t>
            </a:r>
            <a:endParaRPr lang="en-US" sz="1400" dirty="0">
              <a:solidFill>
                <a:schemeClr val="bg1"/>
              </a:solidFill>
              <a:latin typeface="Times New Roman" panose="02020603050405020304" pitchFamily="18" charset="0"/>
              <a:cs typeface="Times New Roman" panose="02020603050405020304" pitchFamily="18" charset="0"/>
            </a:endParaRPr>
          </a:p>
        </p:txBody>
      </p:sp>
      <p:sp>
        <p:nvSpPr>
          <p:cNvPr id="25" name="Slide Number Placeholder 0"/>
          <p:cNvSpPr>
            <a:spLocks noGrp="1"/>
          </p:cNvSpPr>
          <p:nvPr>
            <p:ph type="sldNum" sz="quarter" idx="4294967295"/>
          </p:nvPr>
        </p:nvSpPr>
        <p:spPr>
          <a:xfrm>
            <a:off x="11567160" y="6574536"/>
            <a:ext cx="800000" cy="300000"/>
          </a:xfrm>
          <a:prstGeom prst="rect">
            <a:avLst/>
          </a:prstGeom>
        </p:spPr>
        <p:txBody>
          <a:bodyPr/>
          <a:lstStyle>
            <a:lvl1pPr>
              <a:defRPr sz="550">
                <a:solidFill>
                  <a:srgbClr val="6F7D91"/>
                </a:solidFill>
                <a:latin typeface="Aptos"/>
                <a:ea typeface="Aptos"/>
                <a:cs typeface="Aptos"/>
              </a:defRPr>
            </a:lvl1pPr>
          </a:lstStyle>
          <a:p>
            <a:pPr algn="l"/>
            <a:fld id="{F7021451-1387-4CA6-816F-3879F97B5CBC}" type="slidenum">
              <a:rPr lang="en-US" b="0">
                <a:solidFill>
                  <a:schemeClr val="bg1"/>
                </a:solidFill>
                <a:latin typeface="Times New Roman" panose="02020603050405020304" pitchFamily="18" charset="0"/>
                <a:cs typeface="Times New Roman" panose="02020603050405020304" pitchFamily="18" charset="0"/>
              </a:rPr>
            </a:fld>
            <a:endParaRPr lang="en-US">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4581" y="684187"/>
            <a:ext cx="7863840" cy="393192"/>
          </a:xfrm>
          <a:prstGeom prst="rect">
            <a:avLst/>
          </a:prstGeom>
          <a:noFill/>
        </p:spPr>
        <p:txBody>
          <a:bodyPr wrap="square" lIns="0" tIns="0" rIns="0" bIns="0" rtlCol="0" anchor="ctr"/>
          <a:lstStyle/>
          <a:p>
            <a:pPr marL="0" indent="0">
              <a:buNone/>
            </a:pPr>
            <a:r>
              <a:rPr lang="en-US" sz="2800" b="1" dirty="0">
                <a:solidFill>
                  <a:schemeClr val="bg1"/>
                </a:solidFill>
                <a:latin typeface="Times New Roman" panose="02020603050405020304" pitchFamily="18" charset="0"/>
                <a:ea typeface="Aptos Display" pitchFamily="34" charset="-122"/>
                <a:cs typeface="Times New Roman" panose="02020603050405020304" pitchFamily="18" charset="0"/>
              </a:rPr>
              <a:t>Delivered user stories and acceptance evidence</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Text 1"/>
          <p:cNvSpPr/>
          <p:nvPr/>
        </p:nvSpPr>
        <p:spPr>
          <a:xfrm>
            <a:off x="604581" y="1141387"/>
            <a:ext cx="8869680" cy="201168"/>
          </a:xfrm>
          <a:prstGeom prst="rect">
            <a:avLst/>
          </a:prstGeom>
          <a:noFill/>
        </p:spPr>
        <p:txBody>
          <a:bodyPr wrap="square" lIns="0" tIns="0" rIns="0" bIns="0" rtlCol="0" anchor="ctr"/>
          <a:lstStyle/>
          <a:p>
            <a:pPr marL="0" indent="0">
              <a:buNone/>
            </a:pPr>
            <a:r>
              <a:rPr lang="en-US" sz="1200" dirty="0">
                <a:solidFill>
                  <a:schemeClr val="bg1"/>
                </a:solidFill>
                <a:latin typeface="Times New Roman" panose="02020603050405020304" pitchFamily="18" charset="0"/>
                <a:cs typeface="Times New Roman" panose="02020603050405020304" pitchFamily="18" charset="0"/>
              </a:rPr>
              <a:t>Each item maps to a visible result in the prototype or a reproducible output file.</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5" name="Text 3"/>
          <p:cNvSpPr/>
          <p:nvPr/>
        </p:nvSpPr>
        <p:spPr>
          <a:xfrm>
            <a:off x="741741" y="1470571"/>
            <a:ext cx="2240280" cy="256032"/>
          </a:xfrm>
          <a:prstGeom prst="rect">
            <a:avLst/>
          </a:prstGeom>
          <a:noFill/>
        </p:spPr>
        <p:txBody>
          <a:bodyPr wrap="square" lIns="508" tIns="508" rIns="508" bIns="508" rtlCol="0" anchor="t">
            <a:normAutofit/>
          </a:bodyPr>
          <a:lstStyle/>
          <a:p>
            <a:pPr marL="0" indent="0" algn="l">
              <a:buNone/>
            </a:pPr>
            <a:r>
              <a:rPr lang="en-US" sz="1200" b="1" dirty="0">
                <a:solidFill>
                  <a:srgbClr val="26C9F4"/>
                </a:solidFill>
                <a:latin typeface="Times New Roman" panose="02020603050405020304" pitchFamily="18" charset="0"/>
                <a:ea typeface="Aptos" pitchFamily="34" charset="-122"/>
                <a:cs typeface="Times New Roman" panose="02020603050405020304" pitchFamily="18" charset="0"/>
              </a:rPr>
              <a:t>User story</a:t>
            </a:r>
            <a:endParaRPr lang="en-US" sz="1200" dirty="0">
              <a:solidFill>
                <a:srgbClr val="26C9F4"/>
              </a:solidFill>
              <a:latin typeface="Times New Roman" panose="02020603050405020304" pitchFamily="18" charset="0"/>
              <a:cs typeface="Times New Roman" panose="02020603050405020304" pitchFamily="18" charset="0"/>
            </a:endParaRPr>
          </a:p>
        </p:txBody>
      </p:sp>
      <p:sp>
        <p:nvSpPr>
          <p:cNvPr id="6" name="Text 4"/>
          <p:cNvSpPr/>
          <p:nvPr/>
        </p:nvSpPr>
        <p:spPr>
          <a:xfrm>
            <a:off x="3146613" y="1470571"/>
            <a:ext cx="4251960" cy="256032"/>
          </a:xfrm>
          <a:prstGeom prst="rect">
            <a:avLst/>
          </a:prstGeom>
          <a:noFill/>
        </p:spPr>
        <p:txBody>
          <a:bodyPr wrap="square" lIns="508" tIns="508" rIns="508" bIns="508" rtlCol="0" anchor="t">
            <a:normAutofit/>
          </a:bodyPr>
          <a:lstStyle/>
          <a:p>
            <a:pPr marL="0" indent="0" algn="l">
              <a:buNone/>
            </a:pPr>
            <a:r>
              <a:rPr lang="en-US" sz="1200" b="1" dirty="0">
                <a:solidFill>
                  <a:srgbClr val="26C9F4"/>
                </a:solidFill>
                <a:latin typeface="Times New Roman" panose="02020603050405020304" pitchFamily="18" charset="0"/>
                <a:ea typeface="Aptos" pitchFamily="34" charset="-122"/>
                <a:cs typeface="Times New Roman" panose="02020603050405020304" pitchFamily="18" charset="0"/>
              </a:rPr>
              <a:t>Acceptance result</a:t>
            </a:r>
            <a:endParaRPr lang="en-US" sz="1200" dirty="0">
              <a:solidFill>
                <a:srgbClr val="26C9F4"/>
              </a:solidFill>
              <a:latin typeface="Times New Roman" panose="02020603050405020304" pitchFamily="18" charset="0"/>
              <a:cs typeface="Times New Roman" panose="02020603050405020304" pitchFamily="18" charset="0"/>
            </a:endParaRPr>
          </a:p>
        </p:txBody>
      </p:sp>
      <p:sp>
        <p:nvSpPr>
          <p:cNvPr id="7" name="Text 5"/>
          <p:cNvSpPr/>
          <p:nvPr/>
        </p:nvSpPr>
        <p:spPr>
          <a:xfrm>
            <a:off x="7581453" y="1470571"/>
            <a:ext cx="4069080" cy="256032"/>
          </a:xfrm>
          <a:prstGeom prst="rect">
            <a:avLst/>
          </a:prstGeom>
          <a:noFill/>
        </p:spPr>
        <p:txBody>
          <a:bodyPr wrap="square" lIns="508" tIns="508" rIns="508" bIns="508" rtlCol="0" anchor="t">
            <a:normAutofit/>
          </a:bodyPr>
          <a:lstStyle/>
          <a:p>
            <a:pPr marL="0" indent="0" algn="l">
              <a:buNone/>
            </a:pPr>
            <a:r>
              <a:rPr lang="en-US" sz="1200" b="1" dirty="0">
                <a:solidFill>
                  <a:srgbClr val="26C9F4"/>
                </a:solidFill>
                <a:latin typeface="Times New Roman" panose="02020603050405020304" pitchFamily="18" charset="0"/>
                <a:ea typeface="Aptos" pitchFamily="34" charset="-122"/>
                <a:cs typeface="Times New Roman" panose="02020603050405020304" pitchFamily="18" charset="0"/>
              </a:rPr>
              <a:t>Live / file evidence</a:t>
            </a:r>
            <a:endParaRPr lang="en-US" sz="1200" dirty="0">
              <a:solidFill>
                <a:srgbClr val="26C9F4"/>
              </a:solidFill>
              <a:latin typeface="Times New Roman" panose="02020603050405020304" pitchFamily="18" charset="0"/>
              <a:cs typeface="Times New Roman" panose="02020603050405020304" pitchFamily="18" charset="0"/>
            </a:endParaRPr>
          </a:p>
        </p:txBody>
      </p:sp>
      <p:sp>
        <p:nvSpPr>
          <p:cNvPr id="8" name="Shape 6"/>
          <p:cNvSpPr/>
          <p:nvPr/>
        </p:nvSpPr>
        <p:spPr>
          <a:xfrm>
            <a:off x="632013" y="1836331"/>
            <a:ext cx="11201400" cy="658368"/>
          </a:xfrm>
          <a:prstGeom prst="rect">
            <a:avLst/>
          </a:prstGeom>
          <a:solidFill>
            <a:srgbClr val="111C31"/>
          </a:solidFill>
          <a:ln w="3175">
            <a:solidFill>
              <a:srgbClr val="2B3B55">
                <a:alpha val="90000"/>
              </a:srgbClr>
            </a:solidFill>
            <a:prstDash val="solid"/>
          </a:ln>
        </p:spPr>
        <p:txBody>
          <a:bodyPr/>
          <a:lstStyle/>
          <a:p>
            <a:endParaRPr lang="zh-CN" altLang="en-US">
              <a:solidFill>
                <a:schemeClr val="bg1"/>
              </a:solidFill>
              <a:latin typeface="Times New Roman" panose="02020603050405020304" pitchFamily="18" charset="0"/>
              <a:cs typeface="Times New Roman" panose="02020603050405020304" pitchFamily="18" charset="0"/>
            </a:endParaRPr>
          </a:p>
        </p:txBody>
      </p:sp>
      <p:sp>
        <p:nvSpPr>
          <p:cNvPr id="9" name="Text 7"/>
          <p:cNvSpPr/>
          <p:nvPr/>
        </p:nvSpPr>
        <p:spPr>
          <a:xfrm>
            <a:off x="741741" y="2021365"/>
            <a:ext cx="2011680" cy="310896"/>
          </a:xfrm>
          <a:prstGeom prst="rect">
            <a:avLst/>
          </a:prstGeom>
          <a:noFill/>
        </p:spPr>
        <p:txBody>
          <a:bodyPr wrap="square" lIns="508" tIns="508" rIns="508" bIns="508" rtlCol="0" anchor="t">
            <a:normAutofit/>
          </a:bodyPr>
          <a:lstStyle/>
          <a:p>
            <a:pPr marL="0" indent="0" algn="l">
              <a:buNone/>
            </a:pPr>
            <a:r>
              <a:rPr lang="en-US" sz="1200" b="1" dirty="0">
                <a:solidFill>
                  <a:srgbClr val="26C9F4"/>
                </a:solidFill>
                <a:latin typeface="Times New Roman" panose="02020603050405020304" pitchFamily="18" charset="0"/>
                <a:ea typeface="Aptos" pitchFamily="34" charset="-122"/>
                <a:cs typeface="Times New Roman" panose="02020603050405020304" pitchFamily="18" charset="0"/>
              </a:rPr>
              <a:t>Data setup</a:t>
            </a:r>
            <a:endParaRPr lang="en-US" sz="1200" dirty="0">
              <a:solidFill>
                <a:srgbClr val="26C9F4"/>
              </a:solidFill>
              <a:latin typeface="Times New Roman" panose="02020603050405020304" pitchFamily="18" charset="0"/>
              <a:cs typeface="Times New Roman" panose="02020603050405020304" pitchFamily="18" charset="0"/>
            </a:endParaRPr>
          </a:p>
        </p:txBody>
      </p:sp>
      <p:sp>
        <p:nvSpPr>
          <p:cNvPr id="10" name="Text 8"/>
          <p:cNvSpPr/>
          <p:nvPr/>
        </p:nvSpPr>
        <p:spPr>
          <a:xfrm>
            <a:off x="3146613" y="1975645"/>
            <a:ext cx="4160520" cy="411480"/>
          </a:xfrm>
          <a:prstGeom prst="rect">
            <a:avLst/>
          </a:prstGeom>
          <a:noFill/>
        </p:spPr>
        <p:txBody>
          <a:bodyPr wrap="square" lIns="508" tIns="508" rIns="508" bIns="508" rtlCol="0" anchor="t">
            <a:normAutofit/>
          </a:bodyPr>
          <a:lstStyle/>
          <a:p>
            <a:pPr marL="0" indent="0" algn="l">
              <a:buNone/>
            </a:pPr>
            <a:r>
              <a:rPr lang="en-US" sz="1100" dirty="0">
                <a:solidFill>
                  <a:schemeClr val="bg1"/>
                </a:solidFill>
                <a:latin typeface="Times New Roman" panose="02020603050405020304" pitchFamily="18" charset="0"/>
                <a:ea typeface="Aptos" pitchFamily="34" charset="-122"/>
                <a:cs typeface="Times New Roman" panose="02020603050405020304" pitchFamily="18" charset="0"/>
              </a:rPr>
              <a:t>BL/FU CT, PET where available, masks, and references are discoverable through manifests.</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11" name="Text 9"/>
          <p:cNvSpPr/>
          <p:nvPr/>
        </p:nvSpPr>
        <p:spPr>
          <a:xfrm>
            <a:off x="7581453" y="1975645"/>
            <a:ext cx="3931920" cy="411480"/>
          </a:xfrm>
          <a:prstGeom prst="rect">
            <a:avLst/>
          </a:prstGeom>
          <a:noFill/>
        </p:spPr>
        <p:txBody>
          <a:bodyPr wrap="square" lIns="508" tIns="508" rIns="508" bIns="508" rtlCol="0" anchor="t">
            <a:normAutofit/>
          </a:bodyPr>
          <a:lstStyle/>
          <a:p>
            <a:pPr marL="0" indent="0" algn="l">
              <a:buNone/>
            </a:pPr>
            <a:r>
              <a:rPr lang="en-US" sz="1100" dirty="0">
                <a:solidFill>
                  <a:schemeClr val="bg1"/>
                </a:solidFill>
                <a:latin typeface="Times New Roman" panose="02020603050405020304" pitchFamily="18" charset="0"/>
                <a:ea typeface="Aptos" pitchFamily="34" charset="-122"/>
                <a:cs typeface="Times New Roman" panose="02020603050405020304" pitchFamily="18" charset="0"/>
              </a:rPr>
              <a:t>selected_pairs_11.csv; scan manifest; launcher paths</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12" name="Shape 10"/>
          <p:cNvSpPr/>
          <p:nvPr/>
        </p:nvSpPr>
        <p:spPr>
          <a:xfrm>
            <a:off x="632013" y="2622715"/>
            <a:ext cx="11201400" cy="658368"/>
          </a:xfrm>
          <a:prstGeom prst="rect">
            <a:avLst/>
          </a:prstGeom>
          <a:solidFill>
            <a:srgbClr val="0D1526"/>
          </a:solidFill>
          <a:ln w="3175">
            <a:solidFill>
              <a:srgbClr val="2B3B55">
                <a:alpha val="90000"/>
              </a:srgbClr>
            </a:solidFill>
            <a:prstDash val="solid"/>
          </a:ln>
        </p:spPr>
        <p:txBody>
          <a:bodyPr/>
          <a:lstStyle/>
          <a:p>
            <a:endParaRPr lang="zh-CN" altLang="en-US">
              <a:solidFill>
                <a:schemeClr val="bg1"/>
              </a:solidFill>
              <a:latin typeface="Times New Roman" panose="02020603050405020304" pitchFamily="18" charset="0"/>
              <a:cs typeface="Times New Roman" panose="02020603050405020304" pitchFamily="18" charset="0"/>
            </a:endParaRPr>
          </a:p>
        </p:txBody>
      </p:sp>
      <p:sp>
        <p:nvSpPr>
          <p:cNvPr id="13" name="Text 11"/>
          <p:cNvSpPr/>
          <p:nvPr/>
        </p:nvSpPr>
        <p:spPr>
          <a:xfrm>
            <a:off x="741741" y="2807749"/>
            <a:ext cx="2011680" cy="310896"/>
          </a:xfrm>
          <a:prstGeom prst="rect">
            <a:avLst/>
          </a:prstGeom>
          <a:noFill/>
        </p:spPr>
        <p:txBody>
          <a:bodyPr wrap="square" lIns="508" tIns="508" rIns="508" bIns="508" rtlCol="0" anchor="t">
            <a:normAutofit/>
          </a:bodyPr>
          <a:lstStyle/>
          <a:p>
            <a:pPr marL="0" indent="0" algn="l">
              <a:buNone/>
            </a:pPr>
            <a:r>
              <a:rPr lang="en-US" sz="1200" b="1" dirty="0">
                <a:solidFill>
                  <a:srgbClr val="26C9F4"/>
                </a:solidFill>
                <a:latin typeface="Times New Roman" panose="02020603050405020304" pitchFamily="18" charset="0"/>
                <a:ea typeface="Aptos" pitchFamily="34" charset="-122"/>
                <a:cs typeface="Times New Roman" panose="02020603050405020304" pitchFamily="18" charset="0"/>
              </a:rPr>
              <a:t>Alignment</a:t>
            </a:r>
            <a:endParaRPr lang="en-US" sz="1200" dirty="0">
              <a:solidFill>
                <a:srgbClr val="26C9F4"/>
              </a:solidFill>
              <a:latin typeface="Times New Roman" panose="02020603050405020304" pitchFamily="18" charset="0"/>
              <a:cs typeface="Times New Roman" panose="02020603050405020304" pitchFamily="18" charset="0"/>
            </a:endParaRPr>
          </a:p>
        </p:txBody>
      </p:sp>
      <p:sp>
        <p:nvSpPr>
          <p:cNvPr id="14" name="Text 12"/>
          <p:cNvSpPr/>
          <p:nvPr/>
        </p:nvSpPr>
        <p:spPr>
          <a:xfrm>
            <a:off x="3146613" y="2762029"/>
            <a:ext cx="4160520" cy="411480"/>
          </a:xfrm>
          <a:prstGeom prst="rect">
            <a:avLst/>
          </a:prstGeom>
          <a:noFill/>
        </p:spPr>
        <p:txBody>
          <a:bodyPr wrap="square" lIns="508" tIns="508" rIns="508" bIns="508" rtlCol="0" anchor="t">
            <a:normAutofit/>
          </a:bodyPr>
          <a:lstStyle/>
          <a:p>
            <a:pPr marL="0" indent="0" algn="l">
              <a:buNone/>
            </a:pPr>
            <a:r>
              <a:rPr lang="en-US" sz="1100" dirty="0">
                <a:solidFill>
                  <a:schemeClr val="bg1"/>
                </a:solidFill>
                <a:latin typeface="Times New Roman" panose="02020603050405020304" pitchFamily="18" charset="0"/>
                <a:ea typeface="Aptos" pitchFamily="34" charset="-122"/>
                <a:cs typeface="Times New Roman" panose="02020603050405020304" pitchFamily="18" charset="0"/>
              </a:rPr>
              <a:t>Registered BL and FU are compared in a shared follow-up coordinate space.</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15" name="Text 13"/>
          <p:cNvSpPr/>
          <p:nvPr/>
        </p:nvSpPr>
        <p:spPr>
          <a:xfrm>
            <a:off x="7581453" y="2762029"/>
            <a:ext cx="3931920" cy="411480"/>
          </a:xfrm>
          <a:prstGeom prst="rect">
            <a:avLst/>
          </a:prstGeom>
          <a:noFill/>
        </p:spPr>
        <p:txBody>
          <a:bodyPr wrap="square" lIns="508" tIns="508" rIns="508" bIns="508" rtlCol="0" anchor="t">
            <a:normAutofit/>
          </a:bodyPr>
          <a:lstStyle/>
          <a:p>
            <a:pPr marL="0" indent="0" algn="l">
              <a:buNone/>
            </a:pPr>
            <a:r>
              <a:rPr lang="en-US" sz="1100" dirty="0">
                <a:solidFill>
                  <a:schemeClr val="bg1"/>
                </a:solidFill>
                <a:latin typeface="Times New Roman" panose="02020603050405020304" pitchFamily="18" charset="0"/>
                <a:ea typeface="Aptos" pitchFamily="34" charset="-122"/>
                <a:cs typeface="Times New Roman" panose="02020603050405020304" pitchFamily="18" charset="0"/>
              </a:rPr>
              <a:t>Original BL / Registered BL / FU viewer</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16" name="Shape 14"/>
          <p:cNvSpPr/>
          <p:nvPr/>
        </p:nvSpPr>
        <p:spPr>
          <a:xfrm>
            <a:off x="632013" y="3409099"/>
            <a:ext cx="11201400" cy="658368"/>
          </a:xfrm>
          <a:prstGeom prst="rect">
            <a:avLst/>
          </a:prstGeom>
          <a:solidFill>
            <a:srgbClr val="111C31"/>
          </a:solidFill>
          <a:ln w="3175">
            <a:solidFill>
              <a:srgbClr val="2B3B55">
                <a:alpha val="90000"/>
              </a:srgbClr>
            </a:solidFill>
            <a:prstDash val="solid"/>
          </a:ln>
        </p:spPr>
        <p:txBody>
          <a:bodyPr/>
          <a:lstStyle/>
          <a:p>
            <a:endParaRPr lang="zh-CN" altLang="en-US">
              <a:solidFill>
                <a:schemeClr val="bg1"/>
              </a:solidFill>
              <a:latin typeface="Times New Roman" panose="02020603050405020304" pitchFamily="18" charset="0"/>
              <a:cs typeface="Times New Roman" panose="02020603050405020304" pitchFamily="18" charset="0"/>
            </a:endParaRPr>
          </a:p>
        </p:txBody>
      </p:sp>
      <p:sp>
        <p:nvSpPr>
          <p:cNvPr id="17" name="Text 15"/>
          <p:cNvSpPr/>
          <p:nvPr/>
        </p:nvSpPr>
        <p:spPr>
          <a:xfrm>
            <a:off x="741741" y="3594133"/>
            <a:ext cx="2011680" cy="310896"/>
          </a:xfrm>
          <a:prstGeom prst="rect">
            <a:avLst/>
          </a:prstGeom>
          <a:noFill/>
        </p:spPr>
        <p:txBody>
          <a:bodyPr wrap="square" lIns="508" tIns="508" rIns="508" bIns="508" rtlCol="0" anchor="t">
            <a:normAutofit/>
          </a:bodyPr>
          <a:lstStyle/>
          <a:p>
            <a:pPr marL="0" indent="0" algn="l">
              <a:buNone/>
            </a:pPr>
            <a:r>
              <a:rPr lang="en-US" sz="1200" b="1" dirty="0">
                <a:solidFill>
                  <a:srgbClr val="26C9F4"/>
                </a:solidFill>
                <a:latin typeface="Times New Roman" panose="02020603050405020304" pitchFamily="18" charset="0"/>
                <a:ea typeface="Aptos" pitchFamily="34" charset="-122"/>
                <a:cs typeface="Times New Roman" panose="02020603050405020304" pitchFamily="18" charset="0"/>
              </a:rPr>
              <a:t>Multiplanar review</a:t>
            </a:r>
            <a:endParaRPr lang="en-US" sz="1200" dirty="0">
              <a:solidFill>
                <a:srgbClr val="26C9F4"/>
              </a:solidFill>
              <a:latin typeface="Times New Roman" panose="02020603050405020304" pitchFamily="18" charset="0"/>
              <a:cs typeface="Times New Roman" panose="02020603050405020304" pitchFamily="18" charset="0"/>
            </a:endParaRPr>
          </a:p>
        </p:txBody>
      </p:sp>
      <p:sp>
        <p:nvSpPr>
          <p:cNvPr id="18" name="Text 16"/>
          <p:cNvSpPr/>
          <p:nvPr/>
        </p:nvSpPr>
        <p:spPr>
          <a:xfrm>
            <a:off x="3146613" y="3548413"/>
            <a:ext cx="4160520" cy="411480"/>
          </a:xfrm>
          <a:prstGeom prst="rect">
            <a:avLst/>
          </a:prstGeom>
          <a:noFill/>
        </p:spPr>
        <p:txBody>
          <a:bodyPr wrap="square" lIns="508" tIns="508" rIns="508" bIns="508" rtlCol="0" anchor="t">
            <a:normAutofit/>
          </a:bodyPr>
          <a:lstStyle/>
          <a:p>
            <a:pPr marL="0" indent="0" algn="l">
              <a:buNone/>
            </a:pPr>
            <a:r>
              <a:rPr lang="en-US" sz="1100" dirty="0">
                <a:solidFill>
                  <a:schemeClr val="bg1"/>
                </a:solidFill>
                <a:latin typeface="Times New Roman" panose="02020603050405020304" pitchFamily="18" charset="0"/>
                <a:ea typeface="Aptos" pitchFamily="34" charset="-122"/>
                <a:cs typeface="Times New Roman" panose="02020603050405020304" pitchFamily="18" charset="0"/>
              </a:rPr>
              <a:t>CT/PET and masks can be viewed in axial, coronal, and sagittal planes.</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19" name="Text 17"/>
          <p:cNvSpPr/>
          <p:nvPr/>
        </p:nvSpPr>
        <p:spPr>
          <a:xfrm>
            <a:off x="7581453" y="3548413"/>
            <a:ext cx="3931920" cy="411480"/>
          </a:xfrm>
          <a:prstGeom prst="rect">
            <a:avLst/>
          </a:prstGeom>
          <a:noFill/>
        </p:spPr>
        <p:txBody>
          <a:bodyPr wrap="square" lIns="508" tIns="508" rIns="508" bIns="508" rtlCol="0" anchor="t">
            <a:normAutofit/>
          </a:bodyPr>
          <a:lstStyle/>
          <a:p>
            <a:pPr marL="0" indent="0" algn="l">
              <a:buNone/>
            </a:pPr>
            <a:r>
              <a:rPr lang="en-US" sz="1100" dirty="0">
                <a:solidFill>
                  <a:schemeClr val="bg1"/>
                </a:solidFill>
                <a:latin typeface="Times New Roman" panose="02020603050405020304" pitchFamily="18" charset="0"/>
                <a:ea typeface="Aptos" pitchFamily="34" charset="-122"/>
                <a:cs typeface="Times New Roman" panose="02020603050405020304" pitchFamily="18" charset="0"/>
              </a:rPr>
              <a:t>slice sliders + physical aspect correction</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20" name="Shape 18"/>
          <p:cNvSpPr/>
          <p:nvPr/>
        </p:nvSpPr>
        <p:spPr>
          <a:xfrm>
            <a:off x="632013" y="4195483"/>
            <a:ext cx="11201400" cy="658368"/>
          </a:xfrm>
          <a:prstGeom prst="rect">
            <a:avLst/>
          </a:prstGeom>
          <a:solidFill>
            <a:srgbClr val="0D1526"/>
          </a:solidFill>
          <a:ln w="3175">
            <a:solidFill>
              <a:srgbClr val="2B3B55">
                <a:alpha val="90000"/>
              </a:srgbClr>
            </a:solidFill>
            <a:prstDash val="solid"/>
          </a:ln>
        </p:spPr>
        <p:txBody>
          <a:bodyPr/>
          <a:lstStyle/>
          <a:p>
            <a:endParaRPr lang="zh-CN" altLang="en-US">
              <a:solidFill>
                <a:schemeClr val="bg1"/>
              </a:solidFill>
              <a:latin typeface="Times New Roman" panose="02020603050405020304" pitchFamily="18" charset="0"/>
              <a:cs typeface="Times New Roman" panose="02020603050405020304" pitchFamily="18" charset="0"/>
            </a:endParaRPr>
          </a:p>
        </p:txBody>
      </p:sp>
      <p:sp>
        <p:nvSpPr>
          <p:cNvPr id="21" name="Text 19"/>
          <p:cNvSpPr/>
          <p:nvPr/>
        </p:nvSpPr>
        <p:spPr>
          <a:xfrm>
            <a:off x="741741" y="4380517"/>
            <a:ext cx="2011680" cy="310896"/>
          </a:xfrm>
          <a:prstGeom prst="rect">
            <a:avLst/>
          </a:prstGeom>
          <a:noFill/>
        </p:spPr>
        <p:txBody>
          <a:bodyPr wrap="square" lIns="508" tIns="508" rIns="508" bIns="508" rtlCol="0" anchor="t">
            <a:normAutofit/>
          </a:bodyPr>
          <a:lstStyle/>
          <a:p>
            <a:pPr marL="0" indent="0" algn="l">
              <a:buNone/>
            </a:pPr>
            <a:r>
              <a:rPr lang="en-US" sz="1200" b="1" dirty="0">
                <a:solidFill>
                  <a:srgbClr val="26C9F4"/>
                </a:solidFill>
                <a:latin typeface="Times New Roman" panose="02020603050405020304" pitchFamily="18" charset="0"/>
                <a:ea typeface="Aptos" pitchFamily="34" charset="-122"/>
                <a:cs typeface="Times New Roman" panose="02020603050405020304" pitchFamily="18" charset="0"/>
              </a:rPr>
              <a:t>Lesion matching</a:t>
            </a:r>
            <a:endParaRPr lang="en-US" sz="1200" dirty="0">
              <a:solidFill>
                <a:srgbClr val="26C9F4"/>
              </a:solidFill>
              <a:latin typeface="Times New Roman" panose="02020603050405020304" pitchFamily="18" charset="0"/>
              <a:cs typeface="Times New Roman" panose="02020603050405020304" pitchFamily="18" charset="0"/>
            </a:endParaRPr>
          </a:p>
        </p:txBody>
      </p:sp>
      <p:sp>
        <p:nvSpPr>
          <p:cNvPr id="22" name="Text 20"/>
          <p:cNvSpPr/>
          <p:nvPr/>
        </p:nvSpPr>
        <p:spPr>
          <a:xfrm>
            <a:off x="3146613" y="4334797"/>
            <a:ext cx="4160520" cy="411480"/>
          </a:xfrm>
          <a:prstGeom prst="rect">
            <a:avLst/>
          </a:prstGeom>
          <a:noFill/>
        </p:spPr>
        <p:txBody>
          <a:bodyPr wrap="square" lIns="508" tIns="508" rIns="508" bIns="508" rtlCol="0" anchor="t">
            <a:normAutofit/>
          </a:bodyPr>
          <a:lstStyle/>
          <a:p>
            <a:pPr marL="0" indent="0" algn="l">
              <a:buNone/>
            </a:pPr>
            <a:r>
              <a:rPr lang="en-US" sz="1100" dirty="0">
                <a:solidFill>
                  <a:schemeClr val="bg1"/>
                </a:solidFill>
                <a:latin typeface="Times New Roman" panose="02020603050405020304" pitchFamily="18" charset="0"/>
                <a:ea typeface="Aptos" pitchFamily="34" charset="-122"/>
                <a:cs typeface="Times New Roman" panose="02020603050405020304" pitchFamily="18" charset="0"/>
              </a:rPr>
              <a:t>Matched, merging, new, and disappearing events are reported explicitly.</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23" name="Text 21"/>
          <p:cNvSpPr/>
          <p:nvPr/>
        </p:nvSpPr>
        <p:spPr>
          <a:xfrm>
            <a:off x="7581453" y="4334797"/>
            <a:ext cx="3931920" cy="411480"/>
          </a:xfrm>
          <a:prstGeom prst="rect">
            <a:avLst/>
          </a:prstGeom>
          <a:noFill/>
        </p:spPr>
        <p:txBody>
          <a:bodyPr wrap="square" lIns="508" tIns="508" rIns="508" bIns="508" rtlCol="0" anchor="t">
            <a:normAutofit/>
          </a:bodyPr>
          <a:lstStyle/>
          <a:p>
            <a:pPr marL="0" indent="0" algn="l">
              <a:buNone/>
            </a:pPr>
            <a:r>
              <a:rPr lang="en-US" sz="1100" dirty="0">
                <a:solidFill>
                  <a:schemeClr val="bg1"/>
                </a:solidFill>
                <a:latin typeface="Times New Roman" panose="02020603050405020304" pitchFamily="18" charset="0"/>
                <a:ea typeface="Aptos" pitchFamily="34" charset="-122"/>
                <a:cs typeface="Times New Roman" panose="02020603050405020304" pitchFamily="18" charset="0"/>
              </a:rPr>
              <a:t>lesion_matches.csv; correspondence table</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24" name="Shape 22"/>
          <p:cNvSpPr/>
          <p:nvPr/>
        </p:nvSpPr>
        <p:spPr>
          <a:xfrm>
            <a:off x="632013" y="4981867"/>
            <a:ext cx="11201400" cy="658368"/>
          </a:xfrm>
          <a:prstGeom prst="rect">
            <a:avLst/>
          </a:prstGeom>
          <a:solidFill>
            <a:srgbClr val="111C31"/>
          </a:solidFill>
          <a:ln w="3175">
            <a:solidFill>
              <a:srgbClr val="2B3B55">
                <a:alpha val="90000"/>
              </a:srgbClr>
            </a:solidFill>
            <a:prstDash val="solid"/>
          </a:ln>
        </p:spPr>
        <p:txBody>
          <a:bodyPr/>
          <a:lstStyle/>
          <a:p>
            <a:endParaRPr lang="zh-CN" altLang="en-US">
              <a:solidFill>
                <a:schemeClr val="bg1"/>
              </a:solidFill>
              <a:latin typeface="Times New Roman" panose="02020603050405020304" pitchFamily="18" charset="0"/>
              <a:cs typeface="Times New Roman" panose="02020603050405020304" pitchFamily="18" charset="0"/>
            </a:endParaRPr>
          </a:p>
        </p:txBody>
      </p:sp>
      <p:sp>
        <p:nvSpPr>
          <p:cNvPr id="25" name="Text 23"/>
          <p:cNvSpPr/>
          <p:nvPr/>
        </p:nvSpPr>
        <p:spPr>
          <a:xfrm>
            <a:off x="741741" y="5121181"/>
            <a:ext cx="2011680" cy="310896"/>
          </a:xfrm>
          <a:prstGeom prst="rect">
            <a:avLst/>
          </a:prstGeom>
          <a:noFill/>
        </p:spPr>
        <p:txBody>
          <a:bodyPr wrap="square" lIns="508" tIns="508" rIns="508" bIns="508" rtlCol="0" anchor="t">
            <a:normAutofit/>
          </a:bodyPr>
          <a:lstStyle/>
          <a:p>
            <a:pPr marL="0" indent="0" algn="l">
              <a:buNone/>
            </a:pPr>
            <a:r>
              <a:rPr lang="en-US" sz="1200" b="1" dirty="0">
                <a:solidFill>
                  <a:srgbClr val="26C9F4"/>
                </a:solidFill>
                <a:latin typeface="Times New Roman" panose="02020603050405020304" pitchFamily="18" charset="0"/>
                <a:ea typeface="Aptos" pitchFamily="34" charset="-122"/>
                <a:cs typeface="Times New Roman" panose="02020603050405020304" pitchFamily="18" charset="0"/>
              </a:rPr>
              <a:t>Evaluation &amp; summary</a:t>
            </a:r>
            <a:endParaRPr lang="en-US" sz="1200" dirty="0">
              <a:solidFill>
                <a:srgbClr val="26C9F4"/>
              </a:solidFill>
              <a:latin typeface="Times New Roman" panose="02020603050405020304" pitchFamily="18" charset="0"/>
              <a:cs typeface="Times New Roman" panose="02020603050405020304" pitchFamily="18" charset="0"/>
            </a:endParaRPr>
          </a:p>
        </p:txBody>
      </p:sp>
      <p:sp>
        <p:nvSpPr>
          <p:cNvPr id="26" name="Text 24"/>
          <p:cNvSpPr/>
          <p:nvPr/>
        </p:nvSpPr>
        <p:spPr>
          <a:xfrm>
            <a:off x="3146613" y="5121181"/>
            <a:ext cx="4160520" cy="411480"/>
          </a:xfrm>
          <a:prstGeom prst="rect">
            <a:avLst/>
          </a:prstGeom>
          <a:noFill/>
        </p:spPr>
        <p:txBody>
          <a:bodyPr wrap="square" lIns="508" tIns="508" rIns="508" bIns="508" rtlCol="0" anchor="t">
            <a:normAutofit/>
          </a:bodyPr>
          <a:lstStyle/>
          <a:p>
            <a:pPr marL="0" indent="0" algn="l">
              <a:buNone/>
            </a:pPr>
            <a:r>
              <a:rPr lang="en-US" sz="1100" dirty="0">
                <a:solidFill>
                  <a:schemeClr val="bg1"/>
                </a:solidFill>
                <a:latin typeface="Times New Roman" panose="02020603050405020304" pitchFamily="18" charset="0"/>
                <a:ea typeface="Aptos" pitchFamily="34" charset="-122"/>
                <a:cs typeface="Times New Roman" panose="02020603050405020304" pitchFamily="18" charset="0"/>
              </a:rPr>
              <a:t>When expert GT exists, accuracy and per-patient summaries are shown.</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27" name="Text 25"/>
          <p:cNvSpPr/>
          <p:nvPr/>
        </p:nvSpPr>
        <p:spPr>
          <a:xfrm>
            <a:off x="7581453" y="5121181"/>
            <a:ext cx="3931920" cy="411480"/>
          </a:xfrm>
          <a:prstGeom prst="rect">
            <a:avLst/>
          </a:prstGeom>
          <a:noFill/>
        </p:spPr>
        <p:txBody>
          <a:bodyPr wrap="square" lIns="508" tIns="508" rIns="508" bIns="508" rtlCol="0" anchor="t">
            <a:normAutofit/>
          </a:bodyPr>
          <a:lstStyle/>
          <a:p>
            <a:pPr marL="0" indent="0" algn="l">
              <a:buNone/>
            </a:pPr>
            <a:r>
              <a:rPr lang="en-US" sz="1100" dirty="0">
                <a:solidFill>
                  <a:schemeClr val="bg1"/>
                </a:solidFill>
                <a:latin typeface="Times New Roman" panose="02020603050405020304" pitchFamily="18" charset="0"/>
                <a:ea typeface="Aptos" pitchFamily="34" charset="-122"/>
                <a:cs typeface="Times New Roman" panose="02020603050405020304" pitchFamily="18" charset="0"/>
              </a:rPr>
              <a:t>tracking summary cards; subset summary</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28" name="Shape 26"/>
          <p:cNvSpPr/>
          <p:nvPr/>
        </p:nvSpPr>
        <p:spPr>
          <a:xfrm>
            <a:off x="805749" y="5932843"/>
            <a:ext cx="10698480" cy="502920"/>
          </a:xfrm>
          <a:prstGeom prst="roundRect">
            <a:avLst>
              <a:gd name="adj" fmla="val 14545"/>
            </a:avLst>
          </a:prstGeom>
          <a:solidFill>
            <a:srgbClr val="152239"/>
          </a:solidFill>
          <a:ln w="8890">
            <a:solidFill>
              <a:srgbClr val="26C9F4"/>
            </a:solidFill>
            <a:prstDash val="solid"/>
          </a:ln>
        </p:spPr>
        <p:txBody>
          <a:bodyPr/>
          <a:lstStyle/>
          <a:p>
            <a:endParaRPr lang="zh-CN" altLang="en-US">
              <a:solidFill>
                <a:schemeClr val="bg1"/>
              </a:solidFill>
              <a:latin typeface="Times New Roman" panose="02020603050405020304" pitchFamily="18" charset="0"/>
              <a:cs typeface="Times New Roman" panose="02020603050405020304" pitchFamily="18" charset="0"/>
            </a:endParaRPr>
          </a:p>
        </p:txBody>
      </p:sp>
      <p:sp>
        <p:nvSpPr>
          <p:cNvPr id="29" name="Text 27"/>
          <p:cNvSpPr/>
          <p:nvPr/>
        </p:nvSpPr>
        <p:spPr>
          <a:xfrm>
            <a:off x="952053" y="6097435"/>
            <a:ext cx="10378440" cy="182880"/>
          </a:xfrm>
          <a:prstGeom prst="rect">
            <a:avLst/>
          </a:prstGeom>
          <a:noFill/>
        </p:spPr>
        <p:txBody>
          <a:bodyPr wrap="square" lIns="508" tIns="508" rIns="508" bIns="508" rtlCol="0" anchor="t">
            <a:normAutofit lnSpcReduction="10000"/>
          </a:bodyPr>
          <a:lstStyle/>
          <a:p>
            <a:pPr marL="0" indent="0" algn="ctr">
              <a:buNone/>
            </a:pPr>
            <a:r>
              <a:rPr lang="en-US" sz="1200" b="1" dirty="0">
                <a:solidFill>
                  <a:schemeClr val="bg1"/>
                </a:solidFill>
                <a:latin typeface="Times New Roman" panose="02020603050405020304" pitchFamily="18" charset="0"/>
                <a:ea typeface="Aptos" pitchFamily="34" charset="-122"/>
                <a:cs typeface="Times New Roman" panose="02020603050405020304" pitchFamily="18" charset="0"/>
              </a:rPr>
              <a:t>Deployment goal: demonstrate the functional workflow, then collect client feedback on polish, usability, and remaining reliability priorities.</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30" name="Slide Number Placeholder 0"/>
          <p:cNvSpPr>
            <a:spLocks noGrp="1"/>
          </p:cNvSpPr>
          <p:nvPr>
            <p:ph type="sldNum" sz="quarter" idx="4294967295"/>
          </p:nvPr>
        </p:nvSpPr>
        <p:spPr>
          <a:xfrm>
            <a:off x="11567160" y="6574536"/>
            <a:ext cx="800000" cy="300000"/>
          </a:xfrm>
          <a:prstGeom prst="rect">
            <a:avLst/>
          </a:prstGeom>
        </p:spPr>
        <p:txBody>
          <a:bodyPr/>
          <a:lstStyle>
            <a:lvl1pPr>
              <a:defRPr sz="550">
                <a:solidFill>
                  <a:srgbClr val="6F7D91"/>
                </a:solidFill>
                <a:latin typeface="Aptos"/>
                <a:ea typeface="Aptos"/>
                <a:cs typeface="Aptos"/>
              </a:defRPr>
            </a:lvl1pPr>
          </a:lstStyle>
          <a:p>
            <a:pPr algn="l"/>
            <a:fld id="{F7021451-1387-4CA6-816F-3879F97B5CBC}" type="slidenum">
              <a:rPr lang="en-US" b="0">
                <a:solidFill>
                  <a:schemeClr val="bg1"/>
                </a:solidFill>
                <a:latin typeface="Times New Roman" panose="02020603050405020304" pitchFamily="18" charset="0"/>
                <a:cs typeface="Times New Roman" panose="02020603050405020304" pitchFamily="18" charset="0"/>
              </a:rPr>
            </a:fld>
            <a:endParaRPr lang="en-US">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4584" y="684189"/>
            <a:ext cx="7863840" cy="393192"/>
          </a:xfrm>
          <a:prstGeom prst="rect">
            <a:avLst/>
          </a:prstGeom>
          <a:noFill/>
        </p:spPr>
        <p:txBody>
          <a:bodyPr wrap="square" lIns="0" tIns="0" rIns="0" bIns="0" rtlCol="0" anchor="ctr"/>
          <a:lstStyle/>
          <a:p>
            <a:pPr marL="0" indent="0">
              <a:buNone/>
            </a:pPr>
            <a:r>
              <a:rPr lang="en-US" sz="2800" b="1" dirty="0">
                <a:solidFill>
                  <a:schemeClr val="bg1"/>
                </a:solidFill>
                <a:latin typeface="Times New Roman" panose="02020603050405020304" pitchFamily="18" charset="0"/>
                <a:ea typeface="Aptos Display" pitchFamily="34" charset="-122"/>
                <a:cs typeface="Times New Roman" panose="02020603050405020304" pitchFamily="18" charset="0"/>
              </a:rPr>
              <a:t>How the delivered workflow fits together</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Text 1"/>
          <p:cNvSpPr/>
          <p:nvPr/>
        </p:nvSpPr>
        <p:spPr>
          <a:xfrm>
            <a:off x="622872" y="1141389"/>
            <a:ext cx="8869680" cy="201168"/>
          </a:xfrm>
          <a:prstGeom prst="rect">
            <a:avLst/>
          </a:prstGeom>
          <a:noFill/>
        </p:spPr>
        <p:txBody>
          <a:bodyPr wrap="square" lIns="0" tIns="0" rIns="0" bIns="0" rtlCol="0" anchor="ctr"/>
          <a:lstStyle/>
          <a:p>
            <a:pPr marL="0" indent="0">
              <a:buNone/>
            </a:pPr>
            <a:r>
              <a:rPr lang="en-US" sz="1200" dirty="0">
                <a:solidFill>
                  <a:schemeClr val="bg1"/>
                </a:solidFill>
                <a:latin typeface="Times New Roman" panose="02020603050405020304" pitchFamily="18" charset="0"/>
                <a:cs typeface="Times New Roman" panose="02020603050405020304" pitchFamily="18" charset="0"/>
              </a:rPr>
              <a:t>A modular pipeline makes each stage inspectable and reusable.</a:t>
            </a:r>
            <a:endParaRPr lang="en-US" sz="1200" dirty="0">
              <a:solidFill>
                <a:schemeClr val="bg1"/>
              </a:solidFill>
              <a:latin typeface="Times New Roman" panose="02020603050405020304" pitchFamily="18" charset="0"/>
              <a:cs typeface="Times New Roman" panose="02020603050405020304" pitchFamily="18" charset="0"/>
            </a:endParaRPr>
          </a:p>
        </p:txBody>
      </p:sp>
      <p:pic>
        <p:nvPicPr>
          <p:cNvPr id="5" name="Image 0" descr="/mnt/data/old_ppt_extract/ppt/media/image3.png"/>
          <p:cNvPicPr>
            <a:picLocks noChangeAspect="1"/>
          </p:cNvPicPr>
          <p:nvPr/>
        </p:nvPicPr>
        <p:blipFill>
          <a:blip r:embed="rId1"/>
          <a:stretch>
            <a:fillRect/>
          </a:stretch>
        </p:blipFill>
        <p:spPr>
          <a:xfrm>
            <a:off x="6365839" y="1651303"/>
            <a:ext cx="4426182" cy="2202451"/>
          </a:xfrm>
          <a:prstGeom prst="rect">
            <a:avLst/>
          </a:prstGeom>
        </p:spPr>
      </p:pic>
      <p:sp>
        <p:nvSpPr>
          <p:cNvPr id="6" name="Text 3"/>
          <p:cNvSpPr/>
          <p:nvPr/>
        </p:nvSpPr>
        <p:spPr>
          <a:xfrm>
            <a:off x="750348" y="1758880"/>
            <a:ext cx="2148840" cy="475488"/>
          </a:xfrm>
          <a:prstGeom prst="rect">
            <a:avLst/>
          </a:prstGeom>
          <a:solidFill>
            <a:srgbClr val="152239"/>
          </a:solidFill>
          <a:ln w="10160">
            <a:solidFill>
              <a:srgbClr val="25C9F4"/>
            </a:solidFill>
          </a:ln>
        </p:spPr>
        <p:txBody>
          <a:bodyPr wrap="square" lIns="381" tIns="381" rIns="381" bIns="381" rtlCol="0" anchor="ctr"/>
          <a:lstStyle/>
          <a:p>
            <a:pPr marL="0" indent="0" algn="ctr">
              <a:buNone/>
            </a:pPr>
            <a:r>
              <a:rPr lang="en-US" sz="1050" b="1" dirty="0">
                <a:solidFill>
                  <a:schemeClr val="bg1"/>
                </a:solidFill>
                <a:latin typeface="Times New Roman" panose="02020603050405020304" pitchFamily="18" charset="0"/>
                <a:cs typeface="Times New Roman" panose="02020603050405020304" pitchFamily="18" charset="0"/>
              </a:rPr>
              <a:t>Manifest</a:t>
            </a:r>
            <a:endParaRPr lang="en-US" sz="1050" dirty="0">
              <a:solidFill>
                <a:schemeClr val="bg1"/>
              </a:solidFill>
              <a:latin typeface="Times New Roman" panose="02020603050405020304" pitchFamily="18" charset="0"/>
              <a:cs typeface="Times New Roman" panose="02020603050405020304" pitchFamily="18" charset="0"/>
            </a:endParaRPr>
          </a:p>
          <a:p>
            <a:pPr marL="0" indent="0" algn="ctr">
              <a:buNone/>
            </a:pPr>
            <a:r>
              <a:rPr lang="en-US" sz="1050" b="1" dirty="0">
                <a:solidFill>
                  <a:schemeClr val="bg1"/>
                </a:solidFill>
                <a:latin typeface="Times New Roman" panose="02020603050405020304" pitchFamily="18" charset="0"/>
                <a:cs typeface="Times New Roman" panose="02020603050405020304" pitchFamily="18" charset="0"/>
              </a:rPr>
              <a:t>patient pair table</a:t>
            </a:r>
            <a:endParaRPr lang="en-US" sz="1050" dirty="0">
              <a:solidFill>
                <a:schemeClr val="bg1"/>
              </a:solidFill>
              <a:latin typeface="Times New Roman" panose="02020603050405020304" pitchFamily="18" charset="0"/>
              <a:cs typeface="Times New Roman" panose="02020603050405020304" pitchFamily="18" charset="0"/>
            </a:endParaRPr>
          </a:p>
        </p:txBody>
      </p:sp>
      <p:sp>
        <p:nvSpPr>
          <p:cNvPr id="7" name="Shape 4"/>
          <p:cNvSpPr/>
          <p:nvPr/>
        </p:nvSpPr>
        <p:spPr>
          <a:xfrm>
            <a:off x="2931462" y="1996624"/>
            <a:ext cx="685800" cy="0"/>
          </a:xfrm>
          <a:prstGeom prst="line">
            <a:avLst/>
          </a:prstGeom>
          <a:noFill/>
          <a:ln w="16510">
            <a:solidFill>
              <a:srgbClr val="25C9F4"/>
            </a:solidFill>
            <a:prstDash val="solid"/>
            <a:headEnd type="none"/>
            <a:tailEnd type="triangle"/>
          </a:ln>
        </p:spPr>
        <p:txBody>
          <a:bodyPr/>
          <a:lstStyle/>
          <a:p>
            <a:endParaRPr lang="zh-CN" altLang="en-US" sz="2800">
              <a:solidFill>
                <a:schemeClr val="bg1"/>
              </a:solidFill>
              <a:latin typeface="Times New Roman" panose="02020603050405020304" pitchFamily="18" charset="0"/>
              <a:cs typeface="Times New Roman" panose="02020603050405020304" pitchFamily="18" charset="0"/>
            </a:endParaRPr>
          </a:p>
        </p:txBody>
      </p:sp>
      <p:sp>
        <p:nvSpPr>
          <p:cNvPr id="8" name="Text 5"/>
          <p:cNvSpPr/>
          <p:nvPr/>
        </p:nvSpPr>
        <p:spPr>
          <a:xfrm>
            <a:off x="3649536" y="1758880"/>
            <a:ext cx="2148840" cy="475488"/>
          </a:xfrm>
          <a:prstGeom prst="rect">
            <a:avLst/>
          </a:prstGeom>
          <a:solidFill>
            <a:srgbClr val="152239"/>
          </a:solidFill>
          <a:ln w="10160">
            <a:solidFill>
              <a:srgbClr val="25C9F4"/>
            </a:solidFill>
          </a:ln>
        </p:spPr>
        <p:txBody>
          <a:bodyPr wrap="square" lIns="381" tIns="381" rIns="381" bIns="381" rtlCol="0" anchor="ctr"/>
          <a:lstStyle/>
          <a:p>
            <a:pPr marL="0" indent="0" algn="ctr">
              <a:buNone/>
            </a:pPr>
            <a:r>
              <a:rPr lang="en-US" sz="1050" b="1" dirty="0">
                <a:solidFill>
                  <a:schemeClr val="bg1"/>
                </a:solidFill>
                <a:latin typeface="Times New Roman" panose="02020603050405020304" pitchFamily="18" charset="0"/>
                <a:cs typeface="Times New Roman" panose="02020603050405020304" pitchFamily="18" charset="0"/>
              </a:rPr>
              <a:t>Loader</a:t>
            </a:r>
            <a:endParaRPr lang="en-US" sz="1050" dirty="0">
              <a:solidFill>
                <a:schemeClr val="bg1"/>
              </a:solidFill>
              <a:latin typeface="Times New Roman" panose="02020603050405020304" pitchFamily="18" charset="0"/>
              <a:cs typeface="Times New Roman" panose="02020603050405020304" pitchFamily="18" charset="0"/>
            </a:endParaRPr>
          </a:p>
          <a:p>
            <a:pPr marL="0" indent="0" algn="ctr">
              <a:buNone/>
            </a:pPr>
            <a:r>
              <a:rPr lang="en-US" sz="1050" b="1" dirty="0">
                <a:solidFill>
                  <a:schemeClr val="bg1"/>
                </a:solidFill>
                <a:latin typeface="Times New Roman" panose="02020603050405020304" pitchFamily="18" charset="0"/>
                <a:cs typeface="Times New Roman" panose="02020603050405020304" pitchFamily="18" charset="0"/>
              </a:rPr>
              <a:t>NIfTI + metadata</a:t>
            </a:r>
            <a:endParaRPr lang="en-US" sz="1050" dirty="0">
              <a:solidFill>
                <a:schemeClr val="bg1"/>
              </a:solidFill>
              <a:latin typeface="Times New Roman" panose="02020603050405020304" pitchFamily="18" charset="0"/>
              <a:cs typeface="Times New Roman" panose="02020603050405020304" pitchFamily="18" charset="0"/>
            </a:endParaRPr>
          </a:p>
        </p:txBody>
      </p:sp>
      <p:sp>
        <p:nvSpPr>
          <p:cNvPr id="9" name="Shape 6"/>
          <p:cNvSpPr/>
          <p:nvPr/>
        </p:nvSpPr>
        <p:spPr>
          <a:xfrm>
            <a:off x="4723956" y="2298916"/>
            <a:ext cx="0" cy="438912"/>
          </a:xfrm>
          <a:prstGeom prst="line">
            <a:avLst/>
          </a:prstGeom>
          <a:noFill/>
          <a:ln w="16510">
            <a:solidFill>
              <a:srgbClr val="26C9F4"/>
            </a:solidFill>
            <a:prstDash val="solid"/>
            <a:headEnd type="none"/>
            <a:tailEnd type="triangle"/>
          </a:ln>
        </p:spPr>
        <p:txBody>
          <a:bodyPr/>
          <a:lstStyle/>
          <a:p>
            <a:endParaRPr lang="zh-CN" altLang="en-US" sz="2800">
              <a:solidFill>
                <a:schemeClr val="bg1"/>
              </a:solidFill>
              <a:latin typeface="Times New Roman" panose="02020603050405020304" pitchFamily="18" charset="0"/>
              <a:cs typeface="Times New Roman" panose="02020603050405020304" pitchFamily="18" charset="0"/>
            </a:endParaRPr>
          </a:p>
        </p:txBody>
      </p:sp>
      <p:sp>
        <p:nvSpPr>
          <p:cNvPr id="10" name="Text 7"/>
          <p:cNvSpPr/>
          <p:nvPr/>
        </p:nvSpPr>
        <p:spPr>
          <a:xfrm>
            <a:off x="750348" y="2791618"/>
            <a:ext cx="2148840" cy="475488"/>
          </a:xfrm>
          <a:prstGeom prst="rect">
            <a:avLst/>
          </a:prstGeom>
          <a:solidFill>
            <a:srgbClr val="152239"/>
          </a:solidFill>
          <a:ln w="10160">
            <a:solidFill>
              <a:srgbClr val="26C9F4"/>
            </a:solidFill>
          </a:ln>
        </p:spPr>
        <p:txBody>
          <a:bodyPr wrap="square" lIns="381" tIns="381" rIns="381" bIns="381" rtlCol="0" anchor="ctr"/>
          <a:lstStyle/>
          <a:p>
            <a:pPr marL="0" indent="0" algn="ctr">
              <a:buNone/>
            </a:pPr>
            <a:r>
              <a:rPr lang="en-US" sz="1050" b="1" dirty="0">
                <a:solidFill>
                  <a:schemeClr val="bg1"/>
                </a:solidFill>
                <a:latin typeface="Times New Roman" panose="02020603050405020304" pitchFamily="18" charset="0"/>
                <a:cs typeface="Times New Roman" panose="02020603050405020304" pitchFamily="18" charset="0"/>
              </a:rPr>
              <a:t>Components</a:t>
            </a:r>
            <a:endParaRPr lang="en-US" sz="1050" dirty="0">
              <a:solidFill>
                <a:schemeClr val="bg1"/>
              </a:solidFill>
              <a:latin typeface="Times New Roman" panose="02020603050405020304" pitchFamily="18" charset="0"/>
              <a:cs typeface="Times New Roman" panose="02020603050405020304" pitchFamily="18" charset="0"/>
            </a:endParaRPr>
          </a:p>
          <a:p>
            <a:pPr marL="0" indent="0" algn="ctr">
              <a:buNone/>
            </a:pPr>
            <a:r>
              <a:rPr lang="en-US" sz="1050" b="1" dirty="0">
                <a:solidFill>
                  <a:schemeClr val="bg1"/>
                </a:solidFill>
                <a:latin typeface="Times New Roman" panose="02020603050405020304" pitchFamily="18" charset="0"/>
                <a:cs typeface="Times New Roman" panose="02020603050405020304" pitchFamily="18" charset="0"/>
              </a:rPr>
              <a:t>individual lesions</a:t>
            </a:r>
            <a:endParaRPr lang="en-US" sz="1050" dirty="0">
              <a:solidFill>
                <a:schemeClr val="bg1"/>
              </a:solidFill>
              <a:latin typeface="Times New Roman" panose="02020603050405020304" pitchFamily="18" charset="0"/>
              <a:cs typeface="Times New Roman" panose="02020603050405020304" pitchFamily="18" charset="0"/>
            </a:endParaRPr>
          </a:p>
        </p:txBody>
      </p:sp>
      <p:sp>
        <p:nvSpPr>
          <p:cNvPr id="11" name="Shape 8"/>
          <p:cNvSpPr/>
          <p:nvPr/>
        </p:nvSpPr>
        <p:spPr>
          <a:xfrm>
            <a:off x="2931462" y="3029362"/>
            <a:ext cx="685800" cy="0"/>
          </a:xfrm>
          <a:prstGeom prst="line">
            <a:avLst/>
          </a:prstGeom>
          <a:noFill/>
          <a:ln w="16510">
            <a:solidFill>
              <a:srgbClr val="25C9F4"/>
            </a:solidFill>
            <a:prstDash val="solid"/>
            <a:headEnd type="none"/>
            <a:tailEnd type="triangle"/>
          </a:ln>
        </p:spPr>
        <p:txBody>
          <a:bodyPr/>
          <a:lstStyle/>
          <a:p>
            <a:endParaRPr lang="zh-CN" altLang="en-US" sz="2800">
              <a:solidFill>
                <a:schemeClr val="bg1"/>
              </a:solidFill>
              <a:latin typeface="Times New Roman" panose="02020603050405020304" pitchFamily="18" charset="0"/>
              <a:cs typeface="Times New Roman" panose="02020603050405020304" pitchFamily="18" charset="0"/>
            </a:endParaRPr>
          </a:p>
        </p:txBody>
      </p:sp>
      <p:sp>
        <p:nvSpPr>
          <p:cNvPr id="12" name="Text 9"/>
          <p:cNvSpPr/>
          <p:nvPr/>
        </p:nvSpPr>
        <p:spPr>
          <a:xfrm>
            <a:off x="3649536" y="2791618"/>
            <a:ext cx="2148840" cy="475488"/>
          </a:xfrm>
          <a:prstGeom prst="rect">
            <a:avLst/>
          </a:prstGeom>
          <a:solidFill>
            <a:srgbClr val="152239"/>
          </a:solidFill>
          <a:ln w="10160">
            <a:solidFill>
              <a:srgbClr val="25C9F4"/>
            </a:solidFill>
          </a:ln>
        </p:spPr>
        <p:txBody>
          <a:bodyPr wrap="square" lIns="381" tIns="381" rIns="381" bIns="381" rtlCol="0" anchor="ctr"/>
          <a:lstStyle/>
          <a:p>
            <a:pPr marL="0" indent="0" algn="ctr">
              <a:buNone/>
            </a:pPr>
            <a:r>
              <a:rPr lang="en-US" sz="1050" b="1" dirty="0">
                <a:solidFill>
                  <a:schemeClr val="bg1"/>
                </a:solidFill>
                <a:latin typeface="Times New Roman" panose="02020603050405020304" pitchFamily="18" charset="0"/>
                <a:cs typeface="Times New Roman" panose="02020603050405020304" pitchFamily="18" charset="0"/>
              </a:rPr>
              <a:t>Rigid registration</a:t>
            </a:r>
            <a:endParaRPr lang="en-US" sz="1050" dirty="0">
              <a:solidFill>
                <a:schemeClr val="bg1"/>
              </a:solidFill>
              <a:latin typeface="Times New Roman" panose="02020603050405020304" pitchFamily="18" charset="0"/>
              <a:cs typeface="Times New Roman" panose="02020603050405020304" pitchFamily="18" charset="0"/>
            </a:endParaRPr>
          </a:p>
          <a:p>
            <a:pPr marL="0" indent="0" algn="ctr">
              <a:buNone/>
            </a:pPr>
            <a:r>
              <a:rPr lang="en-US" sz="1050" b="1" dirty="0">
                <a:solidFill>
                  <a:schemeClr val="bg1"/>
                </a:solidFill>
                <a:latin typeface="Times New Roman" panose="02020603050405020304" pitchFamily="18" charset="0"/>
                <a:cs typeface="Times New Roman" panose="02020603050405020304" pitchFamily="18" charset="0"/>
              </a:rPr>
              <a:t>BL → FU space</a:t>
            </a:r>
            <a:endParaRPr lang="en-US" sz="1050" dirty="0">
              <a:solidFill>
                <a:schemeClr val="bg1"/>
              </a:solidFill>
              <a:latin typeface="Times New Roman" panose="02020603050405020304" pitchFamily="18" charset="0"/>
              <a:cs typeface="Times New Roman" panose="02020603050405020304" pitchFamily="18" charset="0"/>
            </a:endParaRPr>
          </a:p>
        </p:txBody>
      </p:sp>
      <p:sp>
        <p:nvSpPr>
          <p:cNvPr id="13" name="Shape 10"/>
          <p:cNvSpPr/>
          <p:nvPr/>
        </p:nvSpPr>
        <p:spPr>
          <a:xfrm>
            <a:off x="4723956" y="3331654"/>
            <a:ext cx="0" cy="438912"/>
          </a:xfrm>
          <a:prstGeom prst="line">
            <a:avLst/>
          </a:prstGeom>
          <a:noFill/>
          <a:ln w="16510">
            <a:solidFill>
              <a:srgbClr val="26C9F4"/>
            </a:solidFill>
            <a:prstDash val="solid"/>
            <a:headEnd type="none"/>
            <a:tailEnd type="triangle"/>
          </a:ln>
        </p:spPr>
        <p:txBody>
          <a:bodyPr/>
          <a:lstStyle/>
          <a:p>
            <a:endParaRPr lang="zh-CN" altLang="en-US" sz="2800">
              <a:solidFill>
                <a:schemeClr val="bg1"/>
              </a:solidFill>
              <a:latin typeface="Times New Roman" panose="02020603050405020304" pitchFamily="18" charset="0"/>
              <a:cs typeface="Times New Roman" panose="02020603050405020304" pitchFamily="18" charset="0"/>
            </a:endParaRPr>
          </a:p>
        </p:txBody>
      </p:sp>
      <p:sp>
        <p:nvSpPr>
          <p:cNvPr id="14" name="Text 11"/>
          <p:cNvSpPr/>
          <p:nvPr/>
        </p:nvSpPr>
        <p:spPr>
          <a:xfrm>
            <a:off x="750348" y="3824356"/>
            <a:ext cx="2148840" cy="475488"/>
          </a:xfrm>
          <a:prstGeom prst="rect">
            <a:avLst/>
          </a:prstGeom>
          <a:solidFill>
            <a:srgbClr val="152239"/>
          </a:solidFill>
          <a:ln w="10160">
            <a:solidFill>
              <a:srgbClr val="26C9F4"/>
            </a:solidFill>
          </a:ln>
        </p:spPr>
        <p:txBody>
          <a:bodyPr wrap="square" lIns="381" tIns="381" rIns="381" bIns="381" rtlCol="0" anchor="ctr"/>
          <a:lstStyle/>
          <a:p>
            <a:pPr marL="0" indent="0" algn="ctr">
              <a:buNone/>
            </a:pPr>
            <a:r>
              <a:rPr lang="en-US" sz="1050" b="1" dirty="0">
                <a:solidFill>
                  <a:schemeClr val="bg1"/>
                </a:solidFill>
                <a:latin typeface="Times New Roman" panose="02020603050405020304" pitchFamily="18" charset="0"/>
                <a:cs typeface="Times New Roman" panose="02020603050405020304" pitchFamily="18" charset="0"/>
              </a:rPr>
              <a:t>Aligned features</a:t>
            </a:r>
            <a:endParaRPr lang="en-US" sz="1050" dirty="0">
              <a:solidFill>
                <a:schemeClr val="bg1"/>
              </a:solidFill>
              <a:latin typeface="Times New Roman" panose="02020603050405020304" pitchFamily="18" charset="0"/>
              <a:cs typeface="Times New Roman" panose="02020603050405020304" pitchFamily="18" charset="0"/>
            </a:endParaRPr>
          </a:p>
          <a:p>
            <a:pPr marL="0" indent="0" algn="ctr">
              <a:buNone/>
            </a:pPr>
            <a:r>
              <a:rPr lang="en-US" sz="1050" b="1" dirty="0">
                <a:solidFill>
                  <a:schemeClr val="bg1"/>
                </a:solidFill>
                <a:latin typeface="Times New Roman" panose="02020603050405020304" pitchFamily="18" charset="0"/>
                <a:cs typeface="Times New Roman" panose="02020603050405020304" pitchFamily="18" charset="0"/>
              </a:rPr>
              <a:t>centroid + volume</a:t>
            </a:r>
            <a:endParaRPr lang="en-US" sz="1050" dirty="0">
              <a:solidFill>
                <a:schemeClr val="bg1"/>
              </a:solidFill>
              <a:latin typeface="Times New Roman" panose="02020603050405020304" pitchFamily="18" charset="0"/>
              <a:cs typeface="Times New Roman" panose="02020603050405020304" pitchFamily="18" charset="0"/>
            </a:endParaRPr>
          </a:p>
        </p:txBody>
      </p:sp>
      <p:sp>
        <p:nvSpPr>
          <p:cNvPr id="15" name="Shape 12"/>
          <p:cNvSpPr/>
          <p:nvPr/>
        </p:nvSpPr>
        <p:spPr>
          <a:xfrm>
            <a:off x="2931462" y="4062100"/>
            <a:ext cx="685800" cy="0"/>
          </a:xfrm>
          <a:prstGeom prst="line">
            <a:avLst/>
          </a:prstGeom>
          <a:noFill/>
          <a:ln w="16510">
            <a:solidFill>
              <a:srgbClr val="25C9F4"/>
            </a:solidFill>
            <a:prstDash val="solid"/>
            <a:headEnd type="none"/>
            <a:tailEnd type="triangle"/>
          </a:ln>
        </p:spPr>
        <p:txBody>
          <a:bodyPr/>
          <a:lstStyle/>
          <a:p>
            <a:endParaRPr lang="zh-CN" altLang="en-US" sz="2800">
              <a:solidFill>
                <a:schemeClr val="bg1"/>
              </a:solidFill>
              <a:latin typeface="Times New Roman" panose="02020603050405020304" pitchFamily="18" charset="0"/>
              <a:cs typeface="Times New Roman" panose="02020603050405020304" pitchFamily="18" charset="0"/>
            </a:endParaRPr>
          </a:p>
        </p:txBody>
      </p:sp>
      <p:sp>
        <p:nvSpPr>
          <p:cNvPr id="16" name="Text 13"/>
          <p:cNvSpPr/>
          <p:nvPr/>
        </p:nvSpPr>
        <p:spPr>
          <a:xfrm>
            <a:off x="3649536" y="3824356"/>
            <a:ext cx="2148840" cy="475488"/>
          </a:xfrm>
          <a:prstGeom prst="rect">
            <a:avLst/>
          </a:prstGeom>
          <a:solidFill>
            <a:srgbClr val="152239"/>
          </a:solidFill>
          <a:ln w="10160">
            <a:solidFill>
              <a:srgbClr val="26C9F4"/>
            </a:solidFill>
          </a:ln>
        </p:spPr>
        <p:txBody>
          <a:bodyPr wrap="square" lIns="381" tIns="381" rIns="381" bIns="381" rtlCol="0" anchor="ctr"/>
          <a:lstStyle/>
          <a:p>
            <a:pPr marL="0" indent="0" algn="ctr">
              <a:buNone/>
            </a:pPr>
            <a:r>
              <a:rPr lang="en-US" sz="1050" b="1" dirty="0">
                <a:solidFill>
                  <a:schemeClr val="bg1"/>
                </a:solidFill>
                <a:latin typeface="Times New Roman" panose="02020603050405020304" pitchFamily="18" charset="0"/>
                <a:cs typeface="Times New Roman" panose="02020603050405020304" pitchFamily="18" charset="0"/>
              </a:rPr>
              <a:t>Cost matrix</a:t>
            </a:r>
            <a:endParaRPr lang="en-US" sz="1050" dirty="0">
              <a:solidFill>
                <a:schemeClr val="bg1"/>
              </a:solidFill>
              <a:latin typeface="Times New Roman" panose="02020603050405020304" pitchFamily="18" charset="0"/>
              <a:cs typeface="Times New Roman" panose="02020603050405020304" pitchFamily="18" charset="0"/>
            </a:endParaRPr>
          </a:p>
          <a:p>
            <a:pPr marL="0" indent="0" algn="ctr">
              <a:buNone/>
            </a:pPr>
            <a:r>
              <a:rPr lang="en-US" sz="1050" b="1" dirty="0">
                <a:solidFill>
                  <a:schemeClr val="bg1"/>
                </a:solidFill>
                <a:latin typeface="Times New Roman" panose="02020603050405020304" pitchFamily="18" charset="0"/>
                <a:cs typeface="Times New Roman" panose="02020603050405020304" pitchFamily="18" charset="0"/>
              </a:rPr>
              <a:t>candidate pairs</a:t>
            </a:r>
            <a:endParaRPr lang="en-US" sz="1050" dirty="0">
              <a:solidFill>
                <a:schemeClr val="bg1"/>
              </a:solidFill>
              <a:latin typeface="Times New Roman" panose="02020603050405020304" pitchFamily="18" charset="0"/>
              <a:cs typeface="Times New Roman" panose="02020603050405020304" pitchFamily="18" charset="0"/>
            </a:endParaRPr>
          </a:p>
        </p:txBody>
      </p:sp>
      <p:sp>
        <p:nvSpPr>
          <p:cNvPr id="17" name="Shape 14"/>
          <p:cNvSpPr/>
          <p:nvPr/>
        </p:nvSpPr>
        <p:spPr>
          <a:xfrm>
            <a:off x="4723956" y="4364392"/>
            <a:ext cx="0" cy="438912"/>
          </a:xfrm>
          <a:prstGeom prst="line">
            <a:avLst/>
          </a:prstGeom>
          <a:noFill/>
          <a:ln w="16510">
            <a:solidFill>
              <a:srgbClr val="26C9F4"/>
            </a:solidFill>
            <a:prstDash val="solid"/>
            <a:headEnd type="none"/>
            <a:tailEnd type="triangle"/>
          </a:ln>
        </p:spPr>
        <p:txBody>
          <a:bodyPr/>
          <a:lstStyle/>
          <a:p>
            <a:endParaRPr lang="zh-CN" altLang="en-US" sz="2800">
              <a:solidFill>
                <a:schemeClr val="bg1"/>
              </a:solidFill>
              <a:latin typeface="Times New Roman" panose="02020603050405020304" pitchFamily="18" charset="0"/>
              <a:cs typeface="Times New Roman" panose="02020603050405020304" pitchFamily="18" charset="0"/>
            </a:endParaRPr>
          </a:p>
        </p:txBody>
      </p:sp>
      <p:sp>
        <p:nvSpPr>
          <p:cNvPr id="18" name="Text 15"/>
          <p:cNvSpPr/>
          <p:nvPr/>
        </p:nvSpPr>
        <p:spPr>
          <a:xfrm>
            <a:off x="750348" y="4857094"/>
            <a:ext cx="2148840" cy="475488"/>
          </a:xfrm>
          <a:prstGeom prst="rect">
            <a:avLst/>
          </a:prstGeom>
          <a:solidFill>
            <a:srgbClr val="152239"/>
          </a:solidFill>
          <a:ln w="10160">
            <a:solidFill>
              <a:srgbClr val="26C9F4"/>
            </a:solidFill>
          </a:ln>
        </p:spPr>
        <p:txBody>
          <a:bodyPr wrap="square" lIns="381" tIns="381" rIns="381" bIns="381" rtlCol="0" anchor="ctr"/>
          <a:lstStyle/>
          <a:p>
            <a:pPr marL="0" indent="0" algn="ctr">
              <a:buNone/>
            </a:pPr>
            <a:r>
              <a:rPr lang="en-US" sz="1050" b="1" dirty="0">
                <a:solidFill>
                  <a:schemeClr val="bg1"/>
                </a:solidFill>
                <a:latin typeface="Times New Roman" panose="02020603050405020304" pitchFamily="18" charset="0"/>
                <a:cs typeface="Times New Roman" panose="02020603050405020304" pitchFamily="18" charset="0"/>
              </a:rPr>
              <a:t>Min-cost flow</a:t>
            </a:r>
            <a:endParaRPr lang="en-US" sz="1050" dirty="0">
              <a:solidFill>
                <a:schemeClr val="bg1"/>
              </a:solidFill>
              <a:latin typeface="Times New Roman" panose="02020603050405020304" pitchFamily="18" charset="0"/>
              <a:cs typeface="Times New Roman" panose="02020603050405020304" pitchFamily="18" charset="0"/>
            </a:endParaRPr>
          </a:p>
          <a:p>
            <a:pPr marL="0" indent="0" algn="ctr">
              <a:buNone/>
            </a:pPr>
            <a:r>
              <a:rPr lang="en-US" sz="1050" b="1" dirty="0">
                <a:solidFill>
                  <a:schemeClr val="bg1"/>
                </a:solidFill>
                <a:latin typeface="Times New Roman" panose="02020603050405020304" pitchFamily="18" charset="0"/>
                <a:cs typeface="Times New Roman" panose="02020603050405020304" pitchFamily="18" charset="0"/>
              </a:rPr>
              <a:t>global matching</a:t>
            </a:r>
            <a:endParaRPr lang="en-US" sz="1050" dirty="0">
              <a:solidFill>
                <a:schemeClr val="bg1"/>
              </a:solidFill>
              <a:latin typeface="Times New Roman" panose="02020603050405020304" pitchFamily="18" charset="0"/>
              <a:cs typeface="Times New Roman" panose="02020603050405020304" pitchFamily="18" charset="0"/>
            </a:endParaRPr>
          </a:p>
        </p:txBody>
      </p:sp>
      <p:sp>
        <p:nvSpPr>
          <p:cNvPr id="19" name="Text 16"/>
          <p:cNvSpPr/>
          <p:nvPr/>
        </p:nvSpPr>
        <p:spPr>
          <a:xfrm>
            <a:off x="3649536" y="4857094"/>
            <a:ext cx="2148840" cy="475488"/>
          </a:xfrm>
          <a:prstGeom prst="rect">
            <a:avLst/>
          </a:prstGeom>
          <a:solidFill>
            <a:srgbClr val="152239"/>
          </a:solidFill>
          <a:ln w="10160">
            <a:solidFill>
              <a:srgbClr val="26C9F4"/>
            </a:solidFill>
          </a:ln>
        </p:spPr>
        <p:txBody>
          <a:bodyPr wrap="square" lIns="381" tIns="381" rIns="381" bIns="381" rtlCol="0" anchor="ctr"/>
          <a:lstStyle/>
          <a:p>
            <a:pPr marL="0" indent="0" algn="ctr">
              <a:buNone/>
            </a:pPr>
            <a:r>
              <a:rPr lang="en-US" sz="1050" b="1" dirty="0">
                <a:solidFill>
                  <a:schemeClr val="bg1"/>
                </a:solidFill>
                <a:latin typeface="Times New Roman" panose="02020603050405020304" pitchFamily="18" charset="0"/>
                <a:cs typeface="Times New Roman" panose="02020603050405020304" pitchFamily="18" charset="0"/>
              </a:rPr>
              <a:t>Evaluation + UI</a:t>
            </a:r>
            <a:endParaRPr lang="en-US" sz="1050" dirty="0">
              <a:solidFill>
                <a:schemeClr val="bg1"/>
              </a:solidFill>
              <a:latin typeface="Times New Roman" panose="02020603050405020304" pitchFamily="18" charset="0"/>
              <a:cs typeface="Times New Roman" panose="02020603050405020304" pitchFamily="18" charset="0"/>
            </a:endParaRPr>
          </a:p>
          <a:p>
            <a:pPr marL="0" indent="0" algn="ctr">
              <a:buNone/>
            </a:pPr>
            <a:r>
              <a:rPr lang="en-US" sz="1050" b="1" dirty="0">
                <a:solidFill>
                  <a:schemeClr val="bg1"/>
                </a:solidFill>
                <a:latin typeface="Times New Roman" panose="02020603050405020304" pitchFamily="18" charset="0"/>
                <a:cs typeface="Times New Roman" panose="02020603050405020304" pitchFamily="18" charset="0"/>
              </a:rPr>
              <a:t>review + summary</a:t>
            </a:r>
            <a:endParaRPr lang="en-US" sz="1050" dirty="0">
              <a:solidFill>
                <a:schemeClr val="bg1"/>
              </a:solidFill>
              <a:latin typeface="Times New Roman" panose="02020603050405020304" pitchFamily="18" charset="0"/>
              <a:cs typeface="Times New Roman" panose="02020603050405020304" pitchFamily="18" charset="0"/>
            </a:endParaRPr>
          </a:p>
        </p:txBody>
      </p:sp>
      <p:sp>
        <p:nvSpPr>
          <p:cNvPr id="20" name="Shape 17"/>
          <p:cNvSpPr/>
          <p:nvPr/>
        </p:nvSpPr>
        <p:spPr>
          <a:xfrm>
            <a:off x="6551412" y="3840474"/>
            <a:ext cx="5303520" cy="1600200"/>
          </a:xfrm>
          <a:prstGeom prst="roundRect">
            <a:avLst>
              <a:gd name="adj" fmla="val 4571"/>
            </a:avLst>
          </a:prstGeom>
          <a:solidFill>
            <a:srgbClr val="0F1727"/>
          </a:solidFill>
          <a:ln w="8890">
            <a:solidFill>
              <a:srgbClr val="25C9F4"/>
            </a:solidFill>
            <a:prstDash val="solid"/>
          </a:ln>
        </p:spPr>
        <p:txBody>
          <a:bodyPr/>
          <a:lstStyle/>
          <a:p>
            <a:endParaRPr lang="zh-CN" altLang="en-US" sz="2800">
              <a:solidFill>
                <a:schemeClr val="bg1"/>
              </a:solidFill>
              <a:latin typeface="Times New Roman" panose="02020603050405020304" pitchFamily="18" charset="0"/>
              <a:cs typeface="Times New Roman" panose="02020603050405020304" pitchFamily="18" charset="0"/>
            </a:endParaRPr>
          </a:p>
        </p:txBody>
      </p:sp>
      <p:sp>
        <p:nvSpPr>
          <p:cNvPr id="21" name="Text 18"/>
          <p:cNvSpPr/>
          <p:nvPr/>
        </p:nvSpPr>
        <p:spPr>
          <a:xfrm>
            <a:off x="6825732" y="3982267"/>
            <a:ext cx="2743200" cy="274320"/>
          </a:xfrm>
          <a:prstGeom prst="rect">
            <a:avLst/>
          </a:prstGeom>
          <a:noFill/>
        </p:spPr>
        <p:txBody>
          <a:bodyPr wrap="square" lIns="508" tIns="508" rIns="508" bIns="508" rtlCol="0" anchor="t">
            <a:noAutofit/>
          </a:bodyPr>
          <a:lstStyle/>
          <a:p>
            <a:pPr marL="0" indent="0" algn="l">
              <a:buNone/>
            </a:pPr>
            <a:r>
              <a:rPr lang="en-US" sz="2000" b="1" dirty="0">
                <a:solidFill>
                  <a:schemeClr val="bg1"/>
                </a:solidFill>
                <a:latin typeface="Times New Roman" panose="02020603050405020304" pitchFamily="18" charset="0"/>
                <a:ea typeface="Aptos" pitchFamily="34" charset="-122"/>
                <a:cs typeface="Times New Roman" panose="02020603050405020304" pitchFamily="18" charset="0"/>
              </a:rPr>
              <a:t>What the client gets</a:t>
            </a:r>
            <a:endParaRPr lang="en-US" sz="2000" dirty="0">
              <a:solidFill>
                <a:schemeClr val="bg1"/>
              </a:solidFill>
              <a:latin typeface="Times New Roman" panose="02020603050405020304" pitchFamily="18" charset="0"/>
              <a:cs typeface="Times New Roman" panose="02020603050405020304" pitchFamily="18" charset="0"/>
            </a:endParaRPr>
          </a:p>
        </p:txBody>
      </p:sp>
      <p:sp>
        <p:nvSpPr>
          <p:cNvPr id="22" name="Text 19"/>
          <p:cNvSpPr/>
          <p:nvPr/>
        </p:nvSpPr>
        <p:spPr>
          <a:xfrm>
            <a:off x="6871452" y="3987252"/>
            <a:ext cx="4389120" cy="1600199"/>
          </a:xfrm>
          <a:prstGeom prst="rect">
            <a:avLst/>
          </a:prstGeom>
          <a:noFill/>
        </p:spPr>
        <p:txBody>
          <a:bodyPr wrap="square" lIns="635" tIns="635" rIns="635" bIns="635" rtlCol="0" anchor="ctr">
            <a:normAutofit/>
          </a:bodyPr>
          <a:lstStyle/>
          <a:p>
            <a:pPr>
              <a:lnSpc>
                <a:spcPct val="200000"/>
              </a:lnSpc>
            </a:pPr>
            <a:r>
              <a:rPr lang="en-US" sz="1100" dirty="0">
                <a:solidFill>
                  <a:schemeClr val="bg1"/>
                </a:solidFill>
                <a:latin typeface="Times New Roman" panose="02020603050405020304" pitchFamily="18" charset="0"/>
                <a:cs typeface="Times New Roman" panose="02020603050405020304" pitchFamily="18" charset="0"/>
              </a:rPr>
              <a:t>repeatable demo launcher</a:t>
            </a:r>
            <a:endParaRPr lang="en-US" sz="1100"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sz="1100" dirty="0">
                <a:solidFill>
                  <a:schemeClr val="bg1"/>
                </a:solidFill>
                <a:latin typeface="Times New Roman" panose="02020603050405020304" pitchFamily="18" charset="0"/>
                <a:cs typeface="Times New Roman" panose="02020603050405020304" pitchFamily="18" charset="0"/>
              </a:rPr>
              <a:t>intermediate CSVs for audit/debugging</a:t>
            </a:r>
            <a:endParaRPr lang="en-US" sz="1100"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sz="1100" dirty="0">
                <a:solidFill>
                  <a:schemeClr val="bg1"/>
                </a:solidFill>
                <a:latin typeface="Times New Roman" panose="02020603050405020304" pitchFamily="18" charset="0"/>
                <a:cs typeface="Times New Roman" panose="02020603050405020304" pitchFamily="18" charset="0"/>
              </a:rPr>
              <a:t>dashboard separated from processing modules</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25" name="Slide Number Placeholder 0"/>
          <p:cNvSpPr>
            <a:spLocks noGrp="1"/>
          </p:cNvSpPr>
          <p:nvPr>
            <p:ph type="sldNum" sz="quarter" idx="4294967295"/>
          </p:nvPr>
        </p:nvSpPr>
        <p:spPr>
          <a:xfrm>
            <a:off x="11567160" y="6574536"/>
            <a:ext cx="800000" cy="300000"/>
          </a:xfrm>
          <a:prstGeom prst="rect">
            <a:avLst/>
          </a:prstGeom>
        </p:spPr>
        <p:txBody>
          <a:bodyPr/>
          <a:lstStyle>
            <a:lvl1pPr>
              <a:defRPr sz="550">
                <a:solidFill>
                  <a:srgbClr val="6F7D91"/>
                </a:solidFill>
                <a:latin typeface="Aptos"/>
                <a:ea typeface="Aptos"/>
                <a:cs typeface="Aptos"/>
              </a:defRPr>
            </a:lvl1pPr>
          </a:lstStyle>
          <a:p>
            <a:pPr algn="l"/>
            <a:fld id="{F7021451-1387-4CA6-816F-3879F97B5CBC}" type="slidenum">
              <a:rPr lang="en-US" b="0">
                <a:solidFill>
                  <a:schemeClr val="bg1"/>
                </a:solidFill>
                <a:latin typeface="Times New Roman" panose="02020603050405020304" pitchFamily="18" charset="0"/>
                <a:cs typeface="Times New Roman" panose="02020603050405020304" pitchFamily="18" charset="0"/>
              </a:rPr>
            </a:fld>
            <a:endParaRPr lang="en-US">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15341" y="684189"/>
            <a:ext cx="7863840" cy="393192"/>
          </a:xfrm>
          <a:prstGeom prst="rect">
            <a:avLst/>
          </a:prstGeom>
          <a:noFill/>
        </p:spPr>
        <p:txBody>
          <a:bodyPr wrap="square" lIns="0" tIns="0" rIns="0" bIns="0" rtlCol="0" anchor="ctr"/>
          <a:lstStyle/>
          <a:p>
            <a:pPr marL="0" indent="0">
              <a:buNone/>
            </a:pPr>
            <a:r>
              <a:rPr lang="en-US" sz="2800" b="1" dirty="0">
                <a:solidFill>
                  <a:schemeClr val="bg1"/>
                </a:solidFill>
                <a:latin typeface="Times New Roman" panose="02020603050405020304" pitchFamily="18" charset="0"/>
                <a:ea typeface="Aptos Display" pitchFamily="34" charset="-122"/>
                <a:cs typeface="Times New Roman" panose="02020603050405020304" pitchFamily="18" charset="0"/>
              </a:rPr>
              <a:t>Deployment setup: one repeatable demo path</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Text 1"/>
          <p:cNvSpPr/>
          <p:nvPr/>
        </p:nvSpPr>
        <p:spPr>
          <a:xfrm>
            <a:off x="615341" y="1141389"/>
            <a:ext cx="8869680" cy="201168"/>
          </a:xfrm>
          <a:prstGeom prst="rect">
            <a:avLst/>
          </a:prstGeom>
          <a:noFill/>
        </p:spPr>
        <p:txBody>
          <a:bodyPr wrap="square" lIns="0" tIns="0" rIns="0" bIns="0" rtlCol="0" anchor="ctr"/>
          <a:lstStyle/>
          <a:p>
            <a:pPr marL="0" indent="0">
              <a:buNone/>
            </a:pPr>
            <a:r>
              <a:rPr lang="en-US" sz="1200" dirty="0">
                <a:solidFill>
                  <a:schemeClr val="bg1"/>
                </a:solidFill>
                <a:latin typeface="Times New Roman" panose="02020603050405020304" pitchFamily="18" charset="0"/>
                <a:cs typeface="Times New Roman" panose="02020603050405020304" pitchFamily="18" charset="0"/>
              </a:rPr>
              <a:t>The latest launcher reduces manual configuration and prevents common setup errors.</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5" name="Shape 3"/>
          <p:cNvSpPr/>
          <p:nvPr/>
        </p:nvSpPr>
        <p:spPr>
          <a:xfrm>
            <a:off x="790691" y="1549105"/>
            <a:ext cx="5120640" cy="4389120"/>
          </a:xfrm>
          <a:prstGeom prst="roundRect">
            <a:avLst>
              <a:gd name="adj" fmla="val 1667"/>
            </a:avLst>
          </a:prstGeom>
          <a:solidFill>
            <a:srgbClr val="060B16"/>
          </a:solidFill>
          <a:ln w="8890">
            <a:solidFill>
              <a:schemeClr val="bg1"/>
            </a:solidFill>
            <a:prstDash val="solid"/>
          </a:ln>
        </p:spPr>
        <p:txBody>
          <a:bodyPr/>
          <a:lstStyle/>
          <a:p>
            <a:endParaRPr lang="zh-CN" altLang="en-US">
              <a:solidFill>
                <a:schemeClr val="bg1"/>
              </a:solidFill>
              <a:latin typeface="Times New Roman" panose="02020603050405020304" pitchFamily="18" charset="0"/>
              <a:cs typeface="Times New Roman" panose="02020603050405020304" pitchFamily="18" charset="0"/>
            </a:endParaRPr>
          </a:p>
        </p:txBody>
      </p:sp>
      <p:sp>
        <p:nvSpPr>
          <p:cNvPr id="6" name="Text 4"/>
          <p:cNvSpPr/>
          <p:nvPr/>
        </p:nvSpPr>
        <p:spPr>
          <a:xfrm>
            <a:off x="1065011" y="1777705"/>
            <a:ext cx="2926080" cy="274320"/>
          </a:xfrm>
          <a:prstGeom prst="rect">
            <a:avLst/>
          </a:prstGeom>
          <a:noFill/>
        </p:spPr>
        <p:txBody>
          <a:bodyPr wrap="square" lIns="508" tIns="508" rIns="508" bIns="508" rtlCol="0" anchor="t">
            <a:normAutofit/>
          </a:bodyPr>
          <a:lstStyle/>
          <a:p>
            <a:pPr marL="0" indent="0" algn="l">
              <a:buNone/>
            </a:pPr>
            <a:r>
              <a:rPr lang="en-US" sz="1400" b="1" dirty="0">
                <a:solidFill>
                  <a:srgbClr val="26C9F4"/>
                </a:solidFill>
                <a:latin typeface="Times New Roman" panose="02020603050405020304" pitchFamily="18" charset="0"/>
                <a:ea typeface="Aptos" pitchFamily="34" charset="-122"/>
                <a:cs typeface="Times New Roman" panose="02020603050405020304" pitchFamily="18" charset="0"/>
              </a:rPr>
              <a:t>Demo launch command</a:t>
            </a:r>
            <a:endParaRPr lang="en-US" sz="1400" dirty="0">
              <a:solidFill>
                <a:srgbClr val="26C9F4"/>
              </a:solidFill>
              <a:latin typeface="Times New Roman" panose="02020603050405020304" pitchFamily="18" charset="0"/>
              <a:cs typeface="Times New Roman" panose="02020603050405020304" pitchFamily="18" charset="0"/>
            </a:endParaRPr>
          </a:p>
        </p:txBody>
      </p:sp>
      <p:sp>
        <p:nvSpPr>
          <p:cNvPr id="7" name="Text 5"/>
          <p:cNvSpPr/>
          <p:nvPr/>
        </p:nvSpPr>
        <p:spPr>
          <a:xfrm>
            <a:off x="1065011" y="2308057"/>
            <a:ext cx="4526280" cy="438912"/>
          </a:xfrm>
          <a:prstGeom prst="rect">
            <a:avLst/>
          </a:prstGeom>
          <a:solidFill>
            <a:srgbClr val="0A1020"/>
          </a:solidFill>
          <a:ln w="7620">
            <a:solidFill>
              <a:srgbClr val="2B3B55"/>
            </a:solidFill>
          </a:ln>
        </p:spPr>
        <p:txBody>
          <a:bodyPr wrap="square" lIns="635" tIns="635" rIns="635" bIns="635" rtlCol="0" anchor="ctr"/>
          <a:lstStyle/>
          <a:p>
            <a:pPr marL="0" indent="0">
              <a:buNone/>
            </a:pPr>
            <a:r>
              <a:rPr lang="en-US" sz="1300" dirty="0">
                <a:solidFill>
                  <a:schemeClr val="bg1"/>
                </a:solidFill>
                <a:latin typeface="Times New Roman" panose="02020603050405020304" pitchFamily="18" charset="0"/>
                <a:ea typeface="Cascadia Mono" panose="020B0609020000020004" pitchFamily="34" charset="-122"/>
                <a:cs typeface="Times New Roman" panose="02020603050405020304" pitchFamily="18" charset="0"/>
              </a:rPr>
              <a:t>PowerShell: .\run_demo.ps1 -Cohort A -Patients 2 -Mode dashboard</a:t>
            </a:r>
            <a:endParaRPr lang="en-US" sz="1300" dirty="0">
              <a:solidFill>
                <a:schemeClr val="bg1"/>
              </a:solidFill>
              <a:latin typeface="Times New Roman" panose="02020603050405020304" pitchFamily="18" charset="0"/>
              <a:cs typeface="Times New Roman" panose="02020603050405020304" pitchFamily="18" charset="0"/>
            </a:endParaRPr>
          </a:p>
        </p:txBody>
      </p:sp>
      <p:sp>
        <p:nvSpPr>
          <p:cNvPr id="8" name="Text 6"/>
          <p:cNvSpPr/>
          <p:nvPr/>
        </p:nvSpPr>
        <p:spPr>
          <a:xfrm>
            <a:off x="1065011" y="3057865"/>
            <a:ext cx="4434840" cy="1463040"/>
          </a:xfrm>
          <a:prstGeom prst="rect">
            <a:avLst/>
          </a:prstGeom>
          <a:noFill/>
        </p:spPr>
        <p:txBody>
          <a:bodyPr wrap="square" lIns="635" tIns="635" rIns="635" bIns="635" rtlCol="0" anchor="ctr">
            <a:normAutofit/>
          </a:bodyPr>
          <a:lstStyle/>
          <a:p>
            <a:pPr>
              <a:lnSpc>
                <a:spcPct val="200000"/>
              </a:lnSpc>
            </a:pPr>
            <a:r>
              <a:rPr lang="en-US" sz="1200" dirty="0">
                <a:solidFill>
                  <a:schemeClr val="bg1"/>
                </a:solidFill>
                <a:latin typeface="Times New Roman" panose="02020603050405020304" pitchFamily="18" charset="0"/>
                <a:cs typeface="Times New Roman" panose="02020603050405020304" pitchFamily="18" charset="0"/>
              </a:rPr>
              <a:t>auto-fills dashboard paths</a:t>
            </a:r>
            <a:endParaRPr lang="en-US" sz="1200"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sz="1200" dirty="0">
                <a:solidFill>
                  <a:schemeClr val="bg1"/>
                </a:solidFill>
                <a:latin typeface="Times New Roman" panose="02020603050405020304" pitchFamily="18" charset="0"/>
                <a:cs typeface="Times New Roman" panose="02020603050405020304" pitchFamily="18" charset="0"/>
              </a:rPr>
              <a:t>detects Cohort A vs Cohort B</a:t>
            </a:r>
            <a:endParaRPr lang="en-US" sz="1200"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sz="1200" dirty="0">
                <a:solidFill>
                  <a:schemeClr val="bg1"/>
                </a:solidFill>
                <a:latin typeface="Times New Roman" panose="02020603050405020304" pitchFamily="18" charset="0"/>
                <a:cs typeface="Times New Roman" panose="02020603050405020304" pitchFamily="18" charset="0"/>
              </a:rPr>
              <a:t>reuses generated outputs for demo mode</a:t>
            </a:r>
            <a:endParaRPr lang="en-US" sz="1200"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sz="1200" dirty="0">
                <a:solidFill>
                  <a:schemeClr val="bg1"/>
                </a:solidFill>
                <a:latin typeface="Times New Roman" panose="02020603050405020304" pitchFamily="18" charset="0"/>
                <a:cs typeface="Times New Roman" panose="02020603050405020304" pitchFamily="18" charset="0"/>
              </a:rPr>
              <a:t>prevents non-ASCII path problems on Windows</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9" name="Shape 7"/>
          <p:cNvSpPr/>
          <p:nvPr/>
        </p:nvSpPr>
        <p:spPr>
          <a:xfrm>
            <a:off x="6459971" y="1549105"/>
            <a:ext cx="5212080" cy="4389120"/>
          </a:xfrm>
          <a:prstGeom prst="roundRect">
            <a:avLst>
              <a:gd name="adj" fmla="val 1667"/>
            </a:avLst>
          </a:prstGeom>
          <a:solidFill>
            <a:srgbClr val="0F1727"/>
          </a:solidFill>
          <a:ln w="8890">
            <a:solidFill>
              <a:schemeClr val="bg1"/>
            </a:solidFill>
            <a:prstDash val="solid"/>
          </a:ln>
        </p:spPr>
        <p:txBody>
          <a:bodyPr/>
          <a:lstStyle/>
          <a:p>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0" name="Text 8"/>
          <p:cNvSpPr/>
          <p:nvPr/>
        </p:nvSpPr>
        <p:spPr>
          <a:xfrm>
            <a:off x="6734291" y="1777705"/>
            <a:ext cx="3657600" cy="274320"/>
          </a:xfrm>
          <a:prstGeom prst="rect">
            <a:avLst/>
          </a:prstGeom>
          <a:noFill/>
        </p:spPr>
        <p:txBody>
          <a:bodyPr wrap="square" lIns="508" tIns="508" rIns="508" bIns="508" rtlCol="0" anchor="t">
            <a:normAutofit/>
          </a:bodyPr>
          <a:lstStyle/>
          <a:p>
            <a:pPr marL="0" indent="0" algn="l">
              <a:buNone/>
            </a:pPr>
            <a:r>
              <a:rPr lang="en-US" sz="1400" b="1" dirty="0">
                <a:solidFill>
                  <a:srgbClr val="26C9F4"/>
                </a:solidFill>
                <a:latin typeface="Times New Roman" panose="02020603050405020304" pitchFamily="18" charset="0"/>
                <a:ea typeface="Aptos" pitchFamily="34" charset="-122"/>
                <a:cs typeface="Times New Roman" panose="02020603050405020304" pitchFamily="18" charset="0"/>
              </a:rPr>
              <a:t>Live deployment checklist</a:t>
            </a:r>
            <a:endParaRPr lang="en-US" sz="1400" dirty="0">
              <a:solidFill>
                <a:srgbClr val="26C9F4"/>
              </a:solidFill>
              <a:latin typeface="Times New Roman" panose="02020603050405020304" pitchFamily="18" charset="0"/>
              <a:cs typeface="Times New Roman" panose="02020603050405020304" pitchFamily="18" charset="0"/>
            </a:endParaRPr>
          </a:p>
        </p:txBody>
      </p:sp>
      <p:sp>
        <p:nvSpPr>
          <p:cNvPr id="11" name="Text 9"/>
          <p:cNvSpPr/>
          <p:nvPr/>
        </p:nvSpPr>
        <p:spPr>
          <a:xfrm>
            <a:off x="6734291" y="2326345"/>
            <a:ext cx="274320" cy="228600"/>
          </a:xfrm>
          <a:prstGeom prst="rect">
            <a:avLst/>
          </a:prstGeom>
          <a:noFill/>
        </p:spPr>
        <p:txBody>
          <a:bodyPr wrap="square" lIns="0" tIns="0" rIns="0" bIns="0" rtlCol="0" anchor="ctr"/>
          <a:lstStyle/>
          <a:p>
            <a:pPr marL="0" indent="0">
              <a:buNone/>
            </a:pPr>
            <a:r>
              <a:rPr lang="en-US" sz="1200" b="1" dirty="0">
                <a:solidFill>
                  <a:schemeClr val="bg1"/>
                </a:solidFill>
                <a:latin typeface="Times New Roman" panose="02020603050405020304" pitchFamily="18" charset="0"/>
                <a:cs typeface="Times New Roman" panose="02020603050405020304" pitchFamily="18" charset="0"/>
              </a:rPr>
              <a:t>✓</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12" name="Text 10"/>
          <p:cNvSpPr/>
          <p:nvPr/>
        </p:nvSpPr>
        <p:spPr>
          <a:xfrm>
            <a:off x="7081763" y="2358619"/>
            <a:ext cx="1463040" cy="219456"/>
          </a:xfrm>
          <a:prstGeom prst="rect">
            <a:avLst/>
          </a:prstGeom>
          <a:noFill/>
        </p:spPr>
        <p:txBody>
          <a:bodyPr wrap="square" lIns="508" tIns="508" rIns="508" bIns="508" rtlCol="0" anchor="t">
            <a:normAutofit/>
          </a:bodyPr>
          <a:lstStyle/>
          <a:p>
            <a:pPr marL="0" indent="0" algn="l">
              <a:buNone/>
            </a:pPr>
            <a:r>
              <a:rPr lang="en-US" sz="1100" dirty="0">
                <a:solidFill>
                  <a:srgbClr val="26C9F4"/>
                </a:solidFill>
                <a:latin typeface="Times New Roman" panose="02020603050405020304" pitchFamily="18" charset="0"/>
                <a:ea typeface="Aptos" pitchFamily="34" charset="-122"/>
                <a:cs typeface="Times New Roman" panose="02020603050405020304" pitchFamily="18" charset="0"/>
              </a:rPr>
              <a:t>Data root</a:t>
            </a:r>
            <a:endParaRPr lang="en-US" sz="1100" dirty="0">
              <a:solidFill>
                <a:srgbClr val="26C9F4"/>
              </a:solidFill>
              <a:latin typeface="Times New Roman" panose="02020603050405020304" pitchFamily="18" charset="0"/>
              <a:cs typeface="Times New Roman" panose="02020603050405020304" pitchFamily="18" charset="0"/>
            </a:endParaRPr>
          </a:p>
        </p:txBody>
      </p:sp>
      <p:sp>
        <p:nvSpPr>
          <p:cNvPr id="13" name="Text 11"/>
          <p:cNvSpPr/>
          <p:nvPr/>
        </p:nvSpPr>
        <p:spPr>
          <a:xfrm>
            <a:off x="8563091" y="2358619"/>
            <a:ext cx="2468880" cy="219456"/>
          </a:xfrm>
          <a:prstGeom prst="rect">
            <a:avLst/>
          </a:prstGeom>
          <a:noFill/>
        </p:spPr>
        <p:txBody>
          <a:bodyPr wrap="square" lIns="508" tIns="508" rIns="508" bIns="508" rtlCol="0" anchor="t">
            <a:normAutofit/>
          </a:bodyPr>
          <a:lstStyle/>
          <a:p>
            <a:pPr marL="0" indent="0" algn="l">
              <a:buNone/>
            </a:pPr>
            <a:r>
              <a:rPr lang="en-US" sz="1100" dirty="0">
                <a:solidFill>
                  <a:schemeClr val="bg1"/>
                </a:solidFill>
                <a:latin typeface="Times New Roman" panose="02020603050405020304" pitchFamily="18" charset="0"/>
                <a:ea typeface="Aptos" pitchFamily="34" charset="-122"/>
                <a:cs typeface="Times New Roman" panose="02020603050405020304" pitchFamily="18" charset="0"/>
              </a:rPr>
              <a:t>Cohort A/B folder present</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14" name="Text 12"/>
          <p:cNvSpPr/>
          <p:nvPr/>
        </p:nvSpPr>
        <p:spPr>
          <a:xfrm>
            <a:off x="6734291" y="3039577"/>
            <a:ext cx="274320" cy="228600"/>
          </a:xfrm>
          <a:prstGeom prst="rect">
            <a:avLst/>
          </a:prstGeom>
          <a:noFill/>
        </p:spPr>
        <p:txBody>
          <a:bodyPr wrap="square" lIns="0" tIns="0" rIns="0" bIns="0" rtlCol="0" anchor="ctr"/>
          <a:lstStyle/>
          <a:p>
            <a:pPr marL="0" indent="0">
              <a:buNone/>
            </a:pPr>
            <a:r>
              <a:rPr lang="en-US" sz="1200" b="1" dirty="0">
                <a:solidFill>
                  <a:schemeClr val="bg1"/>
                </a:solidFill>
                <a:latin typeface="Times New Roman" panose="02020603050405020304" pitchFamily="18" charset="0"/>
                <a:cs typeface="Times New Roman" panose="02020603050405020304" pitchFamily="18" charset="0"/>
              </a:rPr>
              <a:t>✓</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15" name="Text 13"/>
          <p:cNvSpPr/>
          <p:nvPr/>
        </p:nvSpPr>
        <p:spPr>
          <a:xfrm>
            <a:off x="7081763" y="3071851"/>
            <a:ext cx="1463040" cy="219456"/>
          </a:xfrm>
          <a:prstGeom prst="rect">
            <a:avLst/>
          </a:prstGeom>
          <a:noFill/>
        </p:spPr>
        <p:txBody>
          <a:bodyPr wrap="square" lIns="508" tIns="508" rIns="508" bIns="508" rtlCol="0" anchor="t">
            <a:normAutofit/>
          </a:bodyPr>
          <a:lstStyle/>
          <a:p>
            <a:pPr marL="0" indent="0" algn="l">
              <a:buNone/>
            </a:pPr>
            <a:r>
              <a:rPr lang="en-US" sz="1100" dirty="0">
                <a:solidFill>
                  <a:srgbClr val="26C9F4"/>
                </a:solidFill>
                <a:latin typeface="Times New Roman" panose="02020603050405020304" pitchFamily="18" charset="0"/>
                <a:ea typeface="Aptos" pitchFamily="34" charset="-122"/>
                <a:cs typeface="Times New Roman" panose="02020603050405020304" pitchFamily="18" charset="0"/>
              </a:rPr>
              <a:t>Generated files</a:t>
            </a:r>
            <a:endParaRPr lang="en-US" sz="1100" dirty="0">
              <a:solidFill>
                <a:srgbClr val="26C9F4"/>
              </a:solidFill>
              <a:latin typeface="Times New Roman" panose="02020603050405020304" pitchFamily="18" charset="0"/>
              <a:cs typeface="Times New Roman" panose="02020603050405020304" pitchFamily="18" charset="0"/>
            </a:endParaRPr>
          </a:p>
        </p:txBody>
      </p:sp>
      <p:sp>
        <p:nvSpPr>
          <p:cNvPr id="16" name="Text 14"/>
          <p:cNvSpPr/>
          <p:nvPr/>
        </p:nvSpPr>
        <p:spPr>
          <a:xfrm>
            <a:off x="8563091" y="3071851"/>
            <a:ext cx="2468880" cy="219456"/>
          </a:xfrm>
          <a:prstGeom prst="rect">
            <a:avLst/>
          </a:prstGeom>
          <a:noFill/>
        </p:spPr>
        <p:txBody>
          <a:bodyPr wrap="square" lIns="508" tIns="508" rIns="508" bIns="508" rtlCol="0" anchor="t">
            <a:normAutofit/>
          </a:bodyPr>
          <a:lstStyle/>
          <a:p>
            <a:pPr marL="0" indent="0" algn="l">
              <a:buNone/>
            </a:pPr>
            <a:r>
              <a:rPr lang="en-US" sz="1100" dirty="0">
                <a:solidFill>
                  <a:schemeClr val="bg1"/>
                </a:solidFill>
                <a:latin typeface="Times New Roman" panose="02020603050405020304" pitchFamily="18" charset="0"/>
                <a:ea typeface="Aptos" pitchFamily="34" charset="-122"/>
                <a:cs typeface="Times New Roman" panose="02020603050405020304" pitchFamily="18" charset="0"/>
              </a:rPr>
              <a:t>matches, features, costs, summary</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17" name="Text 15"/>
          <p:cNvSpPr/>
          <p:nvPr/>
        </p:nvSpPr>
        <p:spPr>
          <a:xfrm>
            <a:off x="6734291" y="3752809"/>
            <a:ext cx="274320" cy="228600"/>
          </a:xfrm>
          <a:prstGeom prst="rect">
            <a:avLst/>
          </a:prstGeom>
          <a:noFill/>
        </p:spPr>
        <p:txBody>
          <a:bodyPr wrap="square" lIns="0" tIns="0" rIns="0" bIns="0" rtlCol="0" anchor="ctr"/>
          <a:lstStyle/>
          <a:p>
            <a:pPr marL="0" indent="0">
              <a:buNone/>
            </a:pPr>
            <a:r>
              <a:rPr lang="en-US" sz="1200" b="1" dirty="0">
                <a:solidFill>
                  <a:schemeClr val="bg1"/>
                </a:solidFill>
                <a:latin typeface="Times New Roman" panose="02020603050405020304" pitchFamily="18" charset="0"/>
                <a:cs typeface="Times New Roman" panose="02020603050405020304" pitchFamily="18" charset="0"/>
              </a:rPr>
              <a:t>✓</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18" name="Text 16"/>
          <p:cNvSpPr/>
          <p:nvPr/>
        </p:nvSpPr>
        <p:spPr>
          <a:xfrm>
            <a:off x="7081763" y="3785083"/>
            <a:ext cx="1463040" cy="219456"/>
          </a:xfrm>
          <a:prstGeom prst="rect">
            <a:avLst/>
          </a:prstGeom>
          <a:noFill/>
        </p:spPr>
        <p:txBody>
          <a:bodyPr wrap="square" lIns="508" tIns="508" rIns="508" bIns="508" rtlCol="0" anchor="t">
            <a:normAutofit/>
          </a:bodyPr>
          <a:lstStyle/>
          <a:p>
            <a:pPr marL="0" indent="0" algn="l">
              <a:buNone/>
            </a:pPr>
            <a:r>
              <a:rPr lang="en-US" sz="1100" dirty="0">
                <a:solidFill>
                  <a:srgbClr val="26C9F4"/>
                </a:solidFill>
                <a:latin typeface="Times New Roman" panose="02020603050405020304" pitchFamily="18" charset="0"/>
                <a:ea typeface="Aptos" pitchFamily="34" charset="-122"/>
                <a:cs typeface="Times New Roman" panose="02020603050405020304" pitchFamily="18" charset="0"/>
              </a:rPr>
              <a:t>Dashboard</a:t>
            </a:r>
            <a:endParaRPr lang="en-US" sz="1100" dirty="0">
              <a:solidFill>
                <a:srgbClr val="26C9F4"/>
              </a:solidFill>
              <a:latin typeface="Times New Roman" panose="02020603050405020304" pitchFamily="18" charset="0"/>
              <a:cs typeface="Times New Roman" panose="02020603050405020304" pitchFamily="18" charset="0"/>
            </a:endParaRPr>
          </a:p>
        </p:txBody>
      </p:sp>
      <p:sp>
        <p:nvSpPr>
          <p:cNvPr id="19" name="Text 17"/>
          <p:cNvSpPr/>
          <p:nvPr/>
        </p:nvSpPr>
        <p:spPr>
          <a:xfrm>
            <a:off x="8563091" y="3785083"/>
            <a:ext cx="2468880" cy="219456"/>
          </a:xfrm>
          <a:prstGeom prst="rect">
            <a:avLst/>
          </a:prstGeom>
          <a:noFill/>
        </p:spPr>
        <p:txBody>
          <a:bodyPr wrap="square" lIns="508" tIns="508" rIns="508" bIns="508" rtlCol="0" anchor="t">
            <a:normAutofit/>
          </a:bodyPr>
          <a:lstStyle/>
          <a:p>
            <a:pPr marL="0" indent="0" algn="l">
              <a:buNone/>
            </a:pPr>
            <a:r>
              <a:rPr lang="en-US" sz="1100" dirty="0">
                <a:solidFill>
                  <a:schemeClr val="bg1"/>
                </a:solidFill>
                <a:latin typeface="Times New Roman" panose="02020603050405020304" pitchFamily="18" charset="0"/>
                <a:ea typeface="Aptos" pitchFamily="34" charset="-122"/>
                <a:cs typeface="Times New Roman" panose="02020603050405020304" pitchFamily="18" charset="0"/>
              </a:rPr>
              <a:t>paths auto-filled</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20" name="Text 18"/>
          <p:cNvSpPr/>
          <p:nvPr/>
        </p:nvSpPr>
        <p:spPr>
          <a:xfrm>
            <a:off x="6734291" y="4466041"/>
            <a:ext cx="274320" cy="228600"/>
          </a:xfrm>
          <a:prstGeom prst="rect">
            <a:avLst/>
          </a:prstGeom>
          <a:noFill/>
        </p:spPr>
        <p:txBody>
          <a:bodyPr wrap="square" lIns="0" tIns="0" rIns="0" bIns="0" rtlCol="0" anchor="ctr"/>
          <a:lstStyle/>
          <a:p>
            <a:pPr marL="0" indent="0">
              <a:buNone/>
            </a:pPr>
            <a:r>
              <a:rPr lang="en-US" sz="1200" b="1" dirty="0">
                <a:solidFill>
                  <a:schemeClr val="bg1"/>
                </a:solidFill>
                <a:latin typeface="Times New Roman" panose="02020603050405020304" pitchFamily="18" charset="0"/>
                <a:cs typeface="Times New Roman" panose="02020603050405020304" pitchFamily="18" charset="0"/>
              </a:rPr>
              <a:t>✓</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21" name="Text 19"/>
          <p:cNvSpPr/>
          <p:nvPr/>
        </p:nvSpPr>
        <p:spPr>
          <a:xfrm>
            <a:off x="7081763" y="4498315"/>
            <a:ext cx="1463040" cy="219456"/>
          </a:xfrm>
          <a:prstGeom prst="rect">
            <a:avLst/>
          </a:prstGeom>
          <a:noFill/>
        </p:spPr>
        <p:txBody>
          <a:bodyPr wrap="square" lIns="508" tIns="508" rIns="508" bIns="508" rtlCol="0" anchor="t">
            <a:normAutofit/>
          </a:bodyPr>
          <a:lstStyle/>
          <a:p>
            <a:pPr marL="0" indent="0" algn="l">
              <a:buNone/>
            </a:pPr>
            <a:r>
              <a:rPr lang="en-US" sz="1100" dirty="0">
                <a:solidFill>
                  <a:srgbClr val="26C9F4"/>
                </a:solidFill>
                <a:latin typeface="Times New Roman" panose="02020603050405020304" pitchFamily="18" charset="0"/>
                <a:ea typeface="Aptos" pitchFamily="34" charset="-122"/>
                <a:cs typeface="Times New Roman" panose="02020603050405020304" pitchFamily="18" charset="0"/>
              </a:rPr>
              <a:t>Client review</a:t>
            </a:r>
            <a:endParaRPr lang="en-US" sz="1100" dirty="0">
              <a:solidFill>
                <a:srgbClr val="26C9F4"/>
              </a:solidFill>
              <a:latin typeface="Times New Roman" panose="02020603050405020304" pitchFamily="18" charset="0"/>
              <a:cs typeface="Times New Roman" panose="02020603050405020304" pitchFamily="18" charset="0"/>
            </a:endParaRPr>
          </a:p>
        </p:txBody>
      </p:sp>
      <p:sp>
        <p:nvSpPr>
          <p:cNvPr id="22" name="Text 20"/>
          <p:cNvSpPr/>
          <p:nvPr/>
        </p:nvSpPr>
        <p:spPr>
          <a:xfrm>
            <a:off x="8563091" y="4498315"/>
            <a:ext cx="2468880" cy="219456"/>
          </a:xfrm>
          <a:prstGeom prst="rect">
            <a:avLst/>
          </a:prstGeom>
          <a:noFill/>
        </p:spPr>
        <p:txBody>
          <a:bodyPr wrap="square" lIns="508" tIns="508" rIns="508" bIns="508" rtlCol="0" anchor="t">
            <a:normAutofit/>
          </a:bodyPr>
          <a:lstStyle/>
          <a:p>
            <a:pPr marL="0" indent="0" algn="l">
              <a:buNone/>
            </a:pPr>
            <a:r>
              <a:rPr lang="en-US" sz="1100" dirty="0">
                <a:solidFill>
                  <a:schemeClr val="bg1"/>
                </a:solidFill>
                <a:latin typeface="Times New Roman" panose="02020603050405020304" pitchFamily="18" charset="0"/>
                <a:ea typeface="Aptos" pitchFamily="34" charset="-122"/>
                <a:cs typeface="Times New Roman" panose="02020603050405020304" pitchFamily="18" charset="0"/>
              </a:rPr>
              <a:t>live test + feedback</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23" name="Text 21"/>
          <p:cNvSpPr/>
          <p:nvPr/>
        </p:nvSpPr>
        <p:spPr>
          <a:xfrm>
            <a:off x="6734291" y="5179273"/>
            <a:ext cx="4480560" cy="329184"/>
          </a:xfrm>
          <a:prstGeom prst="rect">
            <a:avLst/>
          </a:prstGeom>
          <a:noFill/>
        </p:spPr>
        <p:txBody>
          <a:bodyPr wrap="square" lIns="508" tIns="508" rIns="508" bIns="508" rtlCol="0" anchor="t">
            <a:normAutofit lnSpcReduction="10000"/>
          </a:bodyPr>
          <a:lstStyle/>
          <a:p>
            <a:pPr marL="0" indent="0" algn="l">
              <a:buNone/>
            </a:pPr>
            <a:r>
              <a:rPr lang="en-US" sz="1100" b="1" dirty="0">
                <a:solidFill>
                  <a:schemeClr val="bg1"/>
                </a:solidFill>
                <a:latin typeface="Times New Roman" panose="02020603050405020304" pitchFamily="18" charset="0"/>
                <a:ea typeface="Aptos" pitchFamily="34" charset="-122"/>
                <a:cs typeface="Times New Roman" panose="02020603050405020304" pitchFamily="18" charset="0"/>
              </a:rPr>
              <a:t>Acceptance: client can reproduce the same two-patient workflow without manually typing every CSV path into the UI.</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25" name="Slide Number Placeholder 0"/>
          <p:cNvSpPr>
            <a:spLocks noGrp="1"/>
          </p:cNvSpPr>
          <p:nvPr>
            <p:ph type="sldNum" sz="quarter" idx="4294967295"/>
          </p:nvPr>
        </p:nvSpPr>
        <p:spPr>
          <a:xfrm>
            <a:off x="11567160" y="6574536"/>
            <a:ext cx="800000" cy="300000"/>
          </a:xfrm>
          <a:prstGeom prst="rect">
            <a:avLst/>
          </a:prstGeom>
        </p:spPr>
        <p:txBody>
          <a:bodyPr/>
          <a:lstStyle>
            <a:lvl1pPr>
              <a:defRPr sz="550">
                <a:solidFill>
                  <a:srgbClr val="6F7D91"/>
                </a:solidFill>
                <a:latin typeface="Aptos"/>
                <a:ea typeface="Aptos"/>
                <a:cs typeface="Aptos"/>
              </a:defRPr>
            </a:lvl1pPr>
          </a:lstStyle>
          <a:p>
            <a:pPr algn="l"/>
            <a:fld id="{F7021451-1387-4CA6-816F-3879F97B5CBC}" type="slidenum">
              <a:rPr lang="en-US" b="0">
                <a:solidFill>
                  <a:schemeClr val="bg1"/>
                </a:solidFill>
                <a:latin typeface="Times New Roman" panose="02020603050405020304" pitchFamily="18" charset="0"/>
                <a:cs typeface="Times New Roman" panose="02020603050405020304" pitchFamily="18" charset="0"/>
              </a:rPr>
            </a:fld>
            <a:endParaRPr lang="en-US">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36856" y="694945"/>
            <a:ext cx="7863840" cy="393192"/>
          </a:xfrm>
          <a:prstGeom prst="rect">
            <a:avLst/>
          </a:prstGeom>
          <a:noFill/>
        </p:spPr>
        <p:txBody>
          <a:bodyPr wrap="square" lIns="0" tIns="0" rIns="0" bIns="0" rtlCol="0" anchor="ctr"/>
          <a:lstStyle/>
          <a:p>
            <a:pPr marL="0" indent="0">
              <a:buNone/>
            </a:pPr>
            <a:r>
              <a:rPr lang="en-US" sz="2300" b="1" dirty="0">
                <a:solidFill>
                  <a:schemeClr val="bg1"/>
                </a:solidFill>
                <a:latin typeface="Times New Roman" panose="02020603050405020304" pitchFamily="18" charset="0"/>
                <a:ea typeface="Aptos Display" pitchFamily="34" charset="-122"/>
                <a:cs typeface="Times New Roman" panose="02020603050405020304" pitchFamily="18" charset="0"/>
              </a:rPr>
              <a:t>Result: interactive scan review</a:t>
            </a:r>
            <a:endParaRPr lang="en-US" sz="2300" dirty="0">
              <a:solidFill>
                <a:schemeClr val="bg1"/>
              </a:solidFill>
              <a:latin typeface="Times New Roman" panose="02020603050405020304" pitchFamily="18" charset="0"/>
              <a:cs typeface="Times New Roman" panose="02020603050405020304" pitchFamily="18" charset="0"/>
            </a:endParaRPr>
          </a:p>
        </p:txBody>
      </p:sp>
      <p:sp>
        <p:nvSpPr>
          <p:cNvPr id="3" name="Text 1"/>
          <p:cNvSpPr/>
          <p:nvPr/>
        </p:nvSpPr>
        <p:spPr>
          <a:xfrm>
            <a:off x="655144" y="1152145"/>
            <a:ext cx="8869680" cy="201168"/>
          </a:xfrm>
          <a:prstGeom prst="rect">
            <a:avLst/>
          </a:prstGeom>
          <a:noFill/>
        </p:spPr>
        <p:txBody>
          <a:bodyPr wrap="square" lIns="0" tIns="0" rIns="0" bIns="0" rtlCol="0" anchor="ctr"/>
          <a:lstStyle/>
          <a:p>
            <a:pPr marL="0" indent="0">
              <a:buNone/>
            </a:pPr>
            <a:r>
              <a:rPr lang="en-US" sz="1200" dirty="0">
                <a:solidFill>
                  <a:schemeClr val="bg1"/>
                </a:solidFill>
                <a:latin typeface="Times New Roman" panose="02020603050405020304" pitchFamily="18" charset="0"/>
                <a:cs typeface="Times New Roman" panose="02020603050405020304" pitchFamily="18" charset="0"/>
              </a:rPr>
              <a:t>Original BL, registered BL, and FU can be inspected side by side with masks.</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6" name="Shape 3"/>
          <p:cNvSpPr/>
          <p:nvPr/>
        </p:nvSpPr>
        <p:spPr>
          <a:xfrm>
            <a:off x="7476568" y="1578688"/>
            <a:ext cx="4251960" cy="3028938"/>
          </a:xfrm>
          <a:prstGeom prst="roundRect">
            <a:avLst>
              <a:gd name="adj" fmla="val 1720"/>
            </a:avLst>
          </a:prstGeom>
          <a:solidFill>
            <a:srgbClr val="0F1727"/>
          </a:solidFill>
          <a:ln w="8890">
            <a:solidFill>
              <a:srgbClr val="26C9F4"/>
            </a:solidFill>
            <a:prstDash val="solid"/>
          </a:ln>
        </p:spPr>
        <p:txBody>
          <a:bodyPr/>
          <a:lstStyle/>
          <a:p>
            <a:endParaRPr lang="zh-CN" altLang="en-US">
              <a:solidFill>
                <a:schemeClr val="bg1"/>
              </a:solidFill>
              <a:latin typeface="Times New Roman" panose="02020603050405020304" pitchFamily="18" charset="0"/>
              <a:cs typeface="Times New Roman" panose="02020603050405020304" pitchFamily="18" charset="0"/>
            </a:endParaRPr>
          </a:p>
        </p:txBody>
      </p:sp>
      <p:sp>
        <p:nvSpPr>
          <p:cNvPr id="7" name="Text 4"/>
          <p:cNvSpPr/>
          <p:nvPr/>
        </p:nvSpPr>
        <p:spPr>
          <a:xfrm>
            <a:off x="7726684" y="1825576"/>
            <a:ext cx="3474720" cy="274320"/>
          </a:xfrm>
          <a:prstGeom prst="rect">
            <a:avLst/>
          </a:prstGeom>
          <a:noFill/>
        </p:spPr>
        <p:txBody>
          <a:bodyPr wrap="square" lIns="508" tIns="508" rIns="508" bIns="508" rtlCol="0" anchor="t">
            <a:normAutofit/>
          </a:bodyPr>
          <a:lstStyle/>
          <a:p>
            <a:pPr marL="0" indent="0" algn="l">
              <a:buNone/>
            </a:pPr>
            <a:r>
              <a:rPr lang="en-US" sz="1400" b="1" dirty="0">
                <a:solidFill>
                  <a:srgbClr val="26C9F4"/>
                </a:solidFill>
                <a:latin typeface="Times New Roman" panose="02020603050405020304" pitchFamily="18" charset="0"/>
                <a:ea typeface="Aptos" pitchFamily="34" charset="-122"/>
                <a:cs typeface="Times New Roman" panose="02020603050405020304" pitchFamily="18" charset="0"/>
              </a:rPr>
              <a:t>Accepted viewer capabilities</a:t>
            </a:r>
            <a:endParaRPr lang="en-US" sz="1400" dirty="0">
              <a:solidFill>
                <a:srgbClr val="26C9F4"/>
              </a:solidFill>
              <a:latin typeface="Times New Roman" panose="02020603050405020304" pitchFamily="18" charset="0"/>
              <a:cs typeface="Times New Roman" panose="02020603050405020304" pitchFamily="18" charset="0"/>
            </a:endParaRPr>
          </a:p>
        </p:txBody>
      </p:sp>
      <p:sp>
        <p:nvSpPr>
          <p:cNvPr id="8" name="Text 5"/>
          <p:cNvSpPr/>
          <p:nvPr/>
        </p:nvSpPr>
        <p:spPr>
          <a:xfrm>
            <a:off x="7732600" y="2282776"/>
            <a:ext cx="3383280" cy="2011680"/>
          </a:xfrm>
          <a:prstGeom prst="rect">
            <a:avLst/>
          </a:prstGeom>
          <a:noFill/>
        </p:spPr>
        <p:txBody>
          <a:bodyPr wrap="square" lIns="635" tIns="635" rIns="635" bIns="635" rtlCol="0" anchor="ctr">
            <a:normAutofit/>
          </a:bodyPr>
          <a:lstStyle/>
          <a:p>
            <a:pPr>
              <a:lnSpc>
                <a:spcPct val="200000"/>
              </a:lnSpc>
            </a:pPr>
            <a:r>
              <a:rPr lang="en-US" sz="1050" dirty="0">
                <a:solidFill>
                  <a:schemeClr val="bg1"/>
                </a:solidFill>
                <a:latin typeface="Times New Roman" panose="02020603050405020304" pitchFamily="18" charset="0"/>
                <a:cs typeface="Times New Roman" panose="02020603050405020304" pitchFamily="18" charset="0"/>
              </a:rPr>
              <a:t>Original BL, registered BL, and FU panels</a:t>
            </a:r>
            <a:endParaRPr lang="en-US" sz="1050"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sz="1050" dirty="0">
                <a:solidFill>
                  <a:schemeClr val="bg1"/>
                </a:solidFill>
                <a:latin typeface="Times New Roman" panose="02020603050405020304" pitchFamily="18" charset="0"/>
                <a:cs typeface="Times New Roman" panose="02020603050405020304" pitchFamily="18" charset="0"/>
              </a:rPr>
              <a:t>CT and PET modes when data is available</a:t>
            </a:r>
            <a:endParaRPr lang="en-US" sz="1050"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sz="1050" dirty="0">
                <a:solidFill>
                  <a:schemeClr val="bg1"/>
                </a:solidFill>
                <a:latin typeface="Times New Roman" panose="02020603050405020304" pitchFamily="18" charset="0"/>
                <a:cs typeface="Times New Roman" panose="02020603050405020304" pitchFamily="18" charset="0"/>
              </a:rPr>
              <a:t>lesion-mask overlays</a:t>
            </a:r>
            <a:endParaRPr lang="en-US" sz="1050"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sz="1050" dirty="0">
                <a:solidFill>
                  <a:schemeClr val="bg1"/>
                </a:solidFill>
                <a:latin typeface="Times New Roman" panose="02020603050405020304" pitchFamily="18" charset="0"/>
                <a:cs typeface="Times New Roman" panose="02020603050405020304" pitchFamily="18" charset="0"/>
              </a:rPr>
              <a:t>axial, coronal, sagittal slice sliders</a:t>
            </a:r>
            <a:endParaRPr lang="en-US" sz="1050"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sz="1050" dirty="0">
                <a:solidFill>
                  <a:schemeClr val="bg1"/>
                </a:solidFill>
                <a:latin typeface="Times New Roman" panose="02020603050405020304" pitchFamily="18" charset="0"/>
                <a:cs typeface="Times New Roman" panose="02020603050405020304" pitchFamily="18" charset="0"/>
              </a:rPr>
              <a:t>physical aspect-ratio correction</a:t>
            </a:r>
            <a:endParaRPr lang="en-US" sz="1050"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sz="1050" dirty="0">
                <a:solidFill>
                  <a:schemeClr val="bg1"/>
                </a:solidFill>
                <a:latin typeface="Times New Roman" panose="02020603050405020304" pitchFamily="18" charset="0"/>
                <a:cs typeface="Times New Roman" panose="02020603050405020304" pitchFamily="18" charset="0"/>
              </a:rPr>
              <a:t>cached slice rendering for responsive review</a:t>
            </a:r>
            <a:endParaRPr lang="en-US" sz="1050" dirty="0">
              <a:solidFill>
                <a:schemeClr val="bg1"/>
              </a:solidFill>
              <a:latin typeface="Times New Roman" panose="02020603050405020304" pitchFamily="18" charset="0"/>
              <a:cs typeface="Times New Roman" panose="02020603050405020304" pitchFamily="18" charset="0"/>
            </a:endParaRPr>
          </a:p>
        </p:txBody>
      </p:sp>
      <p:sp>
        <p:nvSpPr>
          <p:cNvPr id="25" name="Slide Number Placeholder 0"/>
          <p:cNvSpPr>
            <a:spLocks noGrp="1"/>
          </p:cNvSpPr>
          <p:nvPr>
            <p:ph type="sldNum" sz="quarter" idx="4294967295"/>
          </p:nvPr>
        </p:nvSpPr>
        <p:spPr>
          <a:xfrm>
            <a:off x="11567160" y="6574536"/>
            <a:ext cx="800000" cy="300000"/>
          </a:xfrm>
          <a:prstGeom prst="rect">
            <a:avLst/>
          </a:prstGeom>
        </p:spPr>
        <p:txBody>
          <a:bodyPr/>
          <a:lstStyle>
            <a:lvl1pPr>
              <a:defRPr sz="550">
                <a:solidFill>
                  <a:srgbClr val="6F7D91"/>
                </a:solidFill>
                <a:latin typeface="Aptos"/>
                <a:ea typeface="Aptos"/>
                <a:cs typeface="Aptos"/>
              </a:defRPr>
            </a:lvl1pPr>
          </a:lstStyle>
          <a:p>
            <a:pPr algn="l"/>
            <a:fld id="{F7021451-1387-4CA6-816F-3879F97B5CBC}" type="slidenum">
              <a:rPr lang="en-US" b="0">
                <a:solidFill>
                  <a:schemeClr val="bg1"/>
                </a:solidFill>
              </a:rPr>
            </a:fld>
            <a:endParaRPr lang="en-US">
              <a:solidFill>
                <a:schemeClr val="bg1"/>
              </a:solidFill>
            </a:endParaRPr>
          </a:p>
        </p:txBody>
      </p:sp>
      <p:sp>
        <p:nvSpPr>
          <p:cNvPr id="11" name="Shape 6"/>
          <p:cNvSpPr/>
          <p:nvPr/>
        </p:nvSpPr>
        <p:spPr>
          <a:xfrm>
            <a:off x="7476568" y="4854514"/>
            <a:ext cx="4251960" cy="521208"/>
          </a:xfrm>
          <a:prstGeom prst="roundRect">
            <a:avLst>
              <a:gd name="adj" fmla="val 14035"/>
            </a:avLst>
          </a:prstGeom>
          <a:solidFill>
            <a:srgbClr val="152239"/>
          </a:solidFill>
          <a:ln w="8890">
            <a:solidFill>
              <a:srgbClr val="26C9F4"/>
            </a:solidFill>
            <a:prstDash val="solid"/>
          </a:ln>
        </p:spPr>
        <p:txBody>
          <a:bodyPr/>
          <a:lstStyle/>
          <a:p>
            <a:pPr algn="ctr">
              <a:lnSpc>
                <a:spcPct val="200000"/>
              </a:lnSpc>
            </a:pPr>
            <a:r>
              <a:rPr lang="en-US" altLang="zh-CN" sz="1200" b="1" dirty="0">
                <a:solidFill>
                  <a:schemeClr val="bg1"/>
                </a:solidFill>
                <a:latin typeface="Times New Roman" panose="02020603050405020304" pitchFamily="18" charset="0"/>
                <a:ea typeface="Aptos" pitchFamily="34" charset="-122"/>
                <a:cs typeface="Times New Roman" panose="02020603050405020304" pitchFamily="18" charset="0"/>
              </a:rPr>
              <a:t>Live test: toggle masks and move through each plane.</a:t>
            </a:r>
            <a:endParaRPr lang="en-US" altLang="zh-CN" sz="1200" dirty="0">
              <a:solidFill>
                <a:schemeClr val="bg1"/>
              </a:solidFill>
              <a:latin typeface="Times New Roman" panose="02020603050405020304" pitchFamily="18" charset="0"/>
              <a:cs typeface="Times New Roman" panose="02020603050405020304" pitchFamily="18" charset="0"/>
            </a:endParaRPr>
          </a:p>
        </p:txBody>
      </p:sp>
      <p:pic>
        <p:nvPicPr>
          <p:cNvPr id="14" name="图片 13"/>
          <p:cNvPicPr>
            <a:picLocks noChangeAspect="1"/>
          </p:cNvPicPr>
          <p:nvPr/>
        </p:nvPicPr>
        <p:blipFill>
          <a:blip r:embed="rId1"/>
          <a:stretch>
            <a:fillRect/>
          </a:stretch>
        </p:blipFill>
        <p:spPr>
          <a:xfrm>
            <a:off x="309880" y="1679575"/>
            <a:ext cx="7021830" cy="38912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3617" y="697317"/>
            <a:ext cx="7863840" cy="393192"/>
          </a:xfrm>
          <a:prstGeom prst="rect">
            <a:avLst/>
          </a:prstGeom>
          <a:noFill/>
        </p:spPr>
        <p:txBody>
          <a:bodyPr wrap="square" lIns="0" tIns="0" rIns="0" bIns="0" rtlCol="0" anchor="ctr"/>
          <a:lstStyle/>
          <a:p>
            <a:pPr marL="0" indent="0">
              <a:buNone/>
            </a:pPr>
            <a:r>
              <a:rPr lang="en-US" sz="2800" b="1" dirty="0">
                <a:solidFill>
                  <a:schemeClr val="bg1"/>
                </a:solidFill>
                <a:latin typeface="Times New Roman" panose="02020603050405020304" pitchFamily="18" charset="0"/>
                <a:ea typeface="Aptos Display" pitchFamily="34" charset="-122"/>
                <a:cs typeface="Times New Roman" panose="02020603050405020304" pitchFamily="18" charset="0"/>
              </a:rPr>
              <a:t>Result: lesion correspondence is explicit</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Text 1"/>
          <p:cNvSpPr/>
          <p:nvPr/>
        </p:nvSpPr>
        <p:spPr>
          <a:xfrm>
            <a:off x="648155" y="1154517"/>
            <a:ext cx="8869680" cy="201168"/>
          </a:xfrm>
          <a:prstGeom prst="rect">
            <a:avLst/>
          </a:prstGeom>
          <a:noFill/>
          <a:ln>
            <a:noFill/>
          </a:ln>
        </p:spPr>
        <p:txBody>
          <a:bodyPr wrap="square" lIns="0" tIns="0" rIns="0" bIns="0" rtlCol="0" anchor="ctr"/>
          <a:lstStyle/>
          <a:p>
            <a:pPr marL="0" indent="0">
              <a:buNone/>
            </a:pPr>
            <a:r>
              <a:rPr lang="en-US" sz="1200" dirty="0">
                <a:solidFill>
                  <a:schemeClr val="bg1"/>
                </a:solidFill>
                <a:latin typeface="Times New Roman" panose="02020603050405020304" pitchFamily="18" charset="0"/>
                <a:cs typeface="Times New Roman" panose="02020603050405020304" pitchFamily="18" charset="0"/>
              </a:rPr>
              <a:t>The matcher reports what changed, not just a hidden score.</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6" name="Text 3"/>
          <p:cNvSpPr/>
          <p:nvPr/>
        </p:nvSpPr>
        <p:spPr>
          <a:xfrm>
            <a:off x="6738059" y="1511133"/>
            <a:ext cx="4069080" cy="694944"/>
          </a:xfrm>
          <a:prstGeom prst="rect">
            <a:avLst/>
          </a:prstGeom>
          <a:solidFill>
            <a:srgbClr val="111A2C"/>
          </a:solidFill>
          <a:ln w="10160">
            <a:solidFill>
              <a:srgbClr val="26C9F4"/>
            </a:solidFill>
          </a:ln>
        </p:spPr>
        <p:txBody>
          <a:bodyPr wrap="square" lIns="0" tIns="0" rIns="0" bIns="0" rtlCol="0" anchor="ctr"/>
          <a:lstStyle/>
          <a:p>
            <a:pPr marL="0" indent="0">
              <a:buNone/>
            </a:pPr>
            <a:endParaRPr lang="en-US" sz="3200" dirty="0">
              <a:solidFill>
                <a:schemeClr val="bg1"/>
              </a:solidFill>
              <a:latin typeface="Times New Roman" panose="02020603050405020304" pitchFamily="18" charset="0"/>
              <a:cs typeface="Times New Roman" panose="02020603050405020304" pitchFamily="18" charset="0"/>
            </a:endParaRPr>
          </a:p>
        </p:txBody>
      </p:sp>
      <p:sp>
        <p:nvSpPr>
          <p:cNvPr id="7" name="Text 4"/>
          <p:cNvSpPr/>
          <p:nvPr/>
        </p:nvSpPr>
        <p:spPr>
          <a:xfrm>
            <a:off x="6866075" y="1620861"/>
            <a:ext cx="3813048" cy="219456"/>
          </a:xfrm>
          <a:prstGeom prst="rect">
            <a:avLst/>
          </a:prstGeom>
          <a:noFill/>
          <a:ln>
            <a:noFill/>
          </a:ln>
        </p:spPr>
        <p:txBody>
          <a:bodyPr wrap="square" lIns="0" tIns="0" rIns="0" bIns="0" rtlCol="0" anchor="ctr"/>
          <a:lstStyle/>
          <a:p>
            <a:pPr marL="0" indent="0">
              <a:buNone/>
            </a:pPr>
            <a:r>
              <a:rPr lang="en-US" sz="1200" b="1" dirty="0">
                <a:solidFill>
                  <a:srgbClr val="26C9F4"/>
                </a:solidFill>
                <a:latin typeface="Times New Roman" panose="02020603050405020304" pitchFamily="18" charset="0"/>
                <a:cs typeface="Times New Roman" panose="02020603050405020304" pitchFamily="18" charset="0"/>
              </a:rPr>
              <a:t>MATCHED</a:t>
            </a:r>
            <a:endParaRPr lang="en-US" sz="1200" dirty="0">
              <a:solidFill>
                <a:srgbClr val="26C9F4"/>
              </a:solidFill>
              <a:latin typeface="Times New Roman" panose="02020603050405020304" pitchFamily="18" charset="0"/>
              <a:cs typeface="Times New Roman" panose="02020603050405020304" pitchFamily="18" charset="0"/>
            </a:endParaRPr>
          </a:p>
        </p:txBody>
      </p:sp>
      <p:sp>
        <p:nvSpPr>
          <p:cNvPr id="8" name="Text 5"/>
          <p:cNvSpPr/>
          <p:nvPr/>
        </p:nvSpPr>
        <p:spPr>
          <a:xfrm>
            <a:off x="6866075" y="1895181"/>
            <a:ext cx="3813048" cy="237744"/>
          </a:xfrm>
          <a:prstGeom prst="rect">
            <a:avLst/>
          </a:prstGeom>
          <a:noFill/>
          <a:ln>
            <a:noFill/>
          </a:ln>
        </p:spPr>
        <p:txBody>
          <a:bodyPr wrap="square" lIns="0" tIns="0" rIns="0" bIns="0" rtlCol="0" anchor="ctr">
            <a:noAutofit/>
          </a:bodyPr>
          <a:lstStyle/>
          <a:p>
            <a:pPr marL="0" indent="0">
              <a:buNone/>
            </a:pPr>
            <a:r>
              <a:rPr lang="en-US" sz="1200" dirty="0">
                <a:solidFill>
                  <a:schemeClr val="bg1"/>
                </a:solidFill>
                <a:latin typeface="Times New Roman" panose="02020603050405020304" pitchFamily="18" charset="0"/>
                <a:cs typeface="Times New Roman" panose="02020603050405020304" pitchFamily="18" charset="0"/>
              </a:rPr>
              <a:t>persistent lesion correspondence</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9" name="Text 6"/>
          <p:cNvSpPr/>
          <p:nvPr/>
        </p:nvSpPr>
        <p:spPr>
          <a:xfrm>
            <a:off x="6738059" y="2471253"/>
            <a:ext cx="4069080" cy="694944"/>
          </a:xfrm>
          <a:prstGeom prst="rect">
            <a:avLst/>
          </a:prstGeom>
          <a:solidFill>
            <a:srgbClr val="111A2C"/>
          </a:solidFill>
          <a:ln w="10160">
            <a:solidFill>
              <a:srgbClr val="26C9F4"/>
            </a:solidFill>
          </a:ln>
        </p:spPr>
        <p:txBody>
          <a:bodyPr wrap="square" lIns="0" tIns="0" rIns="0" bIns="0" rtlCol="0" anchor="ctr"/>
          <a:lstStyle/>
          <a:p>
            <a:pPr marL="0" indent="0">
              <a:buNone/>
            </a:pPr>
            <a:endParaRPr lang="en-US" sz="3200" dirty="0">
              <a:solidFill>
                <a:schemeClr val="bg1"/>
              </a:solidFill>
              <a:latin typeface="Times New Roman" panose="02020603050405020304" pitchFamily="18" charset="0"/>
              <a:cs typeface="Times New Roman" panose="02020603050405020304" pitchFamily="18" charset="0"/>
            </a:endParaRPr>
          </a:p>
        </p:txBody>
      </p:sp>
      <p:sp>
        <p:nvSpPr>
          <p:cNvPr id="10" name="Text 7"/>
          <p:cNvSpPr/>
          <p:nvPr/>
        </p:nvSpPr>
        <p:spPr>
          <a:xfrm>
            <a:off x="6866075" y="2580981"/>
            <a:ext cx="3813048" cy="219456"/>
          </a:xfrm>
          <a:prstGeom prst="rect">
            <a:avLst/>
          </a:prstGeom>
          <a:noFill/>
          <a:ln>
            <a:noFill/>
          </a:ln>
        </p:spPr>
        <p:txBody>
          <a:bodyPr wrap="square" lIns="0" tIns="0" rIns="0" bIns="0" rtlCol="0" anchor="ctr"/>
          <a:lstStyle/>
          <a:p>
            <a:pPr marL="0" indent="0">
              <a:buNone/>
            </a:pPr>
            <a:r>
              <a:rPr lang="en-US" sz="1200" b="1" dirty="0">
                <a:solidFill>
                  <a:srgbClr val="26C9F4"/>
                </a:solidFill>
                <a:latin typeface="Times New Roman" panose="02020603050405020304" pitchFamily="18" charset="0"/>
                <a:cs typeface="Times New Roman" panose="02020603050405020304" pitchFamily="18" charset="0"/>
              </a:rPr>
              <a:t>MERGING</a:t>
            </a:r>
            <a:endParaRPr lang="en-US" sz="1200" dirty="0">
              <a:solidFill>
                <a:srgbClr val="26C9F4"/>
              </a:solidFill>
              <a:latin typeface="Times New Roman" panose="02020603050405020304" pitchFamily="18" charset="0"/>
              <a:cs typeface="Times New Roman" panose="02020603050405020304" pitchFamily="18" charset="0"/>
            </a:endParaRPr>
          </a:p>
        </p:txBody>
      </p:sp>
      <p:sp>
        <p:nvSpPr>
          <p:cNvPr id="11" name="Text 8"/>
          <p:cNvSpPr/>
          <p:nvPr/>
        </p:nvSpPr>
        <p:spPr>
          <a:xfrm>
            <a:off x="6866075" y="2855301"/>
            <a:ext cx="3813048" cy="237744"/>
          </a:xfrm>
          <a:prstGeom prst="rect">
            <a:avLst/>
          </a:prstGeom>
          <a:noFill/>
          <a:ln>
            <a:noFill/>
          </a:ln>
        </p:spPr>
        <p:txBody>
          <a:bodyPr wrap="square" lIns="0" tIns="0" rIns="0" bIns="0" rtlCol="0" anchor="ctr">
            <a:noAutofit/>
          </a:bodyPr>
          <a:lstStyle/>
          <a:p>
            <a:pPr marL="0" indent="0">
              <a:buNone/>
            </a:pPr>
            <a:r>
              <a:rPr lang="en-US" sz="1200" dirty="0">
                <a:solidFill>
                  <a:schemeClr val="bg1"/>
                </a:solidFill>
                <a:latin typeface="Times New Roman" panose="02020603050405020304" pitchFamily="18" charset="0"/>
                <a:cs typeface="Times New Roman" panose="02020603050405020304" pitchFamily="18" charset="0"/>
              </a:rPr>
              <a:t>many-to-one correspondence supported</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12" name="Text 9"/>
          <p:cNvSpPr/>
          <p:nvPr/>
        </p:nvSpPr>
        <p:spPr>
          <a:xfrm>
            <a:off x="6738059" y="3431373"/>
            <a:ext cx="4069080" cy="694944"/>
          </a:xfrm>
          <a:prstGeom prst="rect">
            <a:avLst/>
          </a:prstGeom>
          <a:solidFill>
            <a:srgbClr val="111A2C"/>
          </a:solidFill>
          <a:ln w="10160">
            <a:solidFill>
              <a:srgbClr val="26C9F4"/>
            </a:solidFill>
          </a:ln>
        </p:spPr>
        <p:txBody>
          <a:bodyPr wrap="square" lIns="0" tIns="0" rIns="0" bIns="0" rtlCol="0" anchor="ctr"/>
          <a:lstStyle/>
          <a:p>
            <a:pPr marL="0" indent="0">
              <a:buNone/>
            </a:pPr>
            <a:endParaRPr lang="en-US" sz="3200" dirty="0">
              <a:solidFill>
                <a:schemeClr val="bg1"/>
              </a:solidFill>
              <a:latin typeface="Times New Roman" panose="02020603050405020304" pitchFamily="18" charset="0"/>
              <a:cs typeface="Times New Roman" panose="02020603050405020304" pitchFamily="18" charset="0"/>
            </a:endParaRPr>
          </a:p>
        </p:txBody>
      </p:sp>
      <p:sp>
        <p:nvSpPr>
          <p:cNvPr id="13" name="Text 10"/>
          <p:cNvSpPr/>
          <p:nvPr/>
        </p:nvSpPr>
        <p:spPr>
          <a:xfrm>
            <a:off x="6866075" y="3541101"/>
            <a:ext cx="3813048" cy="219456"/>
          </a:xfrm>
          <a:prstGeom prst="rect">
            <a:avLst/>
          </a:prstGeom>
          <a:noFill/>
          <a:ln>
            <a:noFill/>
          </a:ln>
        </p:spPr>
        <p:txBody>
          <a:bodyPr wrap="square" lIns="0" tIns="0" rIns="0" bIns="0" rtlCol="0" anchor="ctr"/>
          <a:lstStyle/>
          <a:p>
            <a:pPr marL="0" indent="0">
              <a:buNone/>
            </a:pPr>
            <a:r>
              <a:rPr lang="en-US" sz="1200" b="1" dirty="0">
                <a:solidFill>
                  <a:srgbClr val="26C9F4"/>
                </a:solidFill>
                <a:latin typeface="Times New Roman" panose="02020603050405020304" pitchFamily="18" charset="0"/>
                <a:cs typeface="Times New Roman" panose="02020603050405020304" pitchFamily="18" charset="0"/>
              </a:rPr>
              <a:t>NEW</a:t>
            </a:r>
            <a:endParaRPr lang="en-US" sz="1200" dirty="0">
              <a:solidFill>
                <a:srgbClr val="26C9F4"/>
              </a:solidFill>
              <a:latin typeface="Times New Roman" panose="02020603050405020304" pitchFamily="18" charset="0"/>
              <a:cs typeface="Times New Roman" panose="02020603050405020304" pitchFamily="18" charset="0"/>
            </a:endParaRPr>
          </a:p>
        </p:txBody>
      </p:sp>
      <p:sp>
        <p:nvSpPr>
          <p:cNvPr id="14" name="Text 11"/>
          <p:cNvSpPr/>
          <p:nvPr/>
        </p:nvSpPr>
        <p:spPr>
          <a:xfrm>
            <a:off x="6866075" y="3815421"/>
            <a:ext cx="3813048" cy="237744"/>
          </a:xfrm>
          <a:prstGeom prst="rect">
            <a:avLst/>
          </a:prstGeom>
          <a:noFill/>
          <a:ln>
            <a:noFill/>
          </a:ln>
        </p:spPr>
        <p:txBody>
          <a:bodyPr wrap="square" lIns="0" tIns="0" rIns="0" bIns="0" rtlCol="0" anchor="ctr">
            <a:noAutofit/>
          </a:bodyPr>
          <a:lstStyle/>
          <a:p>
            <a:pPr marL="0" indent="0">
              <a:buNone/>
            </a:pPr>
            <a:r>
              <a:rPr lang="en-US" sz="1200" dirty="0">
                <a:solidFill>
                  <a:schemeClr val="bg1"/>
                </a:solidFill>
                <a:latin typeface="Times New Roman" panose="02020603050405020304" pitchFamily="18" charset="0"/>
                <a:cs typeface="Times New Roman" panose="02020603050405020304" pitchFamily="18" charset="0"/>
              </a:rPr>
              <a:t>follow-up lesion with no BL match</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15" name="Text 12"/>
          <p:cNvSpPr/>
          <p:nvPr/>
        </p:nvSpPr>
        <p:spPr>
          <a:xfrm>
            <a:off x="6738059" y="4391493"/>
            <a:ext cx="4069080" cy="694944"/>
          </a:xfrm>
          <a:prstGeom prst="rect">
            <a:avLst/>
          </a:prstGeom>
          <a:solidFill>
            <a:srgbClr val="111A2C"/>
          </a:solidFill>
          <a:ln w="10160">
            <a:solidFill>
              <a:srgbClr val="26C9F4"/>
            </a:solidFill>
          </a:ln>
        </p:spPr>
        <p:txBody>
          <a:bodyPr wrap="square" lIns="0" tIns="0" rIns="0" bIns="0" rtlCol="0" anchor="ctr"/>
          <a:lstStyle/>
          <a:p>
            <a:pPr marL="0" indent="0">
              <a:buNone/>
            </a:pPr>
            <a:endParaRPr lang="en-US" sz="3200" dirty="0">
              <a:solidFill>
                <a:schemeClr val="bg1"/>
              </a:solidFill>
              <a:latin typeface="Times New Roman" panose="02020603050405020304" pitchFamily="18" charset="0"/>
              <a:cs typeface="Times New Roman" panose="02020603050405020304" pitchFamily="18" charset="0"/>
            </a:endParaRPr>
          </a:p>
        </p:txBody>
      </p:sp>
      <p:sp>
        <p:nvSpPr>
          <p:cNvPr id="16" name="Text 13"/>
          <p:cNvSpPr/>
          <p:nvPr/>
        </p:nvSpPr>
        <p:spPr>
          <a:xfrm>
            <a:off x="6866075" y="4501221"/>
            <a:ext cx="3813048" cy="219456"/>
          </a:xfrm>
          <a:prstGeom prst="rect">
            <a:avLst/>
          </a:prstGeom>
          <a:noFill/>
          <a:ln>
            <a:noFill/>
          </a:ln>
        </p:spPr>
        <p:txBody>
          <a:bodyPr wrap="square" lIns="0" tIns="0" rIns="0" bIns="0" rtlCol="0" anchor="ctr"/>
          <a:lstStyle/>
          <a:p>
            <a:pPr marL="0" indent="0">
              <a:buNone/>
            </a:pPr>
            <a:r>
              <a:rPr lang="en-US" sz="1200" b="1" dirty="0">
                <a:solidFill>
                  <a:srgbClr val="26C9F4"/>
                </a:solidFill>
                <a:latin typeface="Times New Roman" panose="02020603050405020304" pitchFamily="18" charset="0"/>
                <a:cs typeface="Times New Roman" panose="02020603050405020304" pitchFamily="18" charset="0"/>
              </a:rPr>
              <a:t>DISAPPEARING</a:t>
            </a:r>
            <a:endParaRPr lang="en-US" sz="1200" dirty="0">
              <a:solidFill>
                <a:srgbClr val="26C9F4"/>
              </a:solidFill>
              <a:latin typeface="Times New Roman" panose="02020603050405020304" pitchFamily="18" charset="0"/>
              <a:cs typeface="Times New Roman" panose="02020603050405020304" pitchFamily="18" charset="0"/>
            </a:endParaRPr>
          </a:p>
        </p:txBody>
      </p:sp>
      <p:sp>
        <p:nvSpPr>
          <p:cNvPr id="17" name="Text 14"/>
          <p:cNvSpPr/>
          <p:nvPr/>
        </p:nvSpPr>
        <p:spPr>
          <a:xfrm>
            <a:off x="6866075" y="4775541"/>
            <a:ext cx="3813048" cy="237744"/>
          </a:xfrm>
          <a:prstGeom prst="rect">
            <a:avLst/>
          </a:prstGeom>
          <a:noFill/>
          <a:ln>
            <a:noFill/>
          </a:ln>
        </p:spPr>
        <p:txBody>
          <a:bodyPr wrap="square" lIns="0" tIns="0" rIns="0" bIns="0" rtlCol="0" anchor="ctr">
            <a:noAutofit/>
          </a:bodyPr>
          <a:lstStyle/>
          <a:p>
            <a:pPr marL="0" indent="0">
              <a:buNone/>
            </a:pPr>
            <a:r>
              <a:rPr lang="en-US" sz="1200" dirty="0">
                <a:solidFill>
                  <a:schemeClr val="bg1"/>
                </a:solidFill>
                <a:latin typeface="Times New Roman" panose="02020603050405020304" pitchFamily="18" charset="0"/>
                <a:cs typeface="Times New Roman" panose="02020603050405020304" pitchFamily="18" charset="0"/>
              </a:rPr>
              <a:t>baseline lesion with no FU match</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18" name="Shape 15"/>
          <p:cNvSpPr/>
          <p:nvPr/>
        </p:nvSpPr>
        <p:spPr>
          <a:xfrm>
            <a:off x="840179" y="5625933"/>
            <a:ext cx="10561320" cy="502920"/>
          </a:xfrm>
          <a:prstGeom prst="roundRect">
            <a:avLst>
              <a:gd name="adj" fmla="val 14545"/>
            </a:avLst>
          </a:prstGeom>
          <a:solidFill>
            <a:srgbClr val="152239"/>
          </a:solidFill>
          <a:ln w="8890">
            <a:solidFill>
              <a:srgbClr val="26C9F4"/>
            </a:solidFill>
            <a:prstDash val="solid"/>
          </a:ln>
        </p:spPr>
        <p:txBody>
          <a:bodyPr/>
          <a:lstStyle/>
          <a:p>
            <a:endParaRPr lang="zh-CN" altLang="en-US" sz="3200">
              <a:solidFill>
                <a:schemeClr val="bg1"/>
              </a:solidFill>
              <a:latin typeface="Times New Roman" panose="02020603050405020304" pitchFamily="18" charset="0"/>
              <a:cs typeface="Times New Roman" panose="02020603050405020304" pitchFamily="18" charset="0"/>
            </a:endParaRPr>
          </a:p>
        </p:txBody>
      </p:sp>
      <p:sp>
        <p:nvSpPr>
          <p:cNvPr id="19" name="Text 16"/>
          <p:cNvSpPr/>
          <p:nvPr/>
        </p:nvSpPr>
        <p:spPr>
          <a:xfrm>
            <a:off x="1023059" y="5808813"/>
            <a:ext cx="10195560" cy="182880"/>
          </a:xfrm>
          <a:prstGeom prst="rect">
            <a:avLst/>
          </a:prstGeom>
          <a:noFill/>
          <a:ln>
            <a:noFill/>
          </a:ln>
        </p:spPr>
        <p:txBody>
          <a:bodyPr wrap="square" lIns="508" tIns="508" rIns="508" bIns="508" rtlCol="0" anchor="t">
            <a:normAutofit lnSpcReduction="10000"/>
          </a:bodyPr>
          <a:lstStyle/>
          <a:p>
            <a:pPr marL="0" indent="0" algn="ctr">
              <a:buNone/>
            </a:pPr>
            <a:r>
              <a:rPr lang="en-US" sz="1200" b="1" dirty="0">
                <a:solidFill>
                  <a:schemeClr val="bg1"/>
                </a:solidFill>
                <a:latin typeface="Times New Roman" panose="02020603050405020304" pitchFamily="18" charset="0"/>
                <a:ea typeface="Aptos" pitchFamily="34" charset="-122"/>
                <a:cs typeface="Times New Roman" panose="02020603050405020304" pitchFamily="18" charset="0"/>
              </a:rPr>
              <a:t>Acceptance: the user can inspect not only the final correspondence but also the lesion IDs, cost details, and outcome category.</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25" name="Slide Number Placeholder 0"/>
          <p:cNvSpPr>
            <a:spLocks noGrp="1"/>
          </p:cNvSpPr>
          <p:nvPr>
            <p:ph type="sldNum" sz="quarter" idx="4294967295"/>
          </p:nvPr>
        </p:nvSpPr>
        <p:spPr>
          <a:xfrm>
            <a:off x="11567160" y="6574536"/>
            <a:ext cx="800000" cy="300000"/>
          </a:xfrm>
          <a:prstGeom prst="rect">
            <a:avLst/>
          </a:prstGeom>
        </p:spPr>
        <p:txBody>
          <a:bodyPr/>
          <a:lstStyle>
            <a:lvl1pPr>
              <a:defRPr sz="550">
                <a:solidFill>
                  <a:srgbClr val="6F7D91"/>
                </a:solidFill>
                <a:latin typeface="Aptos"/>
                <a:ea typeface="Aptos"/>
                <a:cs typeface="Aptos"/>
              </a:defRPr>
            </a:lvl1pPr>
          </a:lstStyle>
          <a:p>
            <a:pPr algn="l"/>
            <a:fld id="{F7021451-1387-4CA6-816F-3879F97B5CBC}" type="slidenum">
              <a:rPr lang="en-US" b="0">
                <a:solidFill>
                  <a:schemeClr val="bg1"/>
                </a:solidFill>
                <a:latin typeface="Times New Roman" panose="02020603050405020304" pitchFamily="18" charset="0"/>
                <a:cs typeface="Times New Roman" panose="02020603050405020304" pitchFamily="18" charset="0"/>
              </a:rPr>
            </a:fld>
            <a:endParaRPr lang="en-US">
              <a:solidFill>
                <a:schemeClr val="bg1"/>
              </a:solidFill>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556260" y="1595120"/>
            <a:ext cx="5767070" cy="341820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3614" y="697320"/>
            <a:ext cx="10373896" cy="393192"/>
          </a:xfrm>
          <a:prstGeom prst="rect">
            <a:avLst/>
          </a:prstGeom>
          <a:noFill/>
        </p:spPr>
        <p:txBody>
          <a:bodyPr wrap="square" lIns="0" tIns="0" rIns="0" bIns="0" rtlCol="0" anchor="ctr"/>
          <a:lstStyle/>
          <a:p>
            <a:pPr marL="0" indent="0">
              <a:buNone/>
            </a:pPr>
            <a:r>
              <a:rPr lang="en-US" sz="2800" b="1" dirty="0">
                <a:solidFill>
                  <a:schemeClr val="bg1"/>
                </a:solidFill>
                <a:latin typeface="Times New Roman" panose="02020603050405020304" pitchFamily="18" charset="0"/>
                <a:ea typeface="Aptos Display" pitchFamily="34" charset="-122"/>
                <a:cs typeface="Times New Roman" panose="02020603050405020304" pitchFamily="18" charset="0"/>
              </a:rPr>
              <a:t>Result: quantitative evaluation when ground truth is available</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Text 1"/>
          <p:cNvSpPr/>
          <p:nvPr/>
        </p:nvSpPr>
        <p:spPr>
          <a:xfrm>
            <a:off x="648152" y="1154520"/>
            <a:ext cx="8869680" cy="201168"/>
          </a:xfrm>
          <a:prstGeom prst="rect">
            <a:avLst/>
          </a:prstGeom>
          <a:noFill/>
        </p:spPr>
        <p:txBody>
          <a:bodyPr wrap="square" lIns="0" tIns="0" rIns="0" bIns="0" rtlCol="0" anchor="ctr"/>
          <a:lstStyle/>
          <a:p>
            <a:pPr marL="0" indent="0">
              <a:buNone/>
            </a:pPr>
            <a:r>
              <a:rPr lang="en-US" sz="1200" dirty="0">
                <a:solidFill>
                  <a:schemeClr val="bg1"/>
                </a:solidFill>
                <a:latin typeface="Times New Roman" panose="02020603050405020304" pitchFamily="18" charset="0"/>
                <a:cs typeface="Times New Roman" panose="02020603050405020304" pitchFamily="18" charset="0"/>
              </a:rPr>
              <a:t>Expert correspondence is kept separate from prediction and used only for evaluation.</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5" name="Text 3"/>
          <p:cNvSpPr/>
          <p:nvPr/>
        </p:nvSpPr>
        <p:spPr>
          <a:xfrm>
            <a:off x="1164490" y="1962516"/>
            <a:ext cx="1600200" cy="420624"/>
          </a:xfrm>
          <a:prstGeom prst="rect">
            <a:avLst/>
          </a:prstGeom>
          <a:noFill/>
        </p:spPr>
        <p:txBody>
          <a:bodyPr wrap="square" lIns="0" tIns="0" rIns="0" bIns="0" rtlCol="0" anchor="ctr"/>
          <a:lstStyle/>
          <a:p>
            <a:pPr marL="0" indent="0" algn="ctr">
              <a:buNone/>
            </a:pPr>
            <a:r>
              <a:rPr lang="en-US" sz="2500" b="1" dirty="0">
                <a:solidFill>
                  <a:srgbClr val="26C9F4"/>
                </a:solidFill>
                <a:latin typeface="Times New Roman" panose="02020603050405020304" pitchFamily="18" charset="0"/>
                <a:cs typeface="Times New Roman" panose="02020603050405020304" pitchFamily="18" charset="0"/>
              </a:rPr>
              <a:t>91.0%</a:t>
            </a:r>
            <a:endParaRPr lang="en-US" sz="2500" dirty="0">
              <a:solidFill>
                <a:srgbClr val="26C9F4"/>
              </a:solidFill>
              <a:latin typeface="Times New Roman" panose="02020603050405020304" pitchFamily="18" charset="0"/>
              <a:cs typeface="Times New Roman" panose="02020603050405020304" pitchFamily="18" charset="0"/>
            </a:endParaRPr>
          </a:p>
        </p:txBody>
      </p:sp>
      <p:sp>
        <p:nvSpPr>
          <p:cNvPr id="6" name="Text 4"/>
          <p:cNvSpPr/>
          <p:nvPr/>
        </p:nvSpPr>
        <p:spPr>
          <a:xfrm>
            <a:off x="1164490" y="2438004"/>
            <a:ext cx="1600200" cy="201168"/>
          </a:xfrm>
          <a:prstGeom prst="rect">
            <a:avLst/>
          </a:prstGeom>
          <a:noFill/>
        </p:spPr>
        <p:txBody>
          <a:bodyPr wrap="square" lIns="0" tIns="0" rIns="0" bIns="0" rtlCol="0" anchor="ctr"/>
          <a:lstStyle/>
          <a:p>
            <a:pPr marL="0" indent="0" algn="ctr">
              <a:buNone/>
            </a:pPr>
            <a:r>
              <a:rPr lang="en-US" sz="1050" b="1" dirty="0">
                <a:solidFill>
                  <a:schemeClr val="bg1"/>
                </a:solidFill>
                <a:latin typeface="Times New Roman" panose="02020603050405020304" pitchFamily="18" charset="0"/>
                <a:cs typeface="Times New Roman" panose="02020603050405020304" pitchFamily="18" charset="0"/>
              </a:rPr>
              <a:t>tracking accuracy</a:t>
            </a:r>
            <a:endParaRPr lang="en-US" sz="1050" dirty="0">
              <a:solidFill>
                <a:schemeClr val="bg1"/>
              </a:solidFill>
              <a:latin typeface="Times New Roman" panose="02020603050405020304" pitchFamily="18" charset="0"/>
              <a:cs typeface="Times New Roman" panose="02020603050405020304" pitchFamily="18" charset="0"/>
            </a:endParaRPr>
          </a:p>
        </p:txBody>
      </p:sp>
      <p:sp>
        <p:nvSpPr>
          <p:cNvPr id="7" name="Text 5"/>
          <p:cNvSpPr/>
          <p:nvPr/>
        </p:nvSpPr>
        <p:spPr>
          <a:xfrm>
            <a:off x="3285898" y="1962516"/>
            <a:ext cx="1600200" cy="420624"/>
          </a:xfrm>
          <a:prstGeom prst="rect">
            <a:avLst/>
          </a:prstGeom>
          <a:noFill/>
        </p:spPr>
        <p:txBody>
          <a:bodyPr wrap="square" lIns="0" tIns="0" rIns="0" bIns="0" rtlCol="0" anchor="ctr"/>
          <a:lstStyle/>
          <a:p>
            <a:pPr marL="0" indent="0" algn="ctr">
              <a:buNone/>
            </a:pPr>
            <a:r>
              <a:rPr lang="en-US" sz="2500" b="1" dirty="0">
                <a:solidFill>
                  <a:srgbClr val="26C9F4"/>
                </a:solidFill>
                <a:latin typeface="Times New Roman" panose="02020603050405020304" pitchFamily="18" charset="0"/>
                <a:cs typeface="Times New Roman" panose="02020603050405020304" pitchFamily="18" charset="0"/>
              </a:rPr>
              <a:t>90.4%</a:t>
            </a:r>
            <a:endParaRPr lang="en-US" sz="2500" dirty="0">
              <a:solidFill>
                <a:srgbClr val="26C9F4"/>
              </a:solidFill>
              <a:latin typeface="Times New Roman" panose="02020603050405020304" pitchFamily="18" charset="0"/>
              <a:cs typeface="Times New Roman" panose="02020603050405020304" pitchFamily="18" charset="0"/>
            </a:endParaRPr>
          </a:p>
        </p:txBody>
      </p:sp>
      <p:sp>
        <p:nvSpPr>
          <p:cNvPr id="8" name="Text 6"/>
          <p:cNvSpPr/>
          <p:nvPr/>
        </p:nvSpPr>
        <p:spPr>
          <a:xfrm>
            <a:off x="3285898" y="2438004"/>
            <a:ext cx="1600200" cy="201168"/>
          </a:xfrm>
          <a:prstGeom prst="rect">
            <a:avLst/>
          </a:prstGeom>
          <a:noFill/>
        </p:spPr>
        <p:txBody>
          <a:bodyPr wrap="square" lIns="0" tIns="0" rIns="0" bIns="0" rtlCol="0" anchor="ctr"/>
          <a:lstStyle/>
          <a:p>
            <a:pPr marL="0" indent="0" algn="ctr">
              <a:buNone/>
            </a:pPr>
            <a:r>
              <a:rPr lang="en-US" sz="1050" b="1" dirty="0">
                <a:solidFill>
                  <a:schemeClr val="bg1"/>
                </a:solidFill>
                <a:latin typeface="Times New Roman" panose="02020603050405020304" pitchFamily="18" charset="0"/>
                <a:cs typeface="Times New Roman" panose="02020603050405020304" pitchFamily="18" charset="0"/>
              </a:rPr>
              <a:t>precision</a:t>
            </a:r>
            <a:endParaRPr lang="en-US" sz="1050" dirty="0">
              <a:solidFill>
                <a:schemeClr val="bg1"/>
              </a:solidFill>
              <a:latin typeface="Times New Roman" panose="02020603050405020304" pitchFamily="18" charset="0"/>
              <a:cs typeface="Times New Roman" panose="02020603050405020304" pitchFamily="18" charset="0"/>
            </a:endParaRPr>
          </a:p>
        </p:txBody>
      </p:sp>
      <p:sp>
        <p:nvSpPr>
          <p:cNvPr id="9" name="Text 7"/>
          <p:cNvSpPr/>
          <p:nvPr/>
        </p:nvSpPr>
        <p:spPr>
          <a:xfrm>
            <a:off x="5407306" y="1962516"/>
            <a:ext cx="1600200" cy="420624"/>
          </a:xfrm>
          <a:prstGeom prst="rect">
            <a:avLst/>
          </a:prstGeom>
          <a:noFill/>
        </p:spPr>
        <p:txBody>
          <a:bodyPr wrap="square" lIns="0" tIns="0" rIns="0" bIns="0" rtlCol="0" anchor="ctr"/>
          <a:lstStyle/>
          <a:p>
            <a:pPr marL="0" indent="0" algn="ctr">
              <a:buNone/>
            </a:pPr>
            <a:r>
              <a:rPr lang="en-US" sz="2500" b="1" dirty="0">
                <a:solidFill>
                  <a:srgbClr val="26C9F4"/>
                </a:solidFill>
                <a:latin typeface="Times New Roman" panose="02020603050405020304" pitchFamily="18" charset="0"/>
                <a:cs typeface="Times New Roman" panose="02020603050405020304" pitchFamily="18" charset="0"/>
              </a:rPr>
              <a:t>91.0%</a:t>
            </a:r>
            <a:endParaRPr lang="en-US" sz="2500" dirty="0">
              <a:solidFill>
                <a:srgbClr val="26C9F4"/>
              </a:solidFill>
              <a:latin typeface="Times New Roman" panose="02020603050405020304" pitchFamily="18" charset="0"/>
              <a:cs typeface="Times New Roman" panose="02020603050405020304" pitchFamily="18" charset="0"/>
            </a:endParaRPr>
          </a:p>
        </p:txBody>
      </p:sp>
      <p:sp>
        <p:nvSpPr>
          <p:cNvPr id="10" name="Text 8"/>
          <p:cNvSpPr/>
          <p:nvPr/>
        </p:nvSpPr>
        <p:spPr>
          <a:xfrm>
            <a:off x="5407306" y="2438004"/>
            <a:ext cx="1600200" cy="201168"/>
          </a:xfrm>
          <a:prstGeom prst="rect">
            <a:avLst/>
          </a:prstGeom>
          <a:noFill/>
        </p:spPr>
        <p:txBody>
          <a:bodyPr wrap="square" lIns="0" tIns="0" rIns="0" bIns="0" rtlCol="0" anchor="ctr"/>
          <a:lstStyle/>
          <a:p>
            <a:pPr marL="0" indent="0" algn="ctr">
              <a:buNone/>
            </a:pPr>
            <a:r>
              <a:rPr lang="en-US" sz="1050" b="1" dirty="0">
                <a:solidFill>
                  <a:schemeClr val="bg1"/>
                </a:solidFill>
                <a:latin typeface="Times New Roman" panose="02020603050405020304" pitchFamily="18" charset="0"/>
                <a:cs typeface="Times New Roman" panose="02020603050405020304" pitchFamily="18" charset="0"/>
              </a:rPr>
              <a:t>recall</a:t>
            </a:r>
            <a:endParaRPr lang="en-US" sz="1050" dirty="0">
              <a:solidFill>
                <a:schemeClr val="bg1"/>
              </a:solidFill>
              <a:latin typeface="Times New Roman" panose="02020603050405020304" pitchFamily="18" charset="0"/>
              <a:cs typeface="Times New Roman" panose="02020603050405020304" pitchFamily="18" charset="0"/>
            </a:endParaRPr>
          </a:p>
        </p:txBody>
      </p:sp>
      <p:sp>
        <p:nvSpPr>
          <p:cNvPr id="11" name="Text 9"/>
          <p:cNvSpPr/>
          <p:nvPr/>
        </p:nvSpPr>
        <p:spPr>
          <a:xfrm>
            <a:off x="1164490" y="3581004"/>
            <a:ext cx="1600200" cy="420624"/>
          </a:xfrm>
          <a:prstGeom prst="rect">
            <a:avLst/>
          </a:prstGeom>
          <a:noFill/>
        </p:spPr>
        <p:txBody>
          <a:bodyPr wrap="square" lIns="0" tIns="0" rIns="0" bIns="0" rtlCol="0" anchor="ctr"/>
          <a:lstStyle/>
          <a:p>
            <a:pPr marL="0" indent="0" algn="ctr">
              <a:buNone/>
            </a:pPr>
            <a:r>
              <a:rPr lang="en-US" sz="2500" b="1" dirty="0">
                <a:solidFill>
                  <a:srgbClr val="26C9F4"/>
                </a:solidFill>
                <a:latin typeface="Times New Roman" panose="02020603050405020304" pitchFamily="18" charset="0"/>
                <a:cs typeface="Times New Roman" panose="02020603050405020304" pitchFamily="18" charset="0"/>
              </a:rPr>
              <a:t>90.7%</a:t>
            </a:r>
            <a:endParaRPr lang="en-US" sz="2500" dirty="0">
              <a:solidFill>
                <a:srgbClr val="26C9F4"/>
              </a:solidFill>
              <a:latin typeface="Times New Roman" panose="02020603050405020304" pitchFamily="18" charset="0"/>
              <a:cs typeface="Times New Roman" panose="02020603050405020304" pitchFamily="18" charset="0"/>
            </a:endParaRPr>
          </a:p>
        </p:txBody>
      </p:sp>
      <p:sp>
        <p:nvSpPr>
          <p:cNvPr id="12" name="Text 10"/>
          <p:cNvSpPr/>
          <p:nvPr/>
        </p:nvSpPr>
        <p:spPr>
          <a:xfrm>
            <a:off x="1164490" y="4056492"/>
            <a:ext cx="1600200" cy="201168"/>
          </a:xfrm>
          <a:prstGeom prst="rect">
            <a:avLst/>
          </a:prstGeom>
          <a:noFill/>
        </p:spPr>
        <p:txBody>
          <a:bodyPr wrap="square" lIns="0" tIns="0" rIns="0" bIns="0" rtlCol="0" anchor="ctr"/>
          <a:lstStyle/>
          <a:p>
            <a:pPr marL="0" indent="0" algn="ctr">
              <a:buNone/>
            </a:pPr>
            <a:r>
              <a:rPr lang="en-US" sz="1050" b="1" dirty="0">
                <a:solidFill>
                  <a:schemeClr val="bg1"/>
                </a:solidFill>
                <a:latin typeface="Times New Roman" panose="02020603050405020304" pitchFamily="18" charset="0"/>
                <a:cs typeface="Times New Roman" panose="02020603050405020304" pitchFamily="18" charset="0"/>
              </a:rPr>
              <a:t>F1 score</a:t>
            </a:r>
            <a:endParaRPr lang="en-US" sz="1050" dirty="0">
              <a:solidFill>
                <a:schemeClr val="bg1"/>
              </a:solidFill>
              <a:latin typeface="Times New Roman" panose="02020603050405020304" pitchFamily="18" charset="0"/>
              <a:cs typeface="Times New Roman" panose="02020603050405020304" pitchFamily="18" charset="0"/>
            </a:endParaRPr>
          </a:p>
        </p:txBody>
      </p:sp>
      <p:sp>
        <p:nvSpPr>
          <p:cNvPr id="13" name="Text 11"/>
          <p:cNvSpPr/>
          <p:nvPr/>
        </p:nvSpPr>
        <p:spPr>
          <a:xfrm>
            <a:off x="3285898" y="3581004"/>
            <a:ext cx="1600200" cy="420624"/>
          </a:xfrm>
          <a:prstGeom prst="rect">
            <a:avLst/>
          </a:prstGeom>
          <a:noFill/>
        </p:spPr>
        <p:txBody>
          <a:bodyPr wrap="square" lIns="0" tIns="0" rIns="0" bIns="0" rtlCol="0" anchor="ctr"/>
          <a:lstStyle/>
          <a:p>
            <a:pPr marL="0" indent="0" algn="ctr">
              <a:buNone/>
            </a:pPr>
            <a:r>
              <a:rPr lang="en-US" sz="2500" b="1" dirty="0">
                <a:solidFill>
                  <a:srgbClr val="26C9F4"/>
                </a:solidFill>
                <a:latin typeface="Times New Roman" panose="02020603050405020304" pitchFamily="18" charset="0"/>
                <a:cs typeface="Times New Roman" panose="02020603050405020304" pitchFamily="18" charset="0"/>
              </a:rPr>
              <a:t>88.5%</a:t>
            </a:r>
            <a:endParaRPr lang="en-US" sz="2500" dirty="0">
              <a:solidFill>
                <a:srgbClr val="26C9F4"/>
              </a:solidFill>
              <a:latin typeface="Times New Roman" panose="02020603050405020304" pitchFamily="18" charset="0"/>
              <a:cs typeface="Times New Roman" panose="02020603050405020304" pitchFamily="18" charset="0"/>
            </a:endParaRPr>
          </a:p>
        </p:txBody>
      </p:sp>
      <p:sp>
        <p:nvSpPr>
          <p:cNvPr id="14" name="Text 12"/>
          <p:cNvSpPr/>
          <p:nvPr/>
        </p:nvSpPr>
        <p:spPr>
          <a:xfrm>
            <a:off x="3285898" y="4056492"/>
            <a:ext cx="1600200" cy="201168"/>
          </a:xfrm>
          <a:prstGeom prst="rect">
            <a:avLst/>
          </a:prstGeom>
          <a:noFill/>
        </p:spPr>
        <p:txBody>
          <a:bodyPr wrap="square" lIns="0" tIns="0" rIns="0" bIns="0" rtlCol="0" anchor="ctr"/>
          <a:lstStyle/>
          <a:p>
            <a:pPr marL="0" indent="0" algn="ctr">
              <a:buNone/>
            </a:pPr>
            <a:r>
              <a:rPr lang="en-US" sz="1050" b="1" dirty="0">
                <a:solidFill>
                  <a:schemeClr val="bg1"/>
                </a:solidFill>
                <a:latin typeface="Times New Roman" panose="02020603050405020304" pitchFamily="18" charset="0"/>
                <a:cs typeface="Times New Roman" panose="02020603050405020304" pitchFamily="18" charset="0"/>
              </a:rPr>
              <a:t>topology accuracy</a:t>
            </a:r>
            <a:endParaRPr lang="en-US" sz="1050" dirty="0">
              <a:solidFill>
                <a:schemeClr val="bg1"/>
              </a:solidFill>
              <a:latin typeface="Times New Roman" panose="02020603050405020304" pitchFamily="18" charset="0"/>
              <a:cs typeface="Times New Roman" panose="02020603050405020304" pitchFamily="18" charset="0"/>
            </a:endParaRPr>
          </a:p>
        </p:txBody>
      </p:sp>
      <p:sp>
        <p:nvSpPr>
          <p:cNvPr id="15" name="Text 13"/>
          <p:cNvSpPr/>
          <p:nvPr/>
        </p:nvSpPr>
        <p:spPr>
          <a:xfrm>
            <a:off x="5407306" y="3581004"/>
            <a:ext cx="1600200" cy="420624"/>
          </a:xfrm>
          <a:prstGeom prst="rect">
            <a:avLst/>
          </a:prstGeom>
          <a:noFill/>
        </p:spPr>
        <p:txBody>
          <a:bodyPr wrap="square" lIns="0" tIns="0" rIns="0" bIns="0" rtlCol="0" anchor="ctr"/>
          <a:lstStyle/>
          <a:p>
            <a:pPr marL="0" indent="0" algn="ctr">
              <a:buNone/>
            </a:pPr>
            <a:r>
              <a:rPr lang="en-US" sz="2500" b="1" dirty="0">
                <a:solidFill>
                  <a:srgbClr val="26C9F4"/>
                </a:solidFill>
                <a:latin typeface="Times New Roman" panose="02020603050405020304" pitchFamily="18" charset="0"/>
                <a:cs typeface="Times New Roman" panose="02020603050405020304" pitchFamily="18" charset="0"/>
              </a:rPr>
              <a:t>88.2%</a:t>
            </a:r>
            <a:endParaRPr lang="en-US" sz="2500" dirty="0">
              <a:solidFill>
                <a:srgbClr val="26C9F4"/>
              </a:solidFill>
              <a:latin typeface="Times New Roman" panose="02020603050405020304" pitchFamily="18" charset="0"/>
              <a:cs typeface="Times New Roman" panose="02020603050405020304" pitchFamily="18" charset="0"/>
            </a:endParaRPr>
          </a:p>
        </p:txBody>
      </p:sp>
      <p:sp>
        <p:nvSpPr>
          <p:cNvPr id="16" name="Text 14"/>
          <p:cNvSpPr/>
          <p:nvPr/>
        </p:nvSpPr>
        <p:spPr>
          <a:xfrm>
            <a:off x="5407306" y="4056492"/>
            <a:ext cx="1600200" cy="201168"/>
          </a:xfrm>
          <a:prstGeom prst="rect">
            <a:avLst/>
          </a:prstGeom>
          <a:noFill/>
        </p:spPr>
        <p:txBody>
          <a:bodyPr wrap="square" lIns="0" tIns="0" rIns="0" bIns="0" rtlCol="0" anchor="ctr"/>
          <a:lstStyle/>
          <a:p>
            <a:pPr marL="0" indent="0" algn="ctr">
              <a:buNone/>
            </a:pPr>
            <a:r>
              <a:rPr lang="en-US" sz="1050" b="1" dirty="0">
                <a:solidFill>
                  <a:schemeClr val="bg1"/>
                </a:solidFill>
                <a:latin typeface="Times New Roman" panose="02020603050405020304" pitchFamily="18" charset="0"/>
                <a:cs typeface="Times New Roman" panose="02020603050405020304" pitchFamily="18" charset="0"/>
              </a:rPr>
              <a:t>topology F1</a:t>
            </a:r>
            <a:endParaRPr lang="en-US" sz="1050" dirty="0">
              <a:solidFill>
                <a:schemeClr val="bg1"/>
              </a:solidFill>
              <a:latin typeface="Times New Roman" panose="02020603050405020304" pitchFamily="18" charset="0"/>
              <a:cs typeface="Times New Roman" panose="02020603050405020304" pitchFamily="18" charset="0"/>
            </a:endParaRPr>
          </a:p>
        </p:txBody>
      </p:sp>
      <p:sp>
        <p:nvSpPr>
          <p:cNvPr id="18" name="Shape 15"/>
          <p:cNvSpPr/>
          <p:nvPr/>
        </p:nvSpPr>
        <p:spPr>
          <a:xfrm>
            <a:off x="1382680" y="5396475"/>
            <a:ext cx="9671074" cy="605225"/>
          </a:xfrm>
          <a:prstGeom prst="roundRect">
            <a:avLst>
              <a:gd name="adj" fmla="val 10667"/>
            </a:avLst>
          </a:prstGeom>
          <a:solidFill>
            <a:srgbClr val="152239"/>
          </a:solidFill>
          <a:ln w="8890">
            <a:solidFill>
              <a:srgbClr val="26C9F4"/>
            </a:solidFill>
            <a:prstDash val="solid"/>
          </a:ln>
        </p:spPr>
        <p:txBody>
          <a:bodyPr/>
          <a:lstStyle/>
          <a:p>
            <a:endParaRPr lang="zh-CN" altLang="en-US">
              <a:solidFill>
                <a:schemeClr val="bg1"/>
              </a:solidFill>
              <a:latin typeface="Times New Roman" panose="02020603050405020304" pitchFamily="18" charset="0"/>
              <a:cs typeface="Times New Roman" panose="02020603050405020304" pitchFamily="18" charset="0"/>
            </a:endParaRPr>
          </a:p>
        </p:txBody>
      </p:sp>
      <p:sp>
        <p:nvSpPr>
          <p:cNvPr id="19" name="Text 16"/>
          <p:cNvSpPr/>
          <p:nvPr/>
        </p:nvSpPr>
        <p:spPr>
          <a:xfrm>
            <a:off x="1019495" y="5598504"/>
            <a:ext cx="10287000" cy="201168"/>
          </a:xfrm>
          <a:prstGeom prst="rect">
            <a:avLst/>
          </a:prstGeom>
          <a:noFill/>
        </p:spPr>
        <p:txBody>
          <a:bodyPr wrap="square" lIns="508" tIns="508" rIns="508" bIns="508" rtlCol="0" anchor="t">
            <a:normAutofit/>
          </a:bodyPr>
          <a:lstStyle/>
          <a:p>
            <a:pPr marL="0" indent="0" algn="ctr">
              <a:buNone/>
            </a:pPr>
            <a:r>
              <a:rPr lang="en-US" sz="1200" b="1" dirty="0">
                <a:solidFill>
                  <a:schemeClr val="bg1"/>
                </a:solidFill>
                <a:latin typeface="Times New Roman" panose="02020603050405020304" pitchFamily="18" charset="0"/>
                <a:ea typeface="Aptos" pitchFamily="34" charset="-122"/>
                <a:cs typeface="Times New Roman" panose="02020603050405020304" pitchFamily="18" charset="0"/>
              </a:rPr>
              <a:t>Current baseline: 11 evaluable Cohort A patients; 4 cases excluded due to known rigid-registration initialization issues.</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20" name="Slide Number Placeholder 0"/>
          <p:cNvSpPr>
            <a:spLocks noGrp="1"/>
          </p:cNvSpPr>
          <p:nvPr>
            <p:ph type="sldNum" sz="quarter" idx="4294967295"/>
          </p:nvPr>
        </p:nvSpPr>
        <p:spPr>
          <a:xfrm>
            <a:off x="11567160" y="6574536"/>
            <a:ext cx="800000" cy="300000"/>
          </a:xfrm>
          <a:prstGeom prst="rect">
            <a:avLst/>
          </a:prstGeom>
        </p:spPr>
        <p:txBody>
          <a:bodyPr/>
          <a:lstStyle>
            <a:lvl1pPr>
              <a:defRPr sz="550">
                <a:solidFill>
                  <a:srgbClr val="6F7D91"/>
                </a:solidFill>
                <a:latin typeface="Aptos"/>
                <a:ea typeface="Aptos"/>
                <a:cs typeface="Aptos"/>
              </a:defRPr>
            </a:lvl1pPr>
          </a:lstStyle>
          <a:p>
            <a:pPr algn="l"/>
            <a:fld id="{F7021451-1387-4CA6-816F-3879F97B5CBC}" type="slidenum">
              <a:rPr lang="en-US" b="0">
                <a:solidFill>
                  <a:schemeClr val="bg1"/>
                </a:solidFill>
                <a:latin typeface="Times New Roman" panose="02020603050405020304" pitchFamily="18" charset="0"/>
                <a:cs typeface="Times New Roman" panose="02020603050405020304" pitchFamily="18" charset="0"/>
              </a:rPr>
            </a:fld>
            <a:endParaRPr lang="en-US">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3617" y="685442"/>
            <a:ext cx="7863840" cy="393192"/>
          </a:xfrm>
          <a:prstGeom prst="rect">
            <a:avLst/>
          </a:prstGeom>
          <a:noFill/>
        </p:spPr>
        <p:txBody>
          <a:bodyPr wrap="square" lIns="0" tIns="0" rIns="0" bIns="0" rtlCol="0" anchor="ctr"/>
          <a:lstStyle/>
          <a:p>
            <a:pPr marL="0" indent="0">
              <a:buNone/>
            </a:pPr>
            <a:r>
              <a:rPr lang="en-US" sz="2800" b="1" dirty="0">
                <a:solidFill>
                  <a:schemeClr val="bg1"/>
                </a:solidFill>
                <a:latin typeface="Times New Roman" panose="02020603050405020304" pitchFamily="18" charset="0"/>
                <a:ea typeface="Aptos Display" pitchFamily="34" charset="-122"/>
                <a:cs typeface="Times New Roman" panose="02020603050405020304" pitchFamily="18" charset="0"/>
              </a:rPr>
              <a:t>Live demo: user stories and quick acceptance tests</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Text 1"/>
          <p:cNvSpPr/>
          <p:nvPr/>
        </p:nvSpPr>
        <p:spPr>
          <a:xfrm>
            <a:off x="648155" y="1142642"/>
            <a:ext cx="8869680" cy="201168"/>
          </a:xfrm>
          <a:prstGeom prst="rect">
            <a:avLst/>
          </a:prstGeom>
          <a:noFill/>
        </p:spPr>
        <p:txBody>
          <a:bodyPr wrap="square" lIns="0" tIns="0" rIns="0" bIns="0" rtlCol="0" anchor="ctr"/>
          <a:lstStyle/>
          <a:p>
            <a:pPr marL="0" indent="0">
              <a:buNone/>
            </a:pPr>
            <a:r>
              <a:rPr lang="en-US" sz="1200" dirty="0">
                <a:solidFill>
                  <a:schemeClr val="bg1"/>
                </a:solidFill>
                <a:latin typeface="Times New Roman" panose="02020603050405020304" pitchFamily="18" charset="0"/>
                <a:cs typeface="Times New Roman" panose="02020603050405020304" pitchFamily="18" charset="0"/>
              </a:rPr>
              <a:t>We will demonstrate results directly in the prototype.</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5" name="Text 3"/>
          <p:cNvSpPr/>
          <p:nvPr/>
        </p:nvSpPr>
        <p:spPr>
          <a:xfrm>
            <a:off x="909649" y="1435250"/>
            <a:ext cx="347472" cy="347472"/>
          </a:xfrm>
          <a:prstGeom prst="rect">
            <a:avLst/>
          </a:prstGeom>
          <a:solidFill>
            <a:srgbClr val="25C9F4"/>
          </a:solidFill>
          <a:ln>
            <a:solidFill>
              <a:srgbClr val="FFFFFF">
                <a:alpha val="0"/>
              </a:srgbClr>
            </a:solidFill>
          </a:ln>
        </p:spPr>
        <p:txBody>
          <a:bodyPr wrap="square" lIns="0" tIns="0" rIns="0" bIns="0" rtlCol="0" anchor="ctr"/>
          <a:lstStyle/>
          <a:p>
            <a:pPr marL="0" indent="0" algn="ctr">
              <a:buNone/>
            </a:pPr>
            <a:r>
              <a:rPr lang="en-US" sz="1200" b="1" dirty="0">
                <a:solidFill>
                  <a:schemeClr val="bg1"/>
                </a:solidFill>
                <a:latin typeface="Times New Roman" panose="02020603050405020304" pitchFamily="18" charset="0"/>
                <a:cs typeface="Times New Roman" panose="02020603050405020304" pitchFamily="18" charset="0"/>
              </a:rPr>
              <a:t>1</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6" name="Text 4"/>
          <p:cNvSpPr/>
          <p:nvPr/>
        </p:nvSpPr>
        <p:spPr>
          <a:xfrm>
            <a:off x="1412569" y="1524788"/>
            <a:ext cx="2057400" cy="237744"/>
          </a:xfrm>
          <a:prstGeom prst="rect">
            <a:avLst/>
          </a:prstGeom>
          <a:noFill/>
        </p:spPr>
        <p:txBody>
          <a:bodyPr wrap="square" lIns="508" tIns="508" rIns="508" bIns="508" rtlCol="0" anchor="t">
            <a:normAutofit/>
          </a:bodyPr>
          <a:lstStyle/>
          <a:p>
            <a:pPr marL="0" indent="0" algn="l">
              <a:buNone/>
            </a:pPr>
            <a:r>
              <a:rPr lang="en-US" sz="1400" b="1" dirty="0">
                <a:solidFill>
                  <a:srgbClr val="26C9F4"/>
                </a:solidFill>
                <a:latin typeface="Times New Roman" panose="02020603050405020304" pitchFamily="18" charset="0"/>
                <a:ea typeface="Aptos" pitchFamily="34" charset="-122"/>
                <a:cs typeface="Times New Roman" panose="02020603050405020304" pitchFamily="18" charset="0"/>
              </a:rPr>
              <a:t>Open selected patient</a:t>
            </a:r>
            <a:endParaRPr lang="en-US" sz="1400" dirty="0">
              <a:solidFill>
                <a:srgbClr val="26C9F4"/>
              </a:solidFill>
              <a:latin typeface="Times New Roman" panose="02020603050405020304" pitchFamily="18" charset="0"/>
              <a:cs typeface="Times New Roman" panose="02020603050405020304" pitchFamily="18" charset="0"/>
            </a:endParaRPr>
          </a:p>
        </p:txBody>
      </p:sp>
      <p:sp>
        <p:nvSpPr>
          <p:cNvPr id="7" name="Text 5"/>
          <p:cNvSpPr/>
          <p:nvPr/>
        </p:nvSpPr>
        <p:spPr>
          <a:xfrm>
            <a:off x="3515689" y="1524788"/>
            <a:ext cx="6949440" cy="237744"/>
          </a:xfrm>
          <a:prstGeom prst="rect">
            <a:avLst/>
          </a:prstGeom>
          <a:noFill/>
        </p:spPr>
        <p:txBody>
          <a:bodyPr wrap="square" lIns="508" tIns="508" rIns="508" bIns="508" rtlCol="0" anchor="t">
            <a:normAutofit/>
          </a:bodyPr>
          <a:lstStyle/>
          <a:p>
            <a:pPr marL="0" indent="0" algn="l">
              <a:buNone/>
            </a:pPr>
            <a:r>
              <a:rPr lang="en-US" sz="1100" dirty="0">
                <a:solidFill>
                  <a:schemeClr val="bg1"/>
                </a:solidFill>
                <a:latin typeface="Times New Roman" panose="02020603050405020304" pitchFamily="18" charset="0"/>
                <a:ea typeface="Aptos" pitchFamily="34" charset="-122"/>
                <a:cs typeface="Times New Roman" panose="02020603050405020304" pitchFamily="18" charset="0"/>
              </a:rPr>
              <a:t>dashboard loads auto-filled paths and patient list</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8" name="Text 6"/>
          <p:cNvSpPr/>
          <p:nvPr/>
        </p:nvSpPr>
        <p:spPr>
          <a:xfrm>
            <a:off x="909649" y="2185058"/>
            <a:ext cx="347472" cy="347472"/>
          </a:xfrm>
          <a:prstGeom prst="rect">
            <a:avLst/>
          </a:prstGeom>
          <a:solidFill>
            <a:srgbClr val="25C9F4"/>
          </a:solidFill>
          <a:ln>
            <a:solidFill>
              <a:srgbClr val="FFFFFF">
                <a:alpha val="0"/>
              </a:srgbClr>
            </a:solidFill>
          </a:ln>
        </p:spPr>
        <p:txBody>
          <a:bodyPr wrap="square" lIns="0" tIns="0" rIns="0" bIns="0" rtlCol="0" anchor="ctr"/>
          <a:lstStyle/>
          <a:p>
            <a:pPr marL="0" indent="0" algn="ctr">
              <a:buNone/>
            </a:pPr>
            <a:r>
              <a:rPr lang="en-US" sz="1200" b="1" dirty="0">
                <a:solidFill>
                  <a:schemeClr val="bg1"/>
                </a:solidFill>
                <a:latin typeface="Times New Roman" panose="02020603050405020304" pitchFamily="18" charset="0"/>
                <a:cs typeface="Times New Roman" panose="02020603050405020304" pitchFamily="18" charset="0"/>
              </a:rPr>
              <a:t>2</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9" name="Text 7"/>
          <p:cNvSpPr/>
          <p:nvPr/>
        </p:nvSpPr>
        <p:spPr>
          <a:xfrm>
            <a:off x="1412569" y="2274596"/>
            <a:ext cx="2057400" cy="237744"/>
          </a:xfrm>
          <a:prstGeom prst="rect">
            <a:avLst/>
          </a:prstGeom>
          <a:noFill/>
        </p:spPr>
        <p:txBody>
          <a:bodyPr wrap="square" lIns="508" tIns="508" rIns="508" bIns="508" rtlCol="0" anchor="t">
            <a:normAutofit/>
          </a:bodyPr>
          <a:lstStyle/>
          <a:p>
            <a:pPr marL="0" indent="0" algn="l">
              <a:buNone/>
            </a:pPr>
            <a:r>
              <a:rPr lang="en-US" sz="1400" b="1" dirty="0">
                <a:solidFill>
                  <a:srgbClr val="26C9F4"/>
                </a:solidFill>
                <a:latin typeface="Times New Roman" panose="02020603050405020304" pitchFamily="18" charset="0"/>
                <a:ea typeface="Aptos" pitchFamily="34" charset="-122"/>
                <a:cs typeface="Times New Roman" panose="02020603050405020304" pitchFamily="18" charset="0"/>
              </a:rPr>
              <a:t>Inspect alignment</a:t>
            </a:r>
            <a:endParaRPr lang="en-US" sz="1400" dirty="0">
              <a:solidFill>
                <a:srgbClr val="26C9F4"/>
              </a:solidFill>
              <a:latin typeface="Times New Roman" panose="02020603050405020304" pitchFamily="18" charset="0"/>
              <a:cs typeface="Times New Roman" panose="02020603050405020304" pitchFamily="18" charset="0"/>
            </a:endParaRPr>
          </a:p>
        </p:txBody>
      </p:sp>
      <p:sp>
        <p:nvSpPr>
          <p:cNvPr id="10" name="Text 8"/>
          <p:cNvSpPr/>
          <p:nvPr/>
        </p:nvSpPr>
        <p:spPr>
          <a:xfrm>
            <a:off x="3515689" y="2274596"/>
            <a:ext cx="6949440" cy="237744"/>
          </a:xfrm>
          <a:prstGeom prst="rect">
            <a:avLst/>
          </a:prstGeom>
          <a:noFill/>
        </p:spPr>
        <p:txBody>
          <a:bodyPr wrap="square" lIns="508" tIns="508" rIns="508" bIns="508" rtlCol="0" anchor="t">
            <a:normAutofit/>
          </a:bodyPr>
          <a:lstStyle/>
          <a:p>
            <a:pPr marL="0" indent="0" algn="l">
              <a:buNone/>
            </a:pPr>
            <a:r>
              <a:rPr lang="en-US" sz="1100" dirty="0">
                <a:solidFill>
                  <a:schemeClr val="bg1"/>
                </a:solidFill>
                <a:latin typeface="Times New Roman" panose="02020603050405020304" pitchFamily="18" charset="0"/>
                <a:ea typeface="Aptos" pitchFamily="34" charset="-122"/>
                <a:cs typeface="Times New Roman" panose="02020603050405020304" pitchFamily="18" charset="0"/>
              </a:rPr>
              <a:t>Original BL, Registered BL, and FU are visible side by side</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11" name="Text 9"/>
          <p:cNvSpPr/>
          <p:nvPr/>
        </p:nvSpPr>
        <p:spPr>
          <a:xfrm>
            <a:off x="909649" y="2934866"/>
            <a:ext cx="347472" cy="347472"/>
          </a:xfrm>
          <a:prstGeom prst="rect">
            <a:avLst/>
          </a:prstGeom>
          <a:solidFill>
            <a:srgbClr val="25C9F4"/>
          </a:solidFill>
          <a:ln>
            <a:solidFill>
              <a:srgbClr val="FFFFFF">
                <a:alpha val="0"/>
              </a:srgbClr>
            </a:solidFill>
          </a:ln>
        </p:spPr>
        <p:txBody>
          <a:bodyPr wrap="square" lIns="0" tIns="0" rIns="0" bIns="0" rtlCol="0" anchor="ctr"/>
          <a:lstStyle/>
          <a:p>
            <a:pPr marL="0" indent="0" algn="ctr">
              <a:buNone/>
            </a:pPr>
            <a:r>
              <a:rPr lang="en-US" sz="1200" b="1" dirty="0">
                <a:solidFill>
                  <a:schemeClr val="bg1"/>
                </a:solidFill>
                <a:latin typeface="Times New Roman" panose="02020603050405020304" pitchFamily="18" charset="0"/>
                <a:cs typeface="Times New Roman" panose="02020603050405020304" pitchFamily="18" charset="0"/>
              </a:rPr>
              <a:t>3</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12" name="Text 10"/>
          <p:cNvSpPr/>
          <p:nvPr/>
        </p:nvSpPr>
        <p:spPr>
          <a:xfrm>
            <a:off x="1412569" y="3024404"/>
            <a:ext cx="2057400" cy="237744"/>
          </a:xfrm>
          <a:prstGeom prst="rect">
            <a:avLst/>
          </a:prstGeom>
          <a:noFill/>
        </p:spPr>
        <p:txBody>
          <a:bodyPr wrap="square" lIns="508" tIns="508" rIns="508" bIns="508" rtlCol="0" anchor="t">
            <a:normAutofit/>
          </a:bodyPr>
          <a:lstStyle/>
          <a:p>
            <a:pPr marL="0" indent="0" algn="l">
              <a:buNone/>
            </a:pPr>
            <a:r>
              <a:rPr lang="en-US" sz="1400" b="1" dirty="0">
                <a:solidFill>
                  <a:srgbClr val="26C9F4"/>
                </a:solidFill>
                <a:latin typeface="Times New Roman" panose="02020603050405020304" pitchFamily="18" charset="0"/>
                <a:ea typeface="Aptos" pitchFamily="34" charset="-122"/>
                <a:cs typeface="Times New Roman" panose="02020603050405020304" pitchFamily="18" charset="0"/>
              </a:rPr>
              <a:t>Toggle masks</a:t>
            </a:r>
            <a:endParaRPr lang="en-US" sz="1400" dirty="0">
              <a:solidFill>
                <a:srgbClr val="26C9F4"/>
              </a:solidFill>
              <a:latin typeface="Times New Roman" panose="02020603050405020304" pitchFamily="18" charset="0"/>
              <a:cs typeface="Times New Roman" panose="02020603050405020304" pitchFamily="18" charset="0"/>
            </a:endParaRPr>
          </a:p>
        </p:txBody>
      </p:sp>
      <p:sp>
        <p:nvSpPr>
          <p:cNvPr id="13" name="Text 11"/>
          <p:cNvSpPr/>
          <p:nvPr/>
        </p:nvSpPr>
        <p:spPr>
          <a:xfrm>
            <a:off x="3515689" y="3024404"/>
            <a:ext cx="6949440" cy="237744"/>
          </a:xfrm>
          <a:prstGeom prst="rect">
            <a:avLst/>
          </a:prstGeom>
          <a:noFill/>
        </p:spPr>
        <p:txBody>
          <a:bodyPr wrap="square" lIns="508" tIns="508" rIns="508" bIns="508" rtlCol="0" anchor="t">
            <a:normAutofit/>
          </a:bodyPr>
          <a:lstStyle/>
          <a:p>
            <a:pPr marL="0" indent="0" algn="l">
              <a:buNone/>
            </a:pPr>
            <a:r>
              <a:rPr lang="en-US" sz="1100" dirty="0">
                <a:solidFill>
                  <a:schemeClr val="bg1"/>
                </a:solidFill>
                <a:latin typeface="Times New Roman" panose="02020603050405020304" pitchFamily="18" charset="0"/>
                <a:ea typeface="Aptos" pitchFamily="34" charset="-122"/>
                <a:cs typeface="Times New Roman" panose="02020603050405020304" pitchFamily="18" charset="0"/>
              </a:rPr>
              <a:t>lesion overlays appear without losing slice consistency</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14" name="Text 12"/>
          <p:cNvSpPr/>
          <p:nvPr/>
        </p:nvSpPr>
        <p:spPr>
          <a:xfrm>
            <a:off x="909649" y="3684674"/>
            <a:ext cx="347472" cy="347472"/>
          </a:xfrm>
          <a:prstGeom prst="rect">
            <a:avLst/>
          </a:prstGeom>
          <a:solidFill>
            <a:srgbClr val="26C9F4"/>
          </a:solidFill>
          <a:ln>
            <a:solidFill>
              <a:srgbClr val="FFFFFF">
                <a:alpha val="0"/>
              </a:srgbClr>
            </a:solidFill>
          </a:ln>
        </p:spPr>
        <p:txBody>
          <a:bodyPr wrap="square" lIns="0" tIns="0" rIns="0" bIns="0" rtlCol="0" anchor="ctr"/>
          <a:lstStyle/>
          <a:p>
            <a:pPr marL="0" indent="0" algn="ctr">
              <a:buNone/>
            </a:pPr>
            <a:r>
              <a:rPr lang="en-US" sz="1200" b="1" dirty="0">
                <a:solidFill>
                  <a:schemeClr val="bg1"/>
                </a:solidFill>
                <a:latin typeface="Times New Roman" panose="02020603050405020304" pitchFamily="18" charset="0"/>
                <a:cs typeface="Times New Roman" panose="02020603050405020304" pitchFamily="18" charset="0"/>
              </a:rPr>
              <a:t>4</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15" name="Text 13"/>
          <p:cNvSpPr/>
          <p:nvPr/>
        </p:nvSpPr>
        <p:spPr>
          <a:xfrm>
            <a:off x="1412569" y="3774212"/>
            <a:ext cx="2057400" cy="237744"/>
          </a:xfrm>
          <a:prstGeom prst="rect">
            <a:avLst/>
          </a:prstGeom>
          <a:noFill/>
        </p:spPr>
        <p:txBody>
          <a:bodyPr wrap="square" lIns="508" tIns="508" rIns="508" bIns="508" rtlCol="0" anchor="t">
            <a:normAutofit/>
          </a:bodyPr>
          <a:lstStyle/>
          <a:p>
            <a:pPr marL="0" indent="0" algn="l">
              <a:buNone/>
            </a:pPr>
            <a:r>
              <a:rPr lang="en-US" sz="1400" b="1" dirty="0">
                <a:solidFill>
                  <a:srgbClr val="26C9F4"/>
                </a:solidFill>
                <a:latin typeface="Times New Roman" panose="02020603050405020304" pitchFamily="18" charset="0"/>
                <a:ea typeface="Aptos" pitchFamily="34" charset="-122"/>
                <a:cs typeface="Times New Roman" panose="02020603050405020304" pitchFamily="18" charset="0"/>
              </a:rPr>
              <a:t>Change plane</a:t>
            </a:r>
            <a:endParaRPr lang="en-US" sz="1400" dirty="0">
              <a:solidFill>
                <a:srgbClr val="26C9F4"/>
              </a:solidFill>
              <a:latin typeface="Times New Roman" panose="02020603050405020304" pitchFamily="18" charset="0"/>
              <a:cs typeface="Times New Roman" panose="02020603050405020304" pitchFamily="18" charset="0"/>
            </a:endParaRPr>
          </a:p>
        </p:txBody>
      </p:sp>
      <p:sp>
        <p:nvSpPr>
          <p:cNvPr id="16" name="Text 14"/>
          <p:cNvSpPr/>
          <p:nvPr/>
        </p:nvSpPr>
        <p:spPr>
          <a:xfrm>
            <a:off x="3515689" y="3774212"/>
            <a:ext cx="6949440" cy="237744"/>
          </a:xfrm>
          <a:prstGeom prst="rect">
            <a:avLst/>
          </a:prstGeom>
          <a:noFill/>
        </p:spPr>
        <p:txBody>
          <a:bodyPr wrap="square" lIns="508" tIns="508" rIns="508" bIns="508" rtlCol="0" anchor="t">
            <a:normAutofit/>
          </a:bodyPr>
          <a:lstStyle/>
          <a:p>
            <a:pPr marL="0" indent="0" algn="l">
              <a:buNone/>
            </a:pPr>
            <a:r>
              <a:rPr lang="en-US" sz="1100" dirty="0">
                <a:solidFill>
                  <a:schemeClr val="bg1"/>
                </a:solidFill>
                <a:latin typeface="Times New Roman" panose="02020603050405020304" pitchFamily="18" charset="0"/>
                <a:ea typeface="Aptos" pitchFamily="34" charset="-122"/>
                <a:cs typeface="Times New Roman" panose="02020603050405020304" pitchFamily="18" charset="0"/>
              </a:rPr>
              <a:t>axial / coronal / sagittal sliders update correctly</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17" name="Text 15"/>
          <p:cNvSpPr/>
          <p:nvPr/>
        </p:nvSpPr>
        <p:spPr>
          <a:xfrm>
            <a:off x="909649" y="4434482"/>
            <a:ext cx="347472" cy="347472"/>
          </a:xfrm>
          <a:prstGeom prst="rect">
            <a:avLst/>
          </a:prstGeom>
          <a:solidFill>
            <a:srgbClr val="26C9F4"/>
          </a:solidFill>
          <a:ln>
            <a:solidFill>
              <a:srgbClr val="FFFFFF">
                <a:alpha val="0"/>
              </a:srgbClr>
            </a:solidFill>
          </a:ln>
        </p:spPr>
        <p:txBody>
          <a:bodyPr wrap="square" lIns="0" tIns="0" rIns="0" bIns="0" rtlCol="0" anchor="ctr"/>
          <a:lstStyle/>
          <a:p>
            <a:pPr marL="0" indent="0" algn="ctr">
              <a:buNone/>
            </a:pPr>
            <a:r>
              <a:rPr lang="en-US" sz="1200" b="1" dirty="0">
                <a:solidFill>
                  <a:schemeClr val="bg1"/>
                </a:solidFill>
                <a:latin typeface="Times New Roman" panose="02020603050405020304" pitchFamily="18" charset="0"/>
                <a:cs typeface="Times New Roman" panose="02020603050405020304" pitchFamily="18" charset="0"/>
              </a:rPr>
              <a:t>5</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18" name="Text 16"/>
          <p:cNvSpPr/>
          <p:nvPr/>
        </p:nvSpPr>
        <p:spPr>
          <a:xfrm>
            <a:off x="1412569" y="4524020"/>
            <a:ext cx="2057400" cy="237744"/>
          </a:xfrm>
          <a:prstGeom prst="rect">
            <a:avLst/>
          </a:prstGeom>
          <a:noFill/>
        </p:spPr>
        <p:txBody>
          <a:bodyPr wrap="square" lIns="508" tIns="508" rIns="508" bIns="508" rtlCol="0" anchor="t">
            <a:normAutofit/>
          </a:bodyPr>
          <a:lstStyle/>
          <a:p>
            <a:pPr marL="0" indent="0" algn="l">
              <a:buNone/>
            </a:pPr>
            <a:r>
              <a:rPr lang="en-US" sz="1400" b="1" dirty="0">
                <a:solidFill>
                  <a:srgbClr val="26C9F4"/>
                </a:solidFill>
                <a:latin typeface="Times New Roman" panose="02020603050405020304" pitchFamily="18" charset="0"/>
                <a:ea typeface="Aptos" pitchFamily="34" charset="-122"/>
                <a:cs typeface="Times New Roman" panose="02020603050405020304" pitchFamily="18" charset="0"/>
              </a:rPr>
              <a:t>Review match</a:t>
            </a:r>
            <a:endParaRPr lang="en-US" sz="1400" dirty="0">
              <a:solidFill>
                <a:srgbClr val="26C9F4"/>
              </a:solidFill>
              <a:latin typeface="Times New Roman" panose="02020603050405020304" pitchFamily="18" charset="0"/>
              <a:cs typeface="Times New Roman" panose="02020603050405020304" pitchFamily="18" charset="0"/>
            </a:endParaRPr>
          </a:p>
        </p:txBody>
      </p:sp>
      <p:sp>
        <p:nvSpPr>
          <p:cNvPr id="19" name="Text 17"/>
          <p:cNvSpPr/>
          <p:nvPr/>
        </p:nvSpPr>
        <p:spPr>
          <a:xfrm>
            <a:off x="3515689" y="4524020"/>
            <a:ext cx="6949440" cy="237744"/>
          </a:xfrm>
          <a:prstGeom prst="rect">
            <a:avLst/>
          </a:prstGeom>
          <a:noFill/>
        </p:spPr>
        <p:txBody>
          <a:bodyPr wrap="square" lIns="508" tIns="508" rIns="508" bIns="508" rtlCol="0" anchor="t">
            <a:normAutofit/>
          </a:bodyPr>
          <a:lstStyle/>
          <a:p>
            <a:pPr marL="0" indent="0" algn="l">
              <a:buNone/>
            </a:pPr>
            <a:r>
              <a:rPr lang="en-US" sz="1100" dirty="0">
                <a:solidFill>
                  <a:schemeClr val="bg1"/>
                </a:solidFill>
                <a:latin typeface="Times New Roman" panose="02020603050405020304" pitchFamily="18" charset="0"/>
                <a:ea typeface="Aptos" pitchFamily="34" charset="-122"/>
                <a:cs typeface="Times New Roman" panose="02020603050405020304" pitchFamily="18" charset="0"/>
              </a:rPr>
              <a:t>correspondence row shows outcome and cost evidence</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20" name="Text 18"/>
          <p:cNvSpPr/>
          <p:nvPr/>
        </p:nvSpPr>
        <p:spPr>
          <a:xfrm>
            <a:off x="909649" y="5184290"/>
            <a:ext cx="347472" cy="347472"/>
          </a:xfrm>
          <a:prstGeom prst="rect">
            <a:avLst/>
          </a:prstGeom>
          <a:solidFill>
            <a:srgbClr val="26C9F4"/>
          </a:solidFill>
          <a:ln>
            <a:solidFill>
              <a:srgbClr val="FFFFFF">
                <a:alpha val="0"/>
              </a:srgbClr>
            </a:solidFill>
          </a:ln>
        </p:spPr>
        <p:txBody>
          <a:bodyPr wrap="square" lIns="0" tIns="0" rIns="0" bIns="0" rtlCol="0" anchor="ctr"/>
          <a:lstStyle/>
          <a:p>
            <a:pPr marL="0" indent="0" algn="ctr">
              <a:buNone/>
            </a:pPr>
            <a:r>
              <a:rPr lang="en-US" sz="1200" b="1" dirty="0">
                <a:solidFill>
                  <a:schemeClr val="bg1"/>
                </a:solidFill>
                <a:latin typeface="Times New Roman" panose="02020603050405020304" pitchFamily="18" charset="0"/>
                <a:cs typeface="Times New Roman" panose="02020603050405020304" pitchFamily="18" charset="0"/>
              </a:rPr>
              <a:t>6</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21" name="Text 19"/>
          <p:cNvSpPr/>
          <p:nvPr/>
        </p:nvSpPr>
        <p:spPr>
          <a:xfrm>
            <a:off x="1412569" y="5273828"/>
            <a:ext cx="2057400" cy="237744"/>
          </a:xfrm>
          <a:prstGeom prst="rect">
            <a:avLst/>
          </a:prstGeom>
          <a:noFill/>
        </p:spPr>
        <p:txBody>
          <a:bodyPr wrap="square" lIns="508" tIns="508" rIns="508" bIns="508" rtlCol="0" anchor="t">
            <a:normAutofit/>
          </a:bodyPr>
          <a:lstStyle/>
          <a:p>
            <a:pPr marL="0" indent="0" algn="l">
              <a:buNone/>
            </a:pPr>
            <a:r>
              <a:rPr lang="en-US" sz="1400" b="1" dirty="0">
                <a:solidFill>
                  <a:srgbClr val="26C9F4"/>
                </a:solidFill>
                <a:latin typeface="Times New Roman" panose="02020603050405020304" pitchFamily="18" charset="0"/>
                <a:ea typeface="Aptos" pitchFamily="34" charset="-122"/>
                <a:cs typeface="Times New Roman" panose="02020603050405020304" pitchFamily="18" charset="0"/>
              </a:rPr>
              <a:t>Check summary</a:t>
            </a:r>
            <a:endParaRPr lang="en-US" sz="1400" dirty="0">
              <a:solidFill>
                <a:srgbClr val="26C9F4"/>
              </a:solidFill>
              <a:latin typeface="Times New Roman" panose="02020603050405020304" pitchFamily="18" charset="0"/>
              <a:cs typeface="Times New Roman" panose="02020603050405020304" pitchFamily="18" charset="0"/>
            </a:endParaRPr>
          </a:p>
        </p:txBody>
      </p:sp>
      <p:sp>
        <p:nvSpPr>
          <p:cNvPr id="22" name="Text 20"/>
          <p:cNvSpPr/>
          <p:nvPr/>
        </p:nvSpPr>
        <p:spPr>
          <a:xfrm>
            <a:off x="3515689" y="5273828"/>
            <a:ext cx="6949440" cy="237744"/>
          </a:xfrm>
          <a:prstGeom prst="rect">
            <a:avLst/>
          </a:prstGeom>
          <a:noFill/>
        </p:spPr>
        <p:txBody>
          <a:bodyPr wrap="square" lIns="508" tIns="508" rIns="508" bIns="508" rtlCol="0" anchor="t">
            <a:normAutofit/>
          </a:bodyPr>
          <a:lstStyle/>
          <a:p>
            <a:pPr marL="0" indent="0" algn="l">
              <a:buNone/>
            </a:pPr>
            <a:r>
              <a:rPr lang="en-US" sz="1100" dirty="0">
                <a:solidFill>
                  <a:schemeClr val="bg1"/>
                </a:solidFill>
                <a:latin typeface="Times New Roman" panose="02020603050405020304" pitchFamily="18" charset="0"/>
                <a:ea typeface="Aptos" pitchFamily="34" charset="-122"/>
                <a:cs typeface="Times New Roman" panose="02020603050405020304" pitchFamily="18" charset="0"/>
              </a:rPr>
              <a:t>BL/FU, matched, appearing, disappearing, and accuracy are shown</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23" name="Shape 21"/>
          <p:cNvSpPr/>
          <p:nvPr/>
        </p:nvSpPr>
        <p:spPr>
          <a:xfrm>
            <a:off x="878773" y="5810002"/>
            <a:ext cx="10149840" cy="457200"/>
          </a:xfrm>
          <a:prstGeom prst="roundRect">
            <a:avLst>
              <a:gd name="adj" fmla="val 16000"/>
            </a:avLst>
          </a:prstGeom>
          <a:solidFill>
            <a:srgbClr val="0F1727"/>
          </a:solidFill>
          <a:ln w="8890">
            <a:solidFill>
              <a:srgbClr val="26C9F4"/>
            </a:solidFill>
            <a:prstDash val="solid"/>
          </a:ln>
        </p:spPr>
        <p:txBody>
          <a:bodyPr/>
          <a:lstStyle/>
          <a:p>
            <a:pPr algn="ctr">
              <a:lnSpc>
                <a:spcPct val="150000"/>
              </a:lnSpc>
            </a:pPr>
            <a:r>
              <a:rPr lang="en-US" altLang="zh-CN" sz="1200" b="1" dirty="0">
                <a:solidFill>
                  <a:schemeClr val="bg1"/>
                </a:solidFill>
                <a:latin typeface="Times New Roman" panose="02020603050405020304" pitchFamily="18" charset="0"/>
                <a:ea typeface="Aptos" pitchFamily="34" charset="-122"/>
                <a:cs typeface="Times New Roman" panose="02020603050405020304" pitchFamily="18" charset="0"/>
              </a:rPr>
              <a:t>If a failure appears during live demo, we will show the generated outputs and status logs rather than hide the failed case.</a:t>
            </a:r>
            <a:endParaRPr lang="en-US" altLang="zh-CN" sz="1200" dirty="0">
              <a:solidFill>
                <a:schemeClr val="bg1"/>
              </a:solidFill>
              <a:latin typeface="Times New Roman" panose="02020603050405020304" pitchFamily="18" charset="0"/>
              <a:cs typeface="Times New Roman" panose="02020603050405020304" pitchFamily="18" charset="0"/>
            </a:endParaRPr>
          </a:p>
          <a:p>
            <a:pPr algn="ctr">
              <a:lnSpc>
                <a:spcPct val="150000"/>
              </a:lnSpc>
            </a:pPr>
            <a:endParaRPr lang="zh-CN" altLang="en-US" sz="1200" dirty="0">
              <a:solidFill>
                <a:schemeClr val="bg1"/>
              </a:solidFill>
              <a:latin typeface="Times New Roman" panose="02020603050405020304" pitchFamily="18" charset="0"/>
              <a:cs typeface="Times New Roman" panose="02020603050405020304" pitchFamily="18" charset="0"/>
            </a:endParaRPr>
          </a:p>
        </p:txBody>
      </p:sp>
      <p:sp>
        <p:nvSpPr>
          <p:cNvPr id="25" name="Slide Number Placeholder 0"/>
          <p:cNvSpPr>
            <a:spLocks noGrp="1"/>
          </p:cNvSpPr>
          <p:nvPr>
            <p:ph type="sldNum" sz="quarter" idx="4294967295"/>
          </p:nvPr>
        </p:nvSpPr>
        <p:spPr>
          <a:xfrm>
            <a:off x="11567160" y="6574536"/>
            <a:ext cx="800000" cy="300000"/>
          </a:xfrm>
          <a:prstGeom prst="rect">
            <a:avLst/>
          </a:prstGeom>
        </p:spPr>
        <p:txBody>
          <a:bodyPr/>
          <a:lstStyle>
            <a:lvl1pPr>
              <a:defRPr sz="550">
                <a:solidFill>
                  <a:srgbClr val="6F7D91"/>
                </a:solidFill>
                <a:latin typeface="Aptos"/>
                <a:ea typeface="Aptos"/>
                <a:cs typeface="Aptos"/>
              </a:defRPr>
            </a:lvl1pPr>
          </a:lstStyle>
          <a:p>
            <a:pPr algn="l"/>
            <a:fld id="{F7021451-1387-4CA6-816F-3879F97B5CBC}" type="slidenum">
              <a:rPr lang="en-US" b="0">
                <a:solidFill>
                  <a:schemeClr val="bg1"/>
                </a:solidFill>
                <a:latin typeface="Times New Roman" panose="02020603050405020304" pitchFamily="18" charset="0"/>
                <a:cs typeface="Times New Roman" panose="02020603050405020304" pitchFamily="18" charset="0"/>
              </a:rPr>
            </a:fld>
            <a:endParaRPr lang="en-US">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39088" y="684187"/>
            <a:ext cx="7863840" cy="393192"/>
          </a:xfrm>
          <a:prstGeom prst="rect">
            <a:avLst/>
          </a:prstGeom>
          <a:noFill/>
        </p:spPr>
        <p:txBody>
          <a:bodyPr wrap="square" lIns="0" tIns="0" rIns="0" bIns="0" rtlCol="0" anchor="ctr"/>
          <a:lstStyle/>
          <a:p>
            <a:pPr marL="0" indent="0">
              <a:buNone/>
            </a:pPr>
            <a:r>
              <a:rPr lang="en-US" sz="2800" b="1" dirty="0">
                <a:solidFill>
                  <a:schemeClr val="bg1"/>
                </a:solidFill>
                <a:latin typeface="Times New Roman" panose="02020603050405020304" pitchFamily="18" charset="0"/>
                <a:ea typeface="Aptos Display" pitchFamily="34" charset="-122"/>
                <a:cs typeface="Times New Roman" panose="02020603050405020304" pitchFamily="18" charset="0"/>
              </a:rPr>
              <a:t>Quality and non-functional requirements</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Text 1"/>
          <p:cNvSpPr/>
          <p:nvPr/>
        </p:nvSpPr>
        <p:spPr>
          <a:xfrm>
            <a:off x="647735" y="1141387"/>
            <a:ext cx="8869680" cy="201168"/>
          </a:xfrm>
          <a:prstGeom prst="rect">
            <a:avLst/>
          </a:prstGeom>
          <a:noFill/>
        </p:spPr>
        <p:txBody>
          <a:bodyPr wrap="square" lIns="0" tIns="0" rIns="0" bIns="0" rtlCol="0" anchor="ctr"/>
          <a:lstStyle/>
          <a:p>
            <a:pPr marL="0" indent="0">
              <a:buNone/>
            </a:pPr>
            <a:r>
              <a:rPr lang="en-US" sz="1200" dirty="0">
                <a:solidFill>
                  <a:schemeClr val="bg1"/>
                </a:solidFill>
                <a:latin typeface="Times New Roman" panose="02020603050405020304" pitchFamily="18" charset="0"/>
                <a:cs typeface="Times New Roman" panose="02020603050405020304" pitchFamily="18" charset="0"/>
              </a:rPr>
              <a:t>The prototype is designed for reproducibility, interpretability, and review.</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5" name="Text 3"/>
          <p:cNvSpPr/>
          <p:nvPr/>
        </p:nvSpPr>
        <p:spPr>
          <a:xfrm>
            <a:off x="825650" y="1836870"/>
            <a:ext cx="3154680" cy="914400"/>
          </a:xfrm>
          <a:prstGeom prst="rect">
            <a:avLst/>
          </a:prstGeom>
          <a:solidFill>
            <a:srgbClr val="111A2C"/>
          </a:solidFill>
          <a:ln w="10160">
            <a:solidFill>
              <a:srgbClr val="26C9F4"/>
            </a:solidFill>
          </a:ln>
        </p:spPr>
        <p:txBody>
          <a:bodyPr wrap="square" lIns="0" tIns="0" rIns="0" bIns="0" rtlCol="0" anchor="ctr"/>
          <a:lstStyle/>
          <a:p>
            <a:pPr marL="0" indent="0">
              <a:buNone/>
            </a:pPr>
            <a:endParaRPr lang="en-US" sz="2400" dirty="0">
              <a:solidFill>
                <a:schemeClr val="bg1"/>
              </a:solidFill>
              <a:latin typeface="Times New Roman" panose="02020603050405020304" pitchFamily="18" charset="0"/>
              <a:cs typeface="Times New Roman" panose="02020603050405020304" pitchFamily="18" charset="0"/>
            </a:endParaRPr>
          </a:p>
        </p:txBody>
      </p:sp>
      <p:sp>
        <p:nvSpPr>
          <p:cNvPr id="6" name="Text 4"/>
          <p:cNvSpPr/>
          <p:nvPr/>
        </p:nvSpPr>
        <p:spPr>
          <a:xfrm>
            <a:off x="953666" y="1946598"/>
            <a:ext cx="2898648" cy="219456"/>
          </a:xfrm>
          <a:prstGeom prst="rect">
            <a:avLst/>
          </a:prstGeom>
          <a:noFill/>
        </p:spPr>
        <p:txBody>
          <a:bodyPr wrap="square" lIns="0" tIns="0" rIns="0" bIns="0" rtlCol="0" anchor="ctr"/>
          <a:lstStyle/>
          <a:p>
            <a:pPr marL="0" indent="0">
              <a:buNone/>
            </a:pPr>
            <a:r>
              <a:rPr lang="en-US" sz="1200" b="1" dirty="0">
                <a:solidFill>
                  <a:srgbClr val="26C9F4"/>
                </a:solidFill>
                <a:latin typeface="Times New Roman" panose="02020603050405020304" pitchFamily="18" charset="0"/>
                <a:cs typeface="Times New Roman" panose="02020603050405020304" pitchFamily="18" charset="0"/>
              </a:rPr>
              <a:t>Reproducible</a:t>
            </a:r>
            <a:endParaRPr lang="en-US" sz="1200" dirty="0">
              <a:solidFill>
                <a:srgbClr val="26C9F4"/>
              </a:solidFill>
              <a:latin typeface="Times New Roman" panose="02020603050405020304" pitchFamily="18" charset="0"/>
              <a:cs typeface="Times New Roman" panose="02020603050405020304" pitchFamily="18" charset="0"/>
            </a:endParaRPr>
          </a:p>
        </p:txBody>
      </p:sp>
      <p:sp>
        <p:nvSpPr>
          <p:cNvPr id="7" name="Text 5"/>
          <p:cNvSpPr/>
          <p:nvPr/>
        </p:nvSpPr>
        <p:spPr>
          <a:xfrm>
            <a:off x="953666" y="2185293"/>
            <a:ext cx="2898648" cy="457200"/>
          </a:xfrm>
          <a:prstGeom prst="rect">
            <a:avLst/>
          </a:prstGeom>
          <a:noFill/>
        </p:spPr>
        <p:txBody>
          <a:bodyPr wrap="square" lIns="0" tIns="0" rIns="0" bIns="0" rtlCol="0" anchor="ctr">
            <a:normAutofit/>
          </a:bodyPr>
          <a:lstStyle/>
          <a:p>
            <a:pPr marL="0" indent="0">
              <a:buNone/>
            </a:pPr>
            <a:r>
              <a:rPr lang="en-US" sz="1100" dirty="0">
                <a:solidFill>
                  <a:schemeClr val="bg1"/>
                </a:solidFill>
                <a:latin typeface="Times New Roman" panose="02020603050405020304" pitchFamily="18" charset="0"/>
                <a:cs typeface="Times New Roman" panose="02020603050405020304" pitchFamily="18" charset="0"/>
              </a:rPr>
              <a:t>launcher + fixed outputs for demo mode</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8" name="Text 6"/>
          <p:cNvSpPr/>
          <p:nvPr/>
        </p:nvSpPr>
        <p:spPr>
          <a:xfrm>
            <a:off x="4574690" y="1836870"/>
            <a:ext cx="3154680" cy="914400"/>
          </a:xfrm>
          <a:prstGeom prst="rect">
            <a:avLst/>
          </a:prstGeom>
          <a:solidFill>
            <a:srgbClr val="111A2C"/>
          </a:solidFill>
          <a:ln w="10160">
            <a:solidFill>
              <a:srgbClr val="26C9F4"/>
            </a:solidFill>
          </a:ln>
        </p:spPr>
        <p:txBody>
          <a:bodyPr wrap="square" lIns="0" tIns="0" rIns="0" bIns="0" rtlCol="0" anchor="ctr"/>
          <a:lstStyle/>
          <a:p>
            <a:pPr marL="0" indent="0">
              <a:buNone/>
            </a:pPr>
            <a:endParaRPr lang="en-US" sz="2400" dirty="0">
              <a:solidFill>
                <a:schemeClr val="bg1"/>
              </a:solidFill>
              <a:latin typeface="Times New Roman" panose="02020603050405020304" pitchFamily="18" charset="0"/>
              <a:cs typeface="Times New Roman" panose="02020603050405020304" pitchFamily="18" charset="0"/>
            </a:endParaRPr>
          </a:p>
        </p:txBody>
      </p:sp>
      <p:sp>
        <p:nvSpPr>
          <p:cNvPr id="9" name="Text 7"/>
          <p:cNvSpPr/>
          <p:nvPr/>
        </p:nvSpPr>
        <p:spPr>
          <a:xfrm>
            <a:off x="4702706" y="1946598"/>
            <a:ext cx="2898648" cy="219456"/>
          </a:xfrm>
          <a:prstGeom prst="rect">
            <a:avLst/>
          </a:prstGeom>
          <a:noFill/>
        </p:spPr>
        <p:txBody>
          <a:bodyPr wrap="square" lIns="0" tIns="0" rIns="0" bIns="0" rtlCol="0" anchor="ctr"/>
          <a:lstStyle/>
          <a:p>
            <a:pPr marL="0" indent="0">
              <a:buNone/>
            </a:pPr>
            <a:r>
              <a:rPr lang="en-US" sz="1200" b="1" dirty="0">
                <a:solidFill>
                  <a:srgbClr val="26C9F4"/>
                </a:solidFill>
                <a:latin typeface="Times New Roman" panose="02020603050405020304" pitchFamily="18" charset="0"/>
                <a:cs typeface="Times New Roman" panose="02020603050405020304" pitchFamily="18" charset="0"/>
              </a:rPr>
              <a:t>Modular</a:t>
            </a:r>
            <a:endParaRPr lang="en-US" sz="1200" dirty="0">
              <a:solidFill>
                <a:srgbClr val="26C9F4"/>
              </a:solidFill>
              <a:latin typeface="Times New Roman" panose="02020603050405020304" pitchFamily="18" charset="0"/>
              <a:cs typeface="Times New Roman" panose="02020603050405020304" pitchFamily="18" charset="0"/>
            </a:endParaRPr>
          </a:p>
        </p:txBody>
      </p:sp>
      <p:sp>
        <p:nvSpPr>
          <p:cNvPr id="10" name="Text 8"/>
          <p:cNvSpPr/>
          <p:nvPr/>
        </p:nvSpPr>
        <p:spPr>
          <a:xfrm>
            <a:off x="4702706" y="2185293"/>
            <a:ext cx="2898648" cy="457200"/>
          </a:xfrm>
          <a:prstGeom prst="rect">
            <a:avLst/>
          </a:prstGeom>
          <a:noFill/>
        </p:spPr>
        <p:txBody>
          <a:bodyPr wrap="square" lIns="0" tIns="0" rIns="0" bIns="0" rtlCol="0" anchor="ctr">
            <a:normAutofit/>
          </a:bodyPr>
          <a:lstStyle/>
          <a:p>
            <a:pPr marL="0" indent="0">
              <a:buNone/>
            </a:pPr>
            <a:r>
              <a:rPr lang="en-US" sz="1100" dirty="0">
                <a:solidFill>
                  <a:schemeClr val="bg1"/>
                </a:solidFill>
                <a:latin typeface="Times New Roman" panose="02020603050405020304" pitchFamily="18" charset="0"/>
                <a:cs typeface="Times New Roman" panose="02020603050405020304" pitchFamily="18" charset="0"/>
              </a:rPr>
              <a:t>CSV outputs at each stage can be inspected</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11" name="Text 9"/>
          <p:cNvSpPr/>
          <p:nvPr/>
        </p:nvSpPr>
        <p:spPr>
          <a:xfrm>
            <a:off x="8323730" y="1836870"/>
            <a:ext cx="3154680" cy="914400"/>
          </a:xfrm>
          <a:prstGeom prst="rect">
            <a:avLst/>
          </a:prstGeom>
          <a:solidFill>
            <a:srgbClr val="111A2C"/>
          </a:solidFill>
          <a:ln w="10160">
            <a:solidFill>
              <a:srgbClr val="26C9F4"/>
            </a:solidFill>
          </a:ln>
        </p:spPr>
        <p:txBody>
          <a:bodyPr wrap="square" lIns="0" tIns="0" rIns="0" bIns="0" rtlCol="0" anchor="ctr"/>
          <a:lstStyle/>
          <a:p>
            <a:pPr marL="0" indent="0">
              <a:buNone/>
            </a:pPr>
            <a:endParaRPr lang="en-US" sz="2400" dirty="0">
              <a:solidFill>
                <a:schemeClr val="bg1"/>
              </a:solidFill>
              <a:latin typeface="Times New Roman" panose="02020603050405020304" pitchFamily="18" charset="0"/>
              <a:cs typeface="Times New Roman" panose="02020603050405020304" pitchFamily="18" charset="0"/>
            </a:endParaRPr>
          </a:p>
        </p:txBody>
      </p:sp>
      <p:sp>
        <p:nvSpPr>
          <p:cNvPr id="12" name="Text 10"/>
          <p:cNvSpPr/>
          <p:nvPr/>
        </p:nvSpPr>
        <p:spPr>
          <a:xfrm>
            <a:off x="8451746" y="1946598"/>
            <a:ext cx="2898648" cy="219456"/>
          </a:xfrm>
          <a:prstGeom prst="rect">
            <a:avLst/>
          </a:prstGeom>
          <a:noFill/>
        </p:spPr>
        <p:txBody>
          <a:bodyPr wrap="square" lIns="0" tIns="0" rIns="0" bIns="0" rtlCol="0" anchor="ctr"/>
          <a:lstStyle/>
          <a:p>
            <a:pPr marL="0" indent="0">
              <a:buNone/>
            </a:pPr>
            <a:r>
              <a:rPr lang="en-US" sz="1200" b="1" dirty="0">
                <a:solidFill>
                  <a:srgbClr val="26C9F4"/>
                </a:solidFill>
                <a:latin typeface="Times New Roman" panose="02020603050405020304" pitchFamily="18" charset="0"/>
                <a:cs typeface="Times New Roman" panose="02020603050405020304" pitchFamily="18" charset="0"/>
              </a:rPr>
              <a:t>Interpretable</a:t>
            </a:r>
            <a:endParaRPr lang="en-US" sz="1200" dirty="0">
              <a:solidFill>
                <a:srgbClr val="26C9F4"/>
              </a:solidFill>
              <a:latin typeface="Times New Roman" panose="02020603050405020304" pitchFamily="18" charset="0"/>
              <a:cs typeface="Times New Roman" panose="02020603050405020304" pitchFamily="18" charset="0"/>
            </a:endParaRPr>
          </a:p>
        </p:txBody>
      </p:sp>
      <p:sp>
        <p:nvSpPr>
          <p:cNvPr id="13" name="Text 11"/>
          <p:cNvSpPr/>
          <p:nvPr/>
        </p:nvSpPr>
        <p:spPr>
          <a:xfrm>
            <a:off x="8451746" y="2185293"/>
            <a:ext cx="2898648" cy="457200"/>
          </a:xfrm>
          <a:prstGeom prst="rect">
            <a:avLst/>
          </a:prstGeom>
          <a:noFill/>
        </p:spPr>
        <p:txBody>
          <a:bodyPr wrap="square" lIns="0" tIns="0" rIns="0" bIns="0" rtlCol="0" anchor="ctr">
            <a:normAutofit/>
          </a:bodyPr>
          <a:lstStyle/>
          <a:p>
            <a:pPr marL="0" indent="0">
              <a:buNone/>
            </a:pPr>
            <a:r>
              <a:rPr lang="en-US" sz="1100" dirty="0">
                <a:solidFill>
                  <a:schemeClr val="bg1"/>
                </a:solidFill>
                <a:latin typeface="Times New Roman" panose="02020603050405020304" pitchFamily="18" charset="0"/>
                <a:cs typeface="Times New Roman" panose="02020603050405020304" pitchFamily="18" charset="0"/>
              </a:rPr>
              <a:t>costs and match outcomes are visible</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14" name="Text 12"/>
          <p:cNvSpPr/>
          <p:nvPr/>
        </p:nvSpPr>
        <p:spPr>
          <a:xfrm>
            <a:off x="825650" y="3254190"/>
            <a:ext cx="3154680" cy="914400"/>
          </a:xfrm>
          <a:prstGeom prst="rect">
            <a:avLst/>
          </a:prstGeom>
          <a:solidFill>
            <a:srgbClr val="111A2C"/>
          </a:solidFill>
          <a:ln w="10160">
            <a:solidFill>
              <a:srgbClr val="26C9F4"/>
            </a:solidFill>
          </a:ln>
        </p:spPr>
        <p:txBody>
          <a:bodyPr wrap="square" lIns="0" tIns="0" rIns="0" bIns="0" rtlCol="0" anchor="ctr"/>
          <a:lstStyle/>
          <a:p>
            <a:pPr marL="0" indent="0">
              <a:buNone/>
            </a:pPr>
            <a:endParaRPr lang="en-US" sz="2400" dirty="0">
              <a:solidFill>
                <a:schemeClr val="bg1"/>
              </a:solidFill>
              <a:latin typeface="Times New Roman" panose="02020603050405020304" pitchFamily="18" charset="0"/>
              <a:cs typeface="Times New Roman" panose="02020603050405020304" pitchFamily="18" charset="0"/>
            </a:endParaRPr>
          </a:p>
        </p:txBody>
      </p:sp>
      <p:sp>
        <p:nvSpPr>
          <p:cNvPr id="15" name="Text 13"/>
          <p:cNvSpPr/>
          <p:nvPr/>
        </p:nvSpPr>
        <p:spPr>
          <a:xfrm>
            <a:off x="953666" y="3363918"/>
            <a:ext cx="2898648" cy="219456"/>
          </a:xfrm>
          <a:prstGeom prst="rect">
            <a:avLst/>
          </a:prstGeom>
          <a:noFill/>
        </p:spPr>
        <p:txBody>
          <a:bodyPr wrap="square" lIns="0" tIns="0" rIns="0" bIns="0" rtlCol="0" anchor="ctr"/>
          <a:lstStyle/>
          <a:p>
            <a:pPr marL="0" indent="0">
              <a:buNone/>
            </a:pPr>
            <a:r>
              <a:rPr lang="en-US" sz="1200" b="1" dirty="0">
                <a:solidFill>
                  <a:srgbClr val="26C9F4"/>
                </a:solidFill>
                <a:latin typeface="Times New Roman" panose="02020603050405020304" pitchFamily="18" charset="0"/>
                <a:cs typeface="Times New Roman" panose="02020603050405020304" pitchFamily="18" charset="0"/>
              </a:rPr>
              <a:t>Responsive</a:t>
            </a:r>
            <a:endParaRPr lang="en-US" sz="1200" dirty="0">
              <a:solidFill>
                <a:srgbClr val="26C9F4"/>
              </a:solidFill>
              <a:latin typeface="Times New Roman" panose="02020603050405020304" pitchFamily="18" charset="0"/>
              <a:cs typeface="Times New Roman" panose="02020603050405020304" pitchFamily="18" charset="0"/>
            </a:endParaRPr>
          </a:p>
        </p:txBody>
      </p:sp>
      <p:sp>
        <p:nvSpPr>
          <p:cNvPr id="16" name="Text 14"/>
          <p:cNvSpPr/>
          <p:nvPr/>
        </p:nvSpPr>
        <p:spPr>
          <a:xfrm>
            <a:off x="953666" y="3602613"/>
            <a:ext cx="2898648" cy="457200"/>
          </a:xfrm>
          <a:prstGeom prst="rect">
            <a:avLst/>
          </a:prstGeom>
          <a:noFill/>
        </p:spPr>
        <p:txBody>
          <a:bodyPr wrap="square" lIns="0" tIns="0" rIns="0" bIns="0" rtlCol="0" anchor="ctr">
            <a:normAutofit/>
          </a:bodyPr>
          <a:lstStyle/>
          <a:p>
            <a:pPr marL="0" indent="0">
              <a:buNone/>
            </a:pPr>
            <a:r>
              <a:rPr lang="en-US" sz="1100" dirty="0">
                <a:solidFill>
                  <a:schemeClr val="bg1"/>
                </a:solidFill>
                <a:latin typeface="Times New Roman" panose="02020603050405020304" pitchFamily="18" charset="0"/>
                <a:cs typeface="Times New Roman" panose="02020603050405020304" pitchFamily="18" charset="0"/>
              </a:rPr>
              <a:t>viewer cache + direct slice extraction</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17" name="Text 15"/>
          <p:cNvSpPr/>
          <p:nvPr/>
        </p:nvSpPr>
        <p:spPr>
          <a:xfrm>
            <a:off x="4574690" y="3254190"/>
            <a:ext cx="3154680" cy="914400"/>
          </a:xfrm>
          <a:prstGeom prst="rect">
            <a:avLst/>
          </a:prstGeom>
          <a:solidFill>
            <a:srgbClr val="111A2C"/>
          </a:solidFill>
          <a:ln w="10160">
            <a:solidFill>
              <a:srgbClr val="26C9F4"/>
            </a:solidFill>
          </a:ln>
        </p:spPr>
        <p:txBody>
          <a:bodyPr wrap="square" lIns="0" tIns="0" rIns="0" bIns="0" rtlCol="0" anchor="ctr"/>
          <a:lstStyle/>
          <a:p>
            <a:pPr marL="0" indent="0">
              <a:buNone/>
            </a:pPr>
            <a:endParaRPr lang="en-US" sz="2400" dirty="0">
              <a:solidFill>
                <a:schemeClr val="bg1"/>
              </a:solidFill>
              <a:latin typeface="Times New Roman" panose="02020603050405020304" pitchFamily="18" charset="0"/>
              <a:cs typeface="Times New Roman" panose="02020603050405020304" pitchFamily="18" charset="0"/>
            </a:endParaRPr>
          </a:p>
        </p:txBody>
      </p:sp>
      <p:sp>
        <p:nvSpPr>
          <p:cNvPr id="18" name="Text 16"/>
          <p:cNvSpPr/>
          <p:nvPr/>
        </p:nvSpPr>
        <p:spPr>
          <a:xfrm>
            <a:off x="4702706" y="3363918"/>
            <a:ext cx="2898648" cy="219456"/>
          </a:xfrm>
          <a:prstGeom prst="rect">
            <a:avLst/>
          </a:prstGeom>
          <a:noFill/>
        </p:spPr>
        <p:txBody>
          <a:bodyPr wrap="square" lIns="0" tIns="0" rIns="0" bIns="0" rtlCol="0" anchor="ctr"/>
          <a:lstStyle/>
          <a:p>
            <a:pPr marL="0" indent="0">
              <a:buNone/>
            </a:pPr>
            <a:r>
              <a:rPr lang="en-US" sz="1200" b="1" dirty="0">
                <a:solidFill>
                  <a:srgbClr val="26C9F4"/>
                </a:solidFill>
                <a:latin typeface="Times New Roman" panose="02020603050405020304" pitchFamily="18" charset="0"/>
                <a:cs typeface="Times New Roman" panose="02020603050405020304" pitchFamily="18" charset="0"/>
              </a:rPr>
              <a:t>Testable</a:t>
            </a:r>
            <a:endParaRPr lang="en-US" sz="1200" dirty="0">
              <a:solidFill>
                <a:srgbClr val="26C9F4"/>
              </a:solidFill>
              <a:latin typeface="Times New Roman" panose="02020603050405020304" pitchFamily="18" charset="0"/>
              <a:cs typeface="Times New Roman" panose="02020603050405020304" pitchFamily="18" charset="0"/>
            </a:endParaRPr>
          </a:p>
        </p:txBody>
      </p:sp>
      <p:sp>
        <p:nvSpPr>
          <p:cNvPr id="19" name="Text 17"/>
          <p:cNvSpPr/>
          <p:nvPr/>
        </p:nvSpPr>
        <p:spPr>
          <a:xfrm>
            <a:off x="4702706" y="3602613"/>
            <a:ext cx="2898648" cy="457200"/>
          </a:xfrm>
          <a:prstGeom prst="rect">
            <a:avLst/>
          </a:prstGeom>
          <a:noFill/>
        </p:spPr>
        <p:txBody>
          <a:bodyPr wrap="square" lIns="0" tIns="0" rIns="0" bIns="0" rtlCol="0" anchor="ctr">
            <a:normAutofit/>
          </a:bodyPr>
          <a:lstStyle/>
          <a:p>
            <a:pPr marL="0" indent="0">
              <a:buNone/>
            </a:pPr>
            <a:r>
              <a:rPr lang="en-US" sz="1100" dirty="0">
                <a:solidFill>
                  <a:schemeClr val="bg1"/>
                </a:solidFill>
                <a:latin typeface="Times New Roman" panose="02020603050405020304" pitchFamily="18" charset="0"/>
                <a:cs typeface="Times New Roman" panose="02020603050405020304" pitchFamily="18" charset="0"/>
              </a:rPr>
              <a:t>unit tests, CLI smoke tests, real-data checks</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20" name="Text 18"/>
          <p:cNvSpPr/>
          <p:nvPr/>
        </p:nvSpPr>
        <p:spPr>
          <a:xfrm>
            <a:off x="8323730" y="3254190"/>
            <a:ext cx="3154680" cy="914400"/>
          </a:xfrm>
          <a:prstGeom prst="rect">
            <a:avLst/>
          </a:prstGeom>
          <a:solidFill>
            <a:srgbClr val="111A2C"/>
          </a:solidFill>
          <a:ln w="10160">
            <a:solidFill>
              <a:srgbClr val="26C9F4"/>
            </a:solidFill>
          </a:ln>
        </p:spPr>
        <p:txBody>
          <a:bodyPr wrap="square" lIns="0" tIns="0" rIns="0" bIns="0" rtlCol="0" anchor="ctr"/>
          <a:lstStyle/>
          <a:p>
            <a:pPr marL="0" indent="0">
              <a:buNone/>
            </a:pPr>
            <a:endParaRPr lang="en-US" sz="2400" dirty="0">
              <a:solidFill>
                <a:schemeClr val="bg1"/>
              </a:solidFill>
              <a:latin typeface="Times New Roman" panose="02020603050405020304" pitchFamily="18" charset="0"/>
              <a:cs typeface="Times New Roman" panose="02020603050405020304" pitchFamily="18" charset="0"/>
            </a:endParaRPr>
          </a:p>
        </p:txBody>
      </p:sp>
      <p:sp>
        <p:nvSpPr>
          <p:cNvPr id="21" name="Text 19"/>
          <p:cNvSpPr/>
          <p:nvPr/>
        </p:nvSpPr>
        <p:spPr>
          <a:xfrm>
            <a:off x="8451746" y="3363918"/>
            <a:ext cx="2898648" cy="219456"/>
          </a:xfrm>
          <a:prstGeom prst="rect">
            <a:avLst/>
          </a:prstGeom>
          <a:noFill/>
        </p:spPr>
        <p:txBody>
          <a:bodyPr wrap="square" lIns="0" tIns="0" rIns="0" bIns="0" rtlCol="0" anchor="ctr"/>
          <a:lstStyle/>
          <a:p>
            <a:pPr marL="0" indent="0">
              <a:buNone/>
            </a:pPr>
            <a:r>
              <a:rPr lang="en-US" sz="1200" b="1" dirty="0">
                <a:solidFill>
                  <a:srgbClr val="26C9F4"/>
                </a:solidFill>
                <a:latin typeface="Times New Roman" panose="02020603050405020304" pitchFamily="18" charset="0"/>
                <a:cs typeface="Times New Roman" panose="02020603050405020304" pitchFamily="18" charset="0"/>
              </a:rPr>
              <a:t>Transparent</a:t>
            </a:r>
            <a:endParaRPr lang="en-US" sz="1200" dirty="0">
              <a:solidFill>
                <a:srgbClr val="26C9F4"/>
              </a:solidFill>
              <a:latin typeface="Times New Roman" panose="02020603050405020304" pitchFamily="18" charset="0"/>
              <a:cs typeface="Times New Roman" panose="02020603050405020304" pitchFamily="18" charset="0"/>
            </a:endParaRPr>
          </a:p>
        </p:txBody>
      </p:sp>
      <p:sp>
        <p:nvSpPr>
          <p:cNvPr id="22" name="Text 20"/>
          <p:cNvSpPr/>
          <p:nvPr/>
        </p:nvSpPr>
        <p:spPr>
          <a:xfrm>
            <a:off x="8451746" y="3602613"/>
            <a:ext cx="2898648" cy="457200"/>
          </a:xfrm>
          <a:prstGeom prst="rect">
            <a:avLst/>
          </a:prstGeom>
          <a:noFill/>
        </p:spPr>
        <p:txBody>
          <a:bodyPr wrap="square" lIns="0" tIns="0" rIns="0" bIns="0" rtlCol="0" anchor="ctr">
            <a:normAutofit/>
          </a:bodyPr>
          <a:lstStyle/>
          <a:p>
            <a:pPr marL="0" indent="0">
              <a:buNone/>
            </a:pPr>
            <a:r>
              <a:rPr lang="en-US" sz="1100" dirty="0">
                <a:solidFill>
                  <a:schemeClr val="bg1"/>
                </a:solidFill>
                <a:latin typeface="Times New Roman" panose="02020603050405020304" pitchFamily="18" charset="0"/>
                <a:cs typeface="Times New Roman" panose="02020603050405020304" pitchFamily="18" charset="0"/>
              </a:rPr>
              <a:t>failed cases are reported, not hidden</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23" name="Shape 21"/>
          <p:cNvSpPr/>
          <p:nvPr/>
        </p:nvSpPr>
        <p:spPr>
          <a:xfrm>
            <a:off x="825650" y="5091595"/>
            <a:ext cx="10652760" cy="625018"/>
          </a:xfrm>
          <a:prstGeom prst="roundRect">
            <a:avLst>
              <a:gd name="adj" fmla="val 9091"/>
            </a:avLst>
          </a:prstGeom>
          <a:solidFill>
            <a:srgbClr val="0F1727"/>
          </a:solidFill>
          <a:ln w="8890">
            <a:solidFill>
              <a:srgbClr val="25C9F4"/>
            </a:solidFill>
            <a:prstDash val="solid"/>
          </a:ln>
        </p:spPr>
        <p:txBody>
          <a:bodyPr/>
          <a:lstStyle/>
          <a:p>
            <a:pPr algn="ctr">
              <a:lnSpc>
                <a:spcPct val="200000"/>
              </a:lnSpc>
            </a:pPr>
            <a:r>
              <a:rPr lang="en-US" altLang="zh-CN" sz="1200" b="1" dirty="0">
                <a:solidFill>
                  <a:schemeClr val="bg1"/>
                </a:solidFill>
                <a:latin typeface="Times New Roman" panose="02020603050405020304" pitchFamily="18" charset="0"/>
                <a:ea typeface="Aptos" pitchFamily="34" charset="-122"/>
                <a:cs typeface="Times New Roman" panose="02020603050405020304" pitchFamily="18" charset="0"/>
              </a:rPr>
              <a:t>Example integration finding: real Cohort A slider latency was reduced from seconds per slice to tens of milliseconds after profiling and slice-extraction changes.</a:t>
            </a:r>
            <a:endParaRPr lang="en-US" altLang="zh-CN" sz="1200" b="1" dirty="0">
              <a:solidFill>
                <a:schemeClr val="bg1"/>
              </a:solidFill>
              <a:latin typeface="Times New Roman" panose="02020603050405020304" pitchFamily="18" charset="0"/>
              <a:cs typeface="Times New Roman" panose="02020603050405020304" pitchFamily="18" charset="0"/>
            </a:endParaRPr>
          </a:p>
          <a:p>
            <a:pPr algn="ctr">
              <a:lnSpc>
                <a:spcPct val="200000"/>
              </a:lnSpc>
            </a:pPr>
            <a:endParaRPr lang="zh-CN" altLang="en-US" sz="1050" dirty="0">
              <a:solidFill>
                <a:schemeClr val="bg1"/>
              </a:solidFill>
              <a:latin typeface="Times New Roman" panose="02020603050405020304" pitchFamily="18" charset="0"/>
              <a:cs typeface="Times New Roman" panose="02020603050405020304" pitchFamily="18" charset="0"/>
            </a:endParaRPr>
          </a:p>
        </p:txBody>
      </p:sp>
      <p:sp>
        <p:nvSpPr>
          <p:cNvPr id="25" name="Slide Number Placeholder 0"/>
          <p:cNvSpPr>
            <a:spLocks noGrp="1"/>
          </p:cNvSpPr>
          <p:nvPr>
            <p:ph type="sldNum" sz="quarter" idx="4294967295"/>
          </p:nvPr>
        </p:nvSpPr>
        <p:spPr>
          <a:xfrm>
            <a:off x="11707010" y="6574536"/>
            <a:ext cx="800000" cy="300000"/>
          </a:xfrm>
          <a:prstGeom prst="rect">
            <a:avLst/>
          </a:prstGeom>
        </p:spPr>
        <p:txBody>
          <a:bodyPr/>
          <a:lstStyle>
            <a:lvl1pPr>
              <a:defRPr sz="550">
                <a:solidFill>
                  <a:srgbClr val="6F7D91"/>
                </a:solidFill>
                <a:latin typeface="Aptos"/>
                <a:ea typeface="Aptos"/>
                <a:cs typeface="Aptos"/>
              </a:defRPr>
            </a:lvl1pPr>
          </a:lstStyle>
          <a:p>
            <a:pPr algn="l"/>
            <a:fld id="{F7021451-1387-4CA6-816F-3879F97B5CBC}" type="slidenum">
              <a:rPr lang="en-US" b="0">
                <a:solidFill>
                  <a:schemeClr val="bg1"/>
                </a:solidFill>
                <a:latin typeface="Times New Roman" panose="02020603050405020304" pitchFamily="18" charset="0"/>
                <a:cs typeface="Times New Roman" panose="02020603050405020304" pitchFamily="18" charset="0"/>
              </a:rPr>
            </a:fld>
            <a:endParaRPr lang="en-US">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26100" y="684191"/>
            <a:ext cx="7863840" cy="393192"/>
          </a:xfrm>
          <a:prstGeom prst="rect">
            <a:avLst/>
          </a:prstGeom>
          <a:noFill/>
        </p:spPr>
        <p:txBody>
          <a:bodyPr wrap="square" lIns="0" tIns="0" rIns="0" bIns="0" rtlCol="0" anchor="ctr"/>
          <a:lstStyle/>
          <a:p>
            <a:pPr marL="0" indent="0">
              <a:buNone/>
            </a:pPr>
            <a:r>
              <a:rPr lang="en-US" sz="2800" b="1" dirty="0">
                <a:solidFill>
                  <a:schemeClr val="bg1"/>
                </a:solidFill>
                <a:latin typeface="Times New Roman" panose="02020603050405020304" pitchFamily="18" charset="0"/>
                <a:ea typeface="Aptos Display" pitchFamily="34" charset="-122"/>
                <a:cs typeface="Times New Roman" panose="02020603050405020304" pitchFamily="18" charset="0"/>
              </a:rPr>
              <a:t>What is not fully covered in today’s live demo</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Text 1"/>
          <p:cNvSpPr/>
          <p:nvPr/>
        </p:nvSpPr>
        <p:spPr>
          <a:xfrm>
            <a:off x="626100" y="1141391"/>
            <a:ext cx="8869680" cy="201168"/>
          </a:xfrm>
          <a:prstGeom prst="rect">
            <a:avLst/>
          </a:prstGeom>
          <a:noFill/>
        </p:spPr>
        <p:txBody>
          <a:bodyPr wrap="square" lIns="0" tIns="0" rIns="0" bIns="0" rtlCol="0" anchor="ctr"/>
          <a:lstStyle/>
          <a:p>
            <a:pPr marL="0" indent="0">
              <a:buNone/>
            </a:pPr>
            <a:r>
              <a:rPr lang="en-US" sz="1200" dirty="0">
                <a:solidFill>
                  <a:schemeClr val="bg1"/>
                </a:solidFill>
                <a:latin typeface="Times New Roman" panose="02020603050405020304" pitchFamily="18" charset="0"/>
                <a:cs typeface="Times New Roman" panose="02020603050405020304" pitchFamily="18" charset="0"/>
              </a:rPr>
              <a:t>Known limits are reported transparently so that next-step decisions are clear.</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5" name="Shape 3"/>
          <p:cNvSpPr/>
          <p:nvPr/>
        </p:nvSpPr>
        <p:spPr>
          <a:xfrm>
            <a:off x="892890" y="1982103"/>
            <a:ext cx="3154680" cy="3224600"/>
          </a:xfrm>
          <a:prstGeom prst="roundRect">
            <a:avLst>
              <a:gd name="adj" fmla="val 2319"/>
            </a:avLst>
          </a:prstGeom>
          <a:solidFill>
            <a:srgbClr val="0F1727"/>
          </a:solidFill>
          <a:ln w="8890">
            <a:solidFill>
              <a:srgbClr val="26C9F4"/>
            </a:solidFill>
            <a:prstDash val="solid"/>
          </a:ln>
        </p:spPr>
        <p:txBody>
          <a:bodyPr/>
          <a:lstStyle/>
          <a:p>
            <a:endParaRPr lang="zh-CN" altLang="en-US">
              <a:solidFill>
                <a:schemeClr val="bg1"/>
              </a:solidFill>
              <a:latin typeface="Times New Roman" panose="02020603050405020304" pitchFamily="18" charset="0"/>
              <a:cs typeface="Times New Roman" panose="02020603050405020304" pitchFamily="18" charset="0"/>
            </a:endParaRPr>
          </a:p>
        </p:txBody>
      </p:sp>
      <p:sp>
        <p:nvSpPr>
          <p:cNvPr id="6" name="Text 4"/>
          <p:cNvSpPr/>
          <p:nvPr/>
        </p:nvSpPr>
        <p:spPr>
          <a:xfrm>
            <a:off x="1186038" y="2283855"/>
            <a:ext cx="2697480" cy="292608"/>
          </a:xfrm>
          <a:prstGeom prst="rect">
            <a:avLst/>
          </a:prstGeom>
          <a:noFill/>
        </p:spPr>
        <p:txBody>
          <a:bodyPr wrap="square" lIns="508" tIns="508" rIns="508" bIns="508" rtlCol="0" anchor="t">
            <a:normAutofit/>
          </a:bodyPr>
          <a:lstStyle/>
          <a:p>
            <a:pPr marL="0" indent="0" algn="l">
              <a:buNone/>
            </a:pPr>
            <a:r>
              <a:rPr lang="en-US" sz="1600" b="1" dirty="0">
                <a:solidFill>
                  <a:srgbClr val="26C9F4"/>
                </a:solidFill>
                <a:latin typeface="Times New Roman" panose="02020603050405020304" pitchFamily="18" charset="0"/>
                <a:ea typeface="Aptos" pitchFamily="34" charset="-122"/>
                <a:cs typeface="Times New Roman" panose="02020603050405020304" pitchFamily="18" charset="0"/>
              </a:rPr>
              <a:t>Outside today’s demo time</a:t>
            </a:r>
            <a:endParaRPr lang="en-US" sz="1600" dirty="0">
              <a:solidFill>
                <a:srgbClr val="26C9F4"/>
              </a:solidFill>
              <a:latin typeface="Times New Roman" panose="02020603050405020304" pitchFamily="18" charset="0"/>
              <a:cs typeface="Times New Roman" panose="02020603050405020304" pitchFamily="18" charset="0"/>
            </a:endParaRPr>
          </a:p>
        </p:txBody>
      </p:sp>
      <p:sp>
        <p:nvSpPr>
          <p:cNvPr id="7" name="Text 5"/>
          <p:cNvSpPr/>
          <p:nvPr/>
        </p:nvSpPr>
        <p:spPr>
          <a:xfrm>
            <a:off x="1212930" y="2632940"/>
            <a:ext cx="2606040" cy="1965960"/>
          </a:xfrm>
          <a:prstGeom prst="rect">
            <a:avLst/>
          </a:prstGeom>
          <a:noFill/>
        </p:spPr>
        <p:txBody>
          <a:bodyPr wrap="square" lIns="635" tIns="635" rIns="635" bIns="635" rtlCol="0" anchor="ctr">
            <a:normAutofit/>
          </a:bodyPr>
          <a:lstStyle/>
          <a:p>
            <a:pPr>
              <a:lnSpc>
                <a:spcPct val="200000"/>
              </a:lnSpc>
            </a:pPr>
            <a:r>
              <a:rPr lang="en-US" sz="1200" dirty="0">
                <a:solidFill>
                  <a:schemeClr val="bg1"/>
                </a:solidFill>
                <a:latin typeface="Times New Roman" panose="02020603050405020304" pitchFamily="18" charset="0"/>
                <a:cs typeface="Times New Roman" panose="02020603050405020304" pitchFamily="18" charset="0"/>
              </a:rPr>
              <a:t>full long-form test logs</a:t>
            </a:r>
            <a:endParaRPr lang="en-US" sz="1200"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sz="1200" dirty="0">
                <a:solidFill>
                  <a:schemeClr val="bg1"/>
                </a:solidFill>
                <a:latin typeface="Times New Roman" panose="02020603050405020304" pitchFamily="18" charset="0"/>
                <a:cs typeface="Times New Roman" panose="02020603050405020304" pitchFamily="18" charset="0"/>
              </a:rPr>
              <a:t>every patient and every slice</a:t>
            </a:r>
            <a:endParaRPr lang="en-US" sz="1200"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sz="1200" dirty="0">
                <a:solidFill>
                  <a:schemeClr val="bg1"/>
                </a:solidFill>
                <a:latin typeface="Times New Roman" panose="02020603050405020304" pitchFamily="18" charset="0"/>
                <a:cs typeface="Times New Roman" panose="02020603050405020304" pitchFamily="18" charset="0"/>
              </a:rPr>
              <a:t>all failure cases one by one</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8" name="Shape 6"/>
          <p:cNvSpPr/>
          <p:nvPr/>
        </p:nvSpPr>
        <p:spPr>
          <a:xfrm>
            <a:off x="4641930" y="1982103"/>
            <a:ext cx="3154680" cy="3224600"/>
          </a:xfrm>
          <a:prstGeom prst="roundRect">
            <a:avLst>
              <a:gd name="adj" fmla="val 2319"/>
            </a:avLst>
          </a:prstGeom>
          <a:solidFill>
            <a:srgbClr val="0F1727"/>
          </a:solidFill>
          <a:ln w="8890">
            <a:solidFill>
              <a:srgbClr val="26C9F4"/>
            </a:solidFill>
            <a:prstDash val="solid"/>
          </a:ln>
        </p:spPr>
        <p:txBody>
          <a:bodyPr/>
          <a:lstStyle/>
          <a:p>
            <a:endParaRPr lang="zh-CN" altLang="en-US">
              <a:solidFill>
                <a:schemeClr val="bg1"/>
              </a:solidFill>
              <a:latin typeface="Times New Roman" panose="02020603050405020304" pitchFamily="18" charset="0"/>
              <a:cs typeface="Times New Roman" panose="02020603050405020304" pitchFamily="18" charset="0"/>
            </a:endParaRPr>
          </a:p>
        </p:txBody>
      </p:sp>
      <p:sp>
        <p:nvSpPr>
          <p:cNvPr id="9" name="Text 7"/>
          <p:cNvSpPr/>
          <p:nvPr/>
        </p:nvSpPr>
        <p:spPr>
          <a:xfrm>
            <a:off x="4935078" y="2283855"/>
            <a:ext cx="2697480" cy="292608"/>
          </a:xfrm>
          <a:prstGeom prst="rect">
            <a:avLst/>
          </a:prstGeom>
          <a:noFill/>
        </p:spPr>
        <p:txBody>
          <a:bodyPr wrap="square" lIns="508" tIns="508" rIns="508" bIns="508" rtlCol="0" anchor="t">
            <a:normAutofit/>
          </a:bodyPr>
          <a:lstStyle/>
          <a:p>
            <a:pPr marL="0" indent="0" algn="l">
              <a:buNone/>
            </a:pPr>
            <a:r>
              <a:rPr lang="en-US" sz="1600" b="1" dirty="0">
                <a:solidFill>
                  <a:srgbClr val="26C9F4"/>
                </a:solidFill>
                <a:latin typeface="Times New Roman" panose="02020603050405020304" pitchFamily="18" charset="0"/>
                <a:ea typeface="Aptos" pitchFamily="34" charset="-122"/>
                <a:cs typeface="Times New Roman" panose="02020603050405020304" pitchFamily="18" charset="0"/>
              </a:rPr>
              <a:t>Current technical limits</a:t>
            </a:r>
            <a:endParaRPr lang="en-US" sz="1600" dirty="0">
              <a:solidFill>
                <a:srgbClr val="26C9F4"/>
              </a:solidFill>
              <a:latin typeface="Times New Roman" panose="02020603050405020304" pitchFamily="18" charset="0"/>
              <a:cs typeface="Times New Roman" panose="02020603050405020304" pitchFamily="18" charset="0"/>
            </a:endParaRPr>
          </a:p>
        </p:txBody>
      </p:sp>
      <p:sp>
        <p:nvSpPr>
          <p:cNvPr id="10" name="Text 8"/>
          <p:cNvSpPr/>
          <p:nvPr/>
        </p:nvSpPr>
        <p:spPr>
          <a:xfrm>
            <a:off x="4961970" y="2632940"/>
            <a:ext cx="2606040" cy="1965960"/>
          </a:xfrm>
          <a:prstGeom prst="rect">
            <a:avLst/>
          </a:prstGeom>
          <a:noFill/>
        </p:spPr>
        <p:txBody>
          <a:bodyPr wrap="square" lIns="635" tIns="635" rIns="635" bIns="635" rtlCol="0" anchor="ctr">
            <a:normAutofit/>
          </a:bodyPr>
          <a:lstStyle/>
          <a:p>
            <a:pPr>
              <a:lnSpc>
                <a:spcPct val="200000"/>
              </a:lnSpc>
            </a:pPr>
            <a:r>
              <a:rPr lang="en-US" sz="1200" dirty="0">
                <a:solidFill>
                  <a:schemeClr val="bg1"/>
                </a:solidFill>
                <a:latin typeface="Times New Roman" panose="02020603050405020304" pitchFamily="18" charset="0"/>
                <a:cs typeface="Times New Roman" panose="02020603050405020304" pitchFamily="18" charset="0"/>
              </a:rPr>
              <a:t>rigid registration baseline</a:t>
            </a:r>
            <a:endParaRPr lang="en-US" sz="1200"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sz="1200" dirty="0">
                <a:solidFill>
                  <a:schemeClr val="bg1"/>
                </a:solidFill>
                <a:latin typeface="Times New Roman" panose="02020603050405020304" pitchFamily="18" charset="0"/>
                <a:cs typeface="Times New Roman" panose="02020603050405020304" pitchFamily="18" charset="0"/>
              </a:rPr>
              <a:t>some hard registration cases</a:t>
            </a:r>
            <a:endParaRPr lang="en-US" sz="1200"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sz="1200" dirty="0">
                <a:solidFill>
                  <a:schemeClr val="bg1"/>
                </a:solidFill>
                <a:latin typeface="Times New Roman" panose="02020603050405020304" pitchFamily="18" charset="0"/>
                <a:cs typeface="Times New Roman" panose="02020603050405020304" pitchFamily="18" charset="0"/>
              </a:rPr>
              <a:t>PET/GT availability varies by dataset</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11" name="Shape 9"/>
          <p:cNvSpPr/>
          <p:nvPr/>
        </p:nvSpPr>
        <p:spPr>
          <a:xfrm>
            <a:off x="8390970" y="1982103"/>
            <a:ext cx="3154680" cy="3224600"/>
          </a:xfrm>
          <a:prstGeom prst="roundRect">
            <a:avLst>
              <a:gd name="adj" fmla="val 2319"/>
            </a:avLst>
          </a:prstGeom>
          <a:solidFill>
            <a:srgbClr val="0F1727"/>
          </a:solidFill>
          <a:ln w="8890">
            <a:solidFill>
              <a:srgbClr val="26C9F4"/>
            </a:solidFill>
            <a:prstDash val="solid"/>
          </a:ln>
        </p:spPr>
        <p:txBody>
          <a:bodyPr/>
          <a:lstStyle/>
          <a:p>
            <a:endParaRPr lang="zh-CN" altLang="en-US">
              <a:solidFill>
                <a:schemeClr val="bg1"/>
              </a:solidFill>
              <a:latin typeface="Times New Roman" panose="02020603050405020304" pitchFamily="18" charset="0"/>
              <a:cs typeface="Times New Roman" panose="02020603050405020304" pitchFamily="18" charset="0"/>
            </a:endParaRPr>
          </a:p>
        </p:txBody>
      </p:sp>
      <p:sp>
        <p:nvSpPr>
          <p:cNvPr id="12" name="Text 10"/>
          <p:cNvSpPr/>
          <p:nvPr/>
        </p:nvSpPr>
        <p:spPr>
          <a:xfrm>
            <a:off x="8684118" y="2283855"/>
            <a:ext cx="2697480" cy="292608"/>
          </a:xfrm>
          <a:prstGeom prst="rect">
            <a:avLst/>
          </a:prstGeom>
          <a:noFill/>
        </p:spPr>
        <p:txBody>
          <a:bodyPr wrap="square" lIns="508" tIns="508" rIns="508" bIns="508" rtlCol="0" anchor="t">
            <a:normAutofit/>
          </a:bodyPr>
          <a:lstStyle/>
          <a:p>
            <a:pPr marL="0" indent="0" algn="l">
              <a:buNone/>
            </a:pPr>
            <a:r>
              <a:rPr lang="en-US" sz="1600" b="1" dirty="0">
                <a:solidFill>
                  <a:srgbClr val="26C9F4"/>
                </a:solidFill>
                <a:latin typeface="Times New Roman" panose="02020603050405020304" pitchFamily="18" charset="0"/>
                <a:ea typeface="Aptos" pitchFamily="34" charset="-122"/>
                <a:cs typeface="Times New Roman" panose="02020603050405020304" pitchFamily="18" charset="0"/>
              </a:rPr>
              <a:t>Next engineering priorities</a:t>
            </a:r>
            <a:endParaRPr lang="en-US" sz="1600" dirty="0">
              <a:solidFill>
                <a:srgbClr val="26C9F4"/>
              </a:solidFill>
              <a:latin typeface="Times New Roman" panose="02020603050405020304" pitchFamily="18" charset="0"/>
              <a:cs typeface="Times New Roman" panose="02020603050405020304" pitchFamily="18" charset="0"/>
            </a:endParaRPr>
          </a:p>
        </p:txBody>
      </p:sp>
      <p:sp>
        <p:nvSpPr>
          <p:cNvPr id="13" name="Text 11"/>
          <p:cNvSpPr/>
          <p:nvPr/>
        </p:nvSpPr>
        <p:spPr>
          <a:xfrm>
            <a:off x="8711010" y="2632940"/>
            <a:ext cx="2606040" cy="1965960"/>
          </a:xfrm>
          <a:prstGeom prst="rect">
            <a:avLst/>
          </a:prstGeom>
          <a:noFill/>
        </p:spPr>
        <p:txBody>
          <a:bodyPr wrap="square" lIns="635" tIns="635" rIns="635" bIns="635" rtlCol="0" anchor="ctr">
            <a:normAutofit/>
          </a:bodyPr>
          <a:lstStyle/>
          <a:p>
            <a:pPr>
              <a:lnSpc>
                <a:spcPct val="200000"/>
              </a:lnSpc>
            </a:pPr>
            <a:r>
              <a:rPr lang="en-US" sz="1200" dirty="0">
                <a:solidFill>
                  <a:schemeClr val="bg1"/>
                </a:solidFill>
                <a:latin typeface="Times New Roman" panose="02020603050405020304" pitchFamily="18" charset="0"/>
                <a:cs typeface="Times New Roman" panose="02020603050405020304" pitchFamily="18" charset="0"/>
              </a:rPr>
              <a:t>registration reliability review</a:t>
            </a:r>
            <a:endParaRPr lang="en-US" sz="1200"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sz="1200" dirty="0">
                <a:solidFill>
                  <a:schemeClr val="bg1"/>
                </a:solidFill>
                <a:latin typeface="Times New Roman" panose="02020603050405020304" pitchFamily="18" charset="0"/>
                <a:cs typeface="Times New Roman" panose="02020603050405020304" pitchFamily="18" charset="0"/>
              </a:rPr>
              <a:t>larger evaluation coverage</a:t>
            </a:r>
            <a:endParaRPr lang="en-US" sz="1200"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sz="1200" dirty="0">
                <a:solidFill>
                  <a:schemeClr val="bg1"/>
                </a:solidFill>
                <a:latin typeface="Times New Roman" panose="02020603050405020304" pitchFamily="18" charset="0"/>
                <a:cs typeface="Times New Roman" panose="02020603050405020304" pitchFamily="18" charset="0"/>
              </a:rPr>
              <a:t>parameter sensitivity testing</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25" name="Slide Number Placeholder 0"/>
          <p:cNvSpPr>
            <a:spLocks noGrp="1"/>
          </p:cNvSpPr>
          <p:nvPr>
            <p:ph type="sldNum" sz="quarter" idx="4294967295"/>
          </p:nvPr>
        </p:nvSpPr>
        <p:spPr>
          <a:xfrm>
            <a:off x="11567160" y="6574536"/>
            <a:ext cx="800000" cy="300000"/>
          </a:xfrm>
          <a:prstGeom prst="rect">
            <a:avLst/>
          </a:prstGeom>
        </p:spPr>
        <p:txBody>
          <a:bodyPr/>
          <a:lstStyle>
            <a:lvl1pPr>
              <a:defRPr sz="550">
                <a:solidFill>
                  <a:srgbClr val="6F7D91"/>
                </a:solidFill>
                <a:latin typeface="Aptos"/>
                <a:ea typeface="Aptos"/>
                <a:cs typeface="Aptos"/>
              </a:defRPr>
            </a:lvl1pPr>
          </a:lstStyle>
          <a:p>
            <a:pPr algn="l"/>
            <a:fld id="{F7021451-1387-4CA6-816F-3879F97B5CBC}" type="slidenum">
              <a:rPr lang="en-US" b="0">
                <a:solidFill>
                  <a:schemeClr val="bg1"/>
                </a:solidFill>
                <a:latin typeface="Times New Roman" panose="02020603050405020304" pitchFamily="18" charset="0"/>
                <a:cs typeface="Times New Roman" panose="02020603050405020304" pitchFamily="18" charset="0"/>
              </a:rPr>
            </a:fld>
            <a:endParaRPr lang="en-US"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36858" y="694945"/>
            <a:ext cx="7863840" cy="393192"/>
          </a:xfrm>
          <a:prstGeom prst="rect">
            <a:avLst/>
          </a:prstGeom>
          <a:noFill/>
        </p:spPr>
        <p:txBody>
          <a:bodyPr wrap="square" lIns="0" tIns="0" rIns="0" bIns="0" rtlCol="0" anchor="ctr"/>
          <a:lstStyle/>
          <a:p>
            <a:pPr marL="0" indent="0">
              <a:buNone/>
            </a:pPr>
            <a:r>
              <a:rPr lang="en-US" sz="2800" b="1" dirty="0">
                <a:solidFill>
                  <a:schemeClr val="bg1"/>
                </a:solidFill>
                <a:latin typeface="Times New Roman" panose="02020603050405020304" pitchFamily="18" charset="0"/>
                <a:ea typeface="Aptos Display" pitchFamily="34" charset="-122"/>
                <a:cs typeface="Times New Roman" panose="02020603050405020304" pitchFamily="18" charset="0"/>
              </a:rPr>
              <a:t>Feedback we want from the client</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3" name="Text 1"/>
          <p:cNvSpPr/>
          <p:nvPr/>
        </p:nvSpPr>
        <p:spPr>
          <a:xfrm>
            <a:off x="636858" y="1152145"/>
            <a:ext cx="8869680" cy="201168"/>
          </a:xfrm>
          <a:prstGeom prst="rect">
            <a:avLst/>
          </a:prstGeom>
          <a:noFill/>
        </p:spPr>
        <p:txBody>
          <a:bodyPr wrap="square" lIns="0" tIns="0" rIns="0" bIns="0" rtlCol="0" anchor="ctr"/>
          <a:lstStyle/>
          <a:p>
            <a:pPr marL="0" indent="0">
              <a:buNone/>
            </a:pPr>
            <a:r>
              <a:rPr lang="en-US" sz="1200" dirty="0">
                <a:solidFill>
                  <a:schemeClr val="bg1"/>
                </a:solidFill>
                <a:latin typeface="Times New Roman" panose="02020603050405020304" pitchFamily="18" charset="0"/>
                <a:cs typeface="Times New Roman" panose="02020603050405020304" pitchFamily="18" charset="0"/>
              </a:rPr>
              <a:t>Your feedback will guide polish and prioritisation before final delivery.</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5" name="Text 3"/>
          <p:cNvSpPr/>
          <p:nvPr/>
        </p:nvSpPr>
        <p:spPr>
          <a:xfrm>
            <a:off x="1030050" y="1713158"/>
            <a:ext cx="411480" cy="411480"/>
          </a:xfrm>
          <a:prstGeom prst="rect">
            <a:avLst/>
          </a:prstGeom>
          <a:solidFill>
            <a:srgbClr val="25C9F4"/>
          </a:solidFill>
        </p:spPr>
        <p:txBody>
          <a:bodyPr wrap="square" lIns="0" tIns="0" rIns="0" bIns="0" rtlCol="0" anchor="ctr"/>
          <a:lstStyle/>
          <a:p>
            <a:pPr marL="0" indent="0" algn="ctr">
              <a:buNone/>
            </a:pPr>
            <a:r>
              <a:rPr lang="en-US" b="1" dirty="0">
                <a:solidFill>
                  <a:schemeClr val="bg1"/>
                </a:solidFill>
                <a:latin typeface="Times New Roman" panose="02020603050405020304" pitchFamily="18" charset="0"/>
                <a:cs typeface="Times New Roman" panose="02020603050405020304" pitchFamily="18" charset="0"/>
              </a:rPr>
              <a:t>1</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6" name="Text 4"/>
          <p:cNvSpPr/>
          <p:nvPr/>
        </p:nvSpPr>
        <p:spPr>
          <a:xfrm>
            <a:off x="1670130" y="1740590"/>
            <a:ext cx="1783080" cy="274320"/>
          </a:xfrm>
          <a:prstGeom prst="rect">
            <a:avLst/>
          </a:prstGeom>
          <a:noFill/>
        </p:spPr>
        <p:txBody>
          <a:bodyPr wrap="square" lIns="508" tIns="508" rIns="508" bIns="508" rtlCol="0" anchor="t">
            <a:normAutofit/>
          </a:bodyPr>
          <a:lstStyle/>
          <a:p>
            <a:pPr marL="0" indent="0" algn="l">
              <a:buNone/>
            </a:pPr>
            <a:r>
              <a:rPr lang="en-US" sz="1600" b="1" dirty="0">
                <a:solidFill>
                  <a:schemeClr val="bg1"/>
                </a:solidFill>
                <a:latin typeface="Times New Roman" panose="02020603050405020304" pitchFamily="18" charset="0"/>
                <a:ea typeface="Aptos" pitchFamily="34" charset="-122"/>
                <a:cs typeface="Times New Roman" panose="02020603050405020304" pitchFamily="18" charset="0"/>
              </a:rPr>
              <a:t>Review workflow</a:t>
            </a:r>
            <a:endParaRPr lang="en-US" sz="1600" dirty="0">
              <a:solidFill>
                <a:schemeClr val="bg1"/>
              </a:solidFill>
              <a:latin typeface="Times New Roman" panose="02020603050405020304" pitchFamily="18" charset="0"/>
              <a:cs typeface="Times New Roman" panose="02020603050405020304" pitchFamily="18" charset="0"/>
            </a:endParaRPr>
          </a:p>
        </p:txBody>
      </p:sp>
      <p:sp>
        <p:nvSpPr>
          <p:cNvPr id="7" name="Text 5"/>
          <p:cNvSpPr/>
          <p:nvPr/>
        </p:nvSpPr>
        <p:spPr>
          <a:xfrm>
            <a:off x="3864690" y="1749734"/>
            <a:ext cx="6812280" cy="274320"/>
          </a:xfrm>
          <a:prstGeom prst="rect">
            <a:avLst/>
          </a:prstGeom>
          <a:noFill/>
        </p:spPr>
        <p:txBody>
          <a:bodyPr wrap="square" lIns="508" tIns="508" rIns="508" bIns="508" rtlCol="0" anchor="t">
            <a:normAutofit/>
          </a:bodyPr>
          <a:lstStyle/>
          <a:p>
            <a:pPr marL="0" indent="0" algn="l">
              <a:buNone/>
            </a:pPr>
            <a:r>
              <a:rPr lang="en-US" sz="1200" dirty="0">
                <a:solidFill>
                  <a:schemeClr val="bg1"/>
                </a:solidFill>
                <a:latin typeface="Times New Roman" panose="02020603050405020304" pitchFamily="18" charset="0"/>
                <a:ea typeface="Aptos" pitchFamily="34" charset="-122"/>
                <a:cs typeface="Times New Roman" panose="02020603050405020304" pitchFamily="18" charset="0"/>
              </a:rPr>
              <a:t>Is the BL → registered BL → FU layout useful for your inspection workflow?</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8" name="Text 6"/>
          <p:cNvSpPr/>
          <p:nvPr/>
        </p:nvSpPr>
        <p:spPr>
          <a:xfrm>
            <a:off x="1030050" y="2654990"/>
            <a:ext cx="411480" cy="411480"/>
          </a:xfrm>
          <a:prstGeom prst="rect">
            <a:avLst/>
          </a:prstGeom>
          <a:solidFill>
            <a:srgbClr val="26C9F4"/>
          </a:solidFill>
          <a:ln>
            <a:solidFill>
              <a:srgbClr val="26C9F4"/>
            </a:solidFill>
          </a:ln>
        </p:spPr>
        <p:txBody>
          <a:bodyPr wrap="square" lIns="0" tIns="0" rIns="0" bIns="0" rtlCol="0" anchor="ctr"/>
          <a:lstStyle/>
          <a:p>
            <a:pPr marL="0" indent="0" algn="ctr">
              <a:buNone/>
            </a:pPr>
            <a:r>
              <a:rPr lang="en-US" b="1" dirty="0">
                <a:solidFill>
                  <a:schemeClr val="bg1"/>
                </a:solidFill>
                <a:latin typeface="Times New Roman" panose="02020603050405020304" pitchFamily="18" charset="0"/>
                <a:cs typeface="Times New Roman" panose="02020603050405020304" pitchFamily="18" charset="0"/>
              </a:rPr>
              <a:t>2</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9" name="Text 7"/>
          <p:cNvSpPr/>
          <p:nvPr/>
        </p:nvSpPr>
        <p:spPr>
          <a:xfrm>
            <a:off x="1670130" y="2682422"/>
            <a:ext cx="1783080" cy="274320"/>
          </a:xfrm>
          <a:prstGeom prst="rect">
            <a:avLst/>
          </a:prstGeom>
          <a:noFill/>
        </p:spPr>
        <p:txBody>
          <a:bodyPr wrap="square" lIns="508" tIns="508" rIns="508" bIns="508" rtlCol="0" anchor="t">
            <a:normAutofit/>
          </a:bodyPr>
          <a:lstStyle/>
          <a:p>
            <a:pPr marL="0" indent="0" algn="l">
              <a:buNone/>
            </a:pPr>
            <a:r>
              <a:rPr lang="en-US" sz="1600" b="1" dirty="0">
                <a:solidFill>
                  <a:schemeClr val="bg1"/>
                </a:solidFill>
                <a:latin typeface="Times New Roman" panose="02020603050405020304" pitchFamily="18" charset="0"/>
                <a:ea typeface="Aptos" pitchFamily="34" charset="-122"/>
                <a:cs typeface="Times New Roman" panose="02020603050405020304" pitchFamily="18" charset="0"/>
              </a:rPr>
              <a:t>Result language</a:t>
            </a:r>
            <a:endParaRPr lang="en-US" sz="1600" dirty="0">
              <a:solidFill>
                <a:schemeClr val="bg1"/>
              </a:solidFill>
              <a:latin typeface="Times New Roman" panose="02020603050405020304" pitchFamily="18" charset="0"/>
              <a:cs typeface="Times New Roman" panose="02020603050405020304" pitchFamily="18" charset="0"/>
            </a:endParaRPr>
          </a:p>
        </p:txBody>
      </p:sp>
      <p:sp>
        <p:nvSpPr>
          <p:cNvPr id="10" name="Text 8"/>
          <p:cNvSpPr/>
          <p:nvPr/>
        </p:nvSpPr>
        <p:spPr>
          <a:xfrm>
            <a:off x="3864690" y="2691566"/>
            <a:ext cx="6812280" cy="274320"/>
          </a:xfrm>
          <a:prstGeom prst="rect">
            <a:avLst/>
          </a:prstGeom>
          <a:noFill/>
        </p:spPr>
        <p:txBody>
          <a:bodyPr wrap="square" lIns="508" tIns="508" rIns="508" bIns="508" rtlCol="0" anchor="t">
            <a:normAutofit/>
          </a:bodyPr>
          <a:lstStyle/>
          <a:p>
            <a:pPr marL="0" indent="0" algn="l">
              <a:buNone/>
            </a:pPr>
            <a:r>
              <a:rPr lang="en-US" sz="1200" dirty="0">
                <a:solidFill>
                  <a:schemeClr val="bg1"/>
                </a:solidFill>
                <a:latin typeface="Times New Roman" panose="02020603050405020304" pitchFamily="18" charset="0"/>
                <a:ea typeface="Aptos" pitchFamily="34" charset="-122"/>
                <a:cs typeface="Times New Roman" panose="02020603050405020304" pitchFamily="18" charset="0"/>
              </a:rPr>
              <a:t>Are MATCHED / MERGING / NEW / DISAPPEARING the right categories for review?</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11" name="Text 9"/>
          <p:cNvSpPr/>
          <p:nvPr/>
        </p:nvSpPr>
        <p:spPr>
          <a:xfrm>
            <a:off x="1030050" y="3596822"/>
            <a:ext cx="411480" cy="411480"/>
          </a:xfrm>
          <a:prstGeom prst="rect">
            <a:avLst/>
          </a:prstGeom>
          <a:solidFill>
            <a:srgbClr val="26C9F4"/>
          </a:solidFill>
          <a:ln>
            <a:solidFill>
              <a:srgbClr val="26C9F4"/>
            </a:solidFill>
          </a:ln>
        </p:spPr>
        <p:txBody>
          <a:bodyPr wrap="square" lIns="0" tIns="0" rIns="0" bIns="0" rtlCol="0" anchor="ctr"/>
          <a:lstStyle/>
          <a:p>
            <a:pPr marL="0" indent="0" algn="ctr">
              <a:buNone/>
            </a:pPr>
            <a:r>
              <a:rPr lang="en-US" b="1" dirty="0">
                <a:solidFill>
                  <a:schemeClr val="bg1"/>
                </a:solidFill>
                <a:latin typeface="Times New Roman" panose="02020603050405020304" pitchFamily="18" charset="0"/>
                <a:cs typeface="Times New Roman" panose="02020603050405020304" pitchFamily="18" charset="0"/>
              </a:rPr>
              <a:t>3</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12" name="Text 10"/>
          <p:cNvSpPr/>
          <p:nvPr/>
        </p:nvSpPr>
        <p:spPr>
          <a:xfrm>
            <a:off x="1670130" y="3624254"/>
            <a:ext cx="1783080" cy="274320"/>
          </a:xfrm>
          <a:prstGeom prst="rect">
            <a:avLst/>
          </a:prstGeom>
          <a:noFill/>
        </p:spPr>
        <p:txBody>
          <a:bodyPr wrap="square" lIns="508" tIns="508" rIns="508" bIns="508" rtlCol="0" anchor="t">
            <a:normAutofit/>
          </a:bodyPr>
          <a:lstStyle/>
          <a:p>
            <a:pPr marL="0" indent="0" algn="l">
              <a:buNone/>
            </a:pPr>
            <a:r>
              <a:rPr lang="en-US" sz="1600" b="1" dirty="0">
                <a:solidFill>
                  <a:schemeClr val="bg1"/>
                </a:solidFill>
                <a:latin typeface="Times New Roman" panose="02020603050405020304" pitchFamily="18" charset="0"/>
                <a:ea typeface="Aptos" pitchFamily="34" charset="-122"/>
                <a:cs typeface="Times New Roman" panose="02020603050405020304" pitchFamily="18" charset="0"/>
              </a:rPr>
              <a:t>Summary level</a:t>
            </a:r>
            <a:endParaRPr lang="en-US" sz="1600" dirty="0">
              <a:solidFill>
                <a:schemeClr val="bg1"/>
              </a:solidFill>
              <a:latin typeface="Times New Roman" panose="02020603050405020304" pitchFamily="18" charset="0"/>
              <a:cs typeface="Times New Roman" panose="02020603050405020304" pitchFamily="18" charset="0"/>
            </a:endParaRPr>
          </a:p>
        </p:txBody>
      </p:sp>
      <p:sp>
        <p:nvSpPr>
          <p:cNvPr id="13" name="Text 11"/>
          <p:cNvSpPr/>
          <p:nvPr/>
        </p:nvSpPr>
        <p:spPr>
          <a:xfrm>
            <a:off x="3864690" y="3633398"/>
            <a:ext cx="6812280" cy="274320"/>
          </a:xfrm>
          <a:prstGeom prst="rect">
            <a:avLst/>
          </a:prstGeom>
          <a:noFill/>
        </p:spPr>
        <p:txBody>
          <a:bodyPr wrap="square" lIns="508" tIns="508" rIns="508" bIns="508" rtlCol="0" anchor="t">
            <a:normAutofit/>
          </a:bodyPr>
          <a:lstStyle/>
          <a:p>
            <a:pPr marL="0" indent="0" algn="l">
              <a:buNone/>
            </a:pPr>
            <a:r>
              <a:rPr lang="en-US" sz="1200" dirty="0">
                <a:solidFill>
                  <a:schemeClr val="bg1"/>
                </a:solidFill>
                <a:latin typeface="Times New Roman" panose="02020603050405020304" pitchFamily="18" charset="0"/>
                <a:ea typeface="Aptos" pitchFamily="34" charset="-122"/>
                <a:cs typeface="Times New Roman" panose="02020603050405020304" pitchFamily="18" charset="0"/>
              </a:rPr>
              <a:t>Do patient-level summaries provide enough information for quick triage?</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14" name="Text 12"/>
          <p:cNvSpPr/>
          <p:nvPr/>
        </p:nvSpPr>
        <p:spPr>
          <a:xfrm>
            <a:off x="1030050" y="4538654"/>
            <a:ext cx="411480" cy="411480"/>
          </a:xfrm>
          <a:prstGeom prst="rect">
            <a:avLst/>
          </a:prstGeom>
          <a:solidFill>
            <a:srgbClr val="26C9F4"/>
          </a:solidFill>
          <a:ln>
            <a:solidFill>
              <a:srgbClr val="26C9F4"/>
            </a:solidFill>
          </a:ln>
        </p:spPr>
        <p:txBody>
          <a:bodyPr wrap="square" lIns="0" tIns="0" rIns="0" bIns="0" rtlCol="0" anchor="ctr"/>
          <a:lstStyle/>
          <a:p>
            <a:pPr marL="0" indent="0" algn="ctr">
              <a:buNone/>
            </a:pPr>
            <a:r>
              <a:rPr lang="en-US" b="1" dirty="0">
                <a:solidFill>
                  <a:schemeClr val="bg1"/>
                </a:solidFill>
                <a:latin typeface="Times New Roman" panose="02020603050405020304" pitchFamily="18" charset="0"/>
                <a:cs typeface="Times New Roman" panose="02020603050405020304" pitchFamily="18" charset="0"/>
              </a:rPr>
              <a:t>4</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15" name="Text 13"/>
          <p:cNvSpPr/>
          <p:nvPr/>
        </p:nvSpPr>
        <p:spPr>
          <a:xfrm>
            <a:off x="1670130" y="4566086"/>
            <a:ext cx="1783080" cy="274320"/>
          </a:xfrm>
          <a:prstGeom prst="rect">
            <a:avLst/>
          </a:prstGeom>
          <a:noFill/>
        </p:spPr>
        <p:txBody>
          <a:bodyPr wrap="square" lIns="508" tIns="508" rIns="508" bIns="508" rtlCol="0" anchor="t">
            <a:normAutofit/>
          </a:bodyPr>
          <a:lstStyle/>
          <a:p>
            <a:pPr marL="0" indent="0" algn="l">
              <a:buNone/>
            </a:pPr>
            <a:r>
              <a:rPr lang="en-US" sz="1600" b="1" dirty="0">
                <a:solidFill>
                  <a:schemeClr val="bg1"/>
                </a:solidFill>
                <a:latin typeface="Times New Roman" panose="02020603050405020304" pitchFamily="18" charset="0"/>
                <a:ea typeface="Aptos" pitchFamily="34" charset="-122"/>
                <a:cs typeface="Times New Roman" panose="02020603050405020304" pitchFamily="18" charset="0"/>
              </a:rPr>
              <a:t>Priorities</a:t>
            </a:r>
            <a:endParaRPr lang="en-US" sz="1600" dirty="0">
              <a:solidFill>
                <a:schemeClr val="bg1"/>
              </a:solidFill>
              <a:latin typeface="Times New Roman" panose="02020603050405020304" pitchFamily="18" charset="0"/>
              <a:cs typeface="Times New Roman" panose="02020603050405020304" pitchFamily="18" charset="0"/>
            </a:endParaRPr>
          </a:p>
        </p:txBody>
      </p:sp>
      <p:sp>
        <p:nvSpPr>
          <p:cNvPr id="16" name="Text 14"/>
          <p:cNvSpPr/>
          <p:nvPr/>
        </p:nvSpPr>
        <p:spPr>
          <a:xfrm>
            <a:off x="3864690" y="4575230"/>
            <a:ext cx="6812280" cy="274320"/>
          </a:xfrm>
          <a:prstGeom prst="rect">
            <a:avLst/>
          </a:prstGeom>
          <a:noFill/>
        </p:spPr>
        <p:txBody>
          <a:bodyPr wrap="square" lIns="508" tIns="508" rIns="508" bIns="508" rtlCol="0" anchor="t">
            <a:normAutofit/>
          </a:bodyPr>
          <a:lstStyle/>
          <a:p>
            <a:pPr marL="0" indent="0" algn="l">
              <a:buNone/>
            </a:pPr>
            <a:r>
              <a:rPr lang="en-US" sz="1200" dirty="0">
                <a:solidFill>
                  <a:schemeClr val="bg1"/>
                </a:solidFill>
                <a:latin typeface="Times New Roman" panose="02020603050405020304" pitchFamily="18" charset="0"/>
                <a:ea typeface="Aptos" pitchFamily="34" charset="-122"/>
                <a:cs typeface="Times New Roman" panose="02020603050405020304" pitchFamily="18" charset="0"/>
              </a:rPr>
              <a:t>Should we focus next on registration robustness, evaluation coverage, or UI polish?</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17" name="Shape 15"/>
          <p:cNvSpPr/>
          <p:nvPr/>
        </p:nvSpPr>
        <p:spPr>
          <a:xfrm>
            <a:off x="1030050" y="5467569"/>
            <a:ext cx="8672090" cy="493776"/>
          </a:xfrm>
          <a:prstGeom prst="roundRect">
            <a:avLst>
              <a:gd name="adj" fmla="val 14815"/>
            </a:avLst>
          </a:prstGeom>
          <a:solidFill>
            <a:srgbClr val="152239"/>
          </a:solidFill>
          <a:ln w="8890">
            <a:solidFill>
              <a:srgbClr val="25C9F4"/>
            </a:solidFill>
            <a:prstDash val="solid"/>
          </a:ln>
        </p:spPr>
        <p:txBody>
          <a:bodyPr/>
          <a:lstStyle/>
          <a:p>
            <a:pPr algn="ctr">
              <a:lnSpc>
                <a:spcPct val="150000"/>
              </a:lnSpc>
            </a:pPr>
            <a:r>
              <a:rPr lang="en-US" altLang="zh-CN" sz="1200" b="1" dirty="0">
                <a:solidFill>
                  <a:schemeClr val="bg1"/>
                </a:solidFill>
                <a:latin typeface="Times New Roman" panose="02020603050405020304" pitchFamily="18" charset="0"/>
                <a:ea typeface="Aptos" pitchFamily="34" charset="-122"/>
                <a:cs typeface="Times New Roman" panose="02020603050405020304" pitchFamily="18" charset="0"/>
              </a:rPr>
              <a:t>After these slides, we will move into the live dashboard and run the acceptance checks.</a:t>
            </a:r>
            <a:endParaRPr lang="en-US" altLang="zh-CN" sz="1200" dirty="0">
              <a:solidFill>
                <a:schemeClr val="bg1"/>
              </a:solidFill>
              <a:latin typeface="Times New Roman" panose="02020603050405020304" pitchFamily="18" charset="0"/>
              <a:cs typeface="Times New Roman" panose="02020603050405020304" pitchFamily="18" charset="0"/>
            </a:endParaRPr>
          </a:p>
          <a:p>
            <a:pPr algn="ctr">
              <a:lnSpc>
                <a:spcPct val="150000"/>
              </a:lnSpc>
            </a:pPr>
            <a:endParaRPr lang="zh-CN" altLang="en-US" sz="1200" dirty="0">
              <a:solidFill>
                <a:schemeClr val="bg1"/>
              </a:solidFill>
              <a:latin typeface="Times New Roman" panose="02020603050405020304" pitchFamily="18" charset="0"/>
              <a:cs typeface="Times New Roman" panose="02020603050405020304" pitchFamily="18" charset="0"/>
            </a:endParaRPr>
          </a:p>
        </p:txBody>
      </p:sp>
      <p:sp>
        <p:nvSpPr>
          <p:cNvPr id="19" name="Slide Number Placeholder 0"/>
          <p:cNvSpPr>
            <a:spLocks noGrp="1"/>
          </p:cNvSpPr>
          <p:nvPr>
            <p:ph type="sldNum" sz="quarter" idx="4294967295"/>
          </p:nvPr>
        </p:nvSpPr>
        <p:spPr>
          <a:xfrm>
            <a:off x="11567160" y="6574536"/>
            <a:ext cx="800000" cy="300000"/>
          </a:xfrm>
          <a:prstGeom prst="rect">
            <a:avLst/>
          </a:prstGeom>
        </p:spPr>
        <p:txBody>
          <a:bodyPr/>
          <a:lstStyle>
            <a:lvl1pPr>
              <a:defRPr sz="550">
                <a:solidFill>
                  <a:srgbClr val="6F7D91"/>
                </a:solidFill>
                <a:latin typeface="Aptos"/>
                <a:ea typeface="Aptos"/>
                <a:cs typeface="Aptos"/>
              </a:defRPr>
            </a:lvl1pPr>
          </a:lstStyle>
          <a:p>
            <a:pPr algn="l"/>
            <a:fld id="{F7021451-1387-4CA6-816F-3879F97B5CBC}" type="slidenum">
              <a:rPr lang="en-US" b="0">
                <a:solidFill>
                  <a:schemeClr val="bg1"/>
                </a:solidFill>
              </a:rPr>
            </a:fld>
            <a:endParaRPr lang="en-US" dirty="0">
              <a:solidFill>
                <a:schemeClr val="bg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23888" y="3177540"/>
            <a:ext cx="11155680" cy="502920"/>
          </a:xfrm>
          <a:prstGeom prst="rect">
            <a:avLst/>
          </a:prstGeom>
          <a:noFill/>
        </p:spPr>
        <p:txBody>
          <a:bodyPr wrap="square" lIns="0" tIns="0" rIns="0" bIns="0" rtlCol="0" anchor="ctr"/>
          <a:lstStyle/>
          <a:p>
            <a:pPr marL="0" indent="0" algn="ctr">
              <a:buNone/>
            </a:pPr>
            <a:r>
              <a:rPr lang="en-US" sz="8800" b="1" dirty="0">
                <a:solidFill>
                  <a:schemeClr val="bg1"/>
                </a:solidFill>
                <a:latin typeface="Times New Roman" panose="02020603050405020304" pitchFamily="18" charset="0"/>
                <a:ea typeface="Aptos Display" pitchFamily="34" charset="-122"/>
                <a:cs typeface="Times New Roman" panose="02020603050405020304" pitchFamily="18" charset="0"/>
              </a:rPr>
              <a:t>Thank you</a:t>
            </a:r>
            <a:endParaRPr lang="en-US" sz="8800" dirty="0">
              <a:solidFill>
                <a:schemeClr val="bg1"/>
              </a:solidFill>
              <a:latin typeface="Times New Roman" panose="02020603050405020304" pitchFamily="18" charset="0"/>
              <a:cs typeface="Times New Roman" panose="02020603050405020304" pitchFamily="18" charset="0"/>
            </a:endParaRPr>
          </a:p>
        </p:txBody>
      </p:sp>
      <p:sp>
        <p:nvSpPr>
          <p:cNvPr id="25" name="Slide Number Placeholder 0"/>
          <p:cNvSpPr>
            <a:spLocks noGrp="1"/>
          </p:cNvSpPr>
          <p:nvPr>
            <p:ph type="sldNum" sz="quarter" idx="4294967295"/>
          </p:nvPr>
        </p:nvSpPr>
        <p:spPr>
          <a:xfrm>
            <a:off x="11567160" y="6574536"/>
            <a:ext cx="800000" cy="300000"/>
          </a:xfrm>
          <a:prstGeom prst="rect">
            <a:avLst/>
          </a:prstGeom>
        </p:spPr>
        <p:txBody>
          <a:bodyPr/>
          <a:lstStyle>
            <a:lvl1pPr>
              <a:defRPr sz="550">
                <a:solidFill>
                  <a:srgbClr val="6F7D91"/>
                </a:solidFill>
                <a:latin typeface="Aptos"/>
                <a:ea typeface="Aptos"/>
                <a:cs typeface="Aptos"/>
              </a:defRPr>
            </a:lvl1pPr>
          </a:lstStyle>
          <a:p>
            <a:pPr algn="l"/>
            <a:fld id="{F7021451-1387-4CA6-816F-3879F97B5CBC}" type="slidenum">
              <a:rPr lang="en-US" b="0">
                <a:solidFill>
                  <a:schemeClr val="bg1"/>
                </a:solidFill>
              </a:rPr>
            </a:fld>
            <a:endParaRPr lang="en-US">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6471</Words>
  <Application>WPS 演示</Application>
  <PresentationFormat>宽屏</PresentationFormat>
  <Paragraphs>402</Paragraphs>
  <Slides>13</Slides>
  <Notes>13</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13</vt:i4>
      </vt:variant>
    </vt:vector>
  </HeadingPairs>
  <TitlesOfParts>
    <vt:vector size="29" baseType="lpstr">
      <vt:lpstr>Arial</vt:lpstr>
      <vt:lpstr>宋体</vt:lpstr>
      <vt:lpstr>Wingdings</vt:lpstr>
      <vt:lpstr>Aptos</vt:lpstr>
      <vt:lpstr>Segoe UI</vt:lpstr>
      <vt:lpstr>Aptos</vt:lpstr>
      <vt:lpstr>Aptos</vt:lpstr>
      <vt:lpstr>Aptos</vt:lpstr>
      <vt:lpstr>Times New Roman</vt:lpstr>
      <vt:lpstr>Aptos Display</vt:lpstr>
      <vt:lpstr>Segoe UI Variable Display</vt:lpstr>
      <vt:lpstr>Cascadia Mono</vt:lpstr>
      <vt:lpstr>微软雅黑</vt:lpstr>
      <vt:lpstr>Arial Unicode MS</vt:lpstr>
      <vt:lpstr>等线</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University of Sydney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P31 Client Demo - Longitudinal PET/CT Lesion Tracking</dc:title>
  <dc:creator>COMP3888 P31</dc:creator>
  <dc:subject>Client deployment demo</dc:subject>
  <cp:lastModifiedBy>hfg</cp:lastModifiedBy>
  <cp:revision>6</cp:revision>
  <dcterms:created xsi:type="dcterms:W3CDTF">2026-09-18T18:14:00Z</dcterms:created>
  <dcterms:modified xsi:type="dcterms:W3CDTF">2026-09-19T11:11:25Z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4A2938CD98B14E1AA587171581FBAAC1_12</vt:lpwstr>
  </property>
  <property fmtid="{D5CDD505-2E9C-101B-9397-08002B2CF9AE}" pid="3" name="KSOProductBuildVer">
    <vt:lpwstr>2052-12.1.0.28505</vt:lpwstr>
  </property>
</Properties>
</file>