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2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5" userDrawn="1">
          <p15:clr>
            <a:srgbClr val="A4A3A4"/>
          </p15:clr>
        </p15:guide>
        <p15:guide id="2" pos="3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C6FF"/>
    <a:srgbClr val="37B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58"/>
    <p:restoredTop sz="94610"/>
  </p:normalViewPr>
  <p:slideViewPr>
    <p:cSldViewPr snapToGrid="0" snapToObjects="1" showGuides="1">
      <p:cViewPr varScale="1">
        <p:scale>
          <a:sx n="88" d="100"/>
          <a:sy n="88" d="100"/>
        </p:scale>
        <p:origin x="176" y="584"/>
      </p:cViewPr>
      <p:guideLst>
        <p:guide orient="horz" pos="355"/>
        <p:guide pos="3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2D3B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6565392"/>
            <a:ext cx="74980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COMP3888 P31 · Longitudinal PET/CT Lesion Tracking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9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5.png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616525" y="278825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5A5F68"/>
                </a:solidFill>
              </a:defRPr>
            </a:pPr>
            <a:r>
              <a:rPr sz="165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COMP3888_M17_03_ZL | Project 31</a:t>
            </a:r>
            <a:endParaRPr sz="165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2775" y="1582636"/>
            <a:ext cx="7524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spcBef>
                <a:spcPts val="600"/>
              </a:spcBef>
              <a:defRPr sz="3450" b="1">
                <a:solidFill>
                  <a:srgbClr val="111111"/>
                </a:solidFill>
              </a:defRPr>
            </a:pPr>
            <a:r>
              <a:rPr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PET/CT Lesion Quantification and Treatment</a:t>
            </a:r>
            <a:endParaRPr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11528" y="3346617"/>
            <a:ext cx="3429000" cy="21160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Client: Zilin Zhang</a:t>
            </a:r>
            <a:endParaRPr sz="1575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Tutor: </a:t>
            </a:r>
            <a:r>
              <a:rPr sz="1575" b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Zhenlin</a:t>
            </a:r>
            <a:r>
              <a:rPr sz="1575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Liu</a:t>
            </a:r>
            <a:endParaRPr sz="1575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Tutorial: M17</a:t>
            </a:r>
            <a:r>
              <a:rPr lang="en-US" sz="1575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575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sz="1575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:00-</a:t>
            </a:r>
            <a:r>
              <a:rPr lang="en-US" altLang="zh-CN" sz="1575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US" sz="1575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:00)</a:t>
            </a:r>
            <a:endParaRPr sz="1575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200000"/>
              </a:lnSpc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Submission date:</a:t>
            </a:r>
            <a:r>
              <a:rPr lang="en-US" sz="1575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 Sep </a:t>
            </a:r>
            <a:r>
              <a:rPr sz="1575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sz="1575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072000" y="1270658"/>
            <a:ext cx="4191000" cy="43787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37BDF9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393625" y="1658463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endParaRPr sz="1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441125" y="2201388"/>
            <a:ext cx="1571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Qiang Li</a:t>
            </a:r>
            <a:endParaRPr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08000" y="2182338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A5F68"/>
                </a:solidFill>
              </a:defRPr>
            </a:pPr>
            <a:r>
              <a:rPr sz="1275" b="0">
                <a:latin typeface="Times New Roman" panose="02020603050405020304" pitchFamily="18" charset="0"/>
                <a:cs typeface="Times New Roman" panose="02020603050405020304" pitchFamily="18" charset="0"/>
              </a:rPr>
              <a:t>SID: 540788868</a:t>
            </a:r>
            <a:endParaRPr sz="1275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275" b="0">
                <a:solidFill>
                  <a:srgbClr val="5A5F68"/>
                </a:solidFill>
              </a:defRPr>
            </a:pPr>
            <a:r>
              <a:rPr sz="1275" b="0">
                <a:latin typeface="Times New Roman" panose="02020603050405020304" pitchFamily="18" charset="0"/>
                <a:cs typeface="Times New Roman" panose="02020603050405020304" pitchFamily="18" charset="0"/>
              </a:rPr>
              <a:t>Unikey: qili0179</a:t>
            </a:r>
            <a:endParaRPr sz="1275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41125" y="2753838"/>
            <a:ext cx="34290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441125" y="3020538"/>
            <a:ext cx="1571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Linkang Wen</a:t>
            </a:r>
            <a:endParaRPr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08000" y="3001488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A5F68"/>
                </a:solidFill>
              </a:defRPr>
            </a:pPr>
            <a:r>
              <a:rPr sz="1275" b="0">
                <a:latin typeface="Times New Roman" panose="02020603050405020304" pitchFamily="18" charset="0"/>
                <a:cs typeface="Times New Roman" panose="02020603050405020304" pitchFamily="18" charset="0"/>
              </a:rPr>
              <a:t>SID: 540276619</a:t>
            </a:r>
            <a:endParaRPr sz="1275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275" b="0">
                <a:solidFill>
                  <a:srgbClr val="5A5F68"/>
                </a:solidFill>
              </a:defRPr>
            </a:pPr>
            <a:r>
              <a:rPr sz="1275" b="0">
                <a:latin typeface="Times New Roman" panose="02020603050405020304" pitchFamily="18" charset="0"/>
                <a:cs typeface="Times New Roman" panose="02020603050405020304" pitchFamily="18" charset="0"/>
              </a:rPr>
              <a:t>Unikey: lwen0131</a:t>
            </a:r>
            <a:endParaRPr sz="1275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41125" y="3572988"/>
            <a:ext cx="34290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441125" y="3839688"/>
            <a:ext cx="1571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Yuqi Wu</a:t>
            </a:r>
            <a:endParaRPr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08000" y="3820638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A5F68"/>
                </a:solidFill>
              </a:defRPr>
            </a:pPr>
            <a:r>
              <a:rPr sz="1275" b="0">
                <a:latin typeface="Times New Roman" panose="02020603050405020304" pitchFamily="18" charset="0"/>
                <a:cs typeface="Times New Roman" panose="02020603050405020304" pitchFamily="18" charset="0"/>
              </a:rPr>
              <a:t>SID: 540035669</a:t>
            </a:r>
            <a:endParaRPr sz="1275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275" b="0">
                <a:solidFill>
                  <a:srgbClr val="5A5F68"/>
                </a:solidFill>
              </a:defRPr>
            </a:pPr>
            <a:r>
              <a:rPr sz="1275" b="0">
                <a:latin typeface="Times New Roman" panose="02020603050405020304" pitchFamily="18" charset="0"/>
                <a:cs typeface="Times New Roman" panose="02020603050405020304" pitchFamily="18" charset="0"/>
              </a:rPr>
              <a:t>Unikey: yuwu0501</a:t>
            </a:r>
            <a:endParaRPr sz="1275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41125" y="4392138"/>
            <a:ext cx="34290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41125" y="4658838"/>
            <a:ext cx="1571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latin typeface="Times New Roman" panose="02020603050405020304" pitchFamily="18" charset="0"/>
                <a:cs typeface="Times New Roman" panose="02020603050405020304" pitchFamily="18" charset="0"/>
              </a:rPr>
              <a:t>Haoxiong Pan</a:t>
            </a:r>
            <a:endParaRPr sz="1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08000" y="4639788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A5F68"/>
                </a:solidFill>
              </a:defRPr>
            </a:pPr>
            <a:r>
              <a:rPr sz="1275" b="0">
                <a:latin typeface="Times New Roman" panose="02020603050405020304" pitchFamily="18" charset="0"/>
                <a:cs typeface="Times New Roman" panose="02020603050405020304" pitchFamily="18" charset="0"/>
              </a:rPr>
              <a:t>SID: 530425128</a:t>
            </a:r>
            <a:endParaRPr sz="1275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275" b="0">
                <a:solidFill>
                  <a:srgbClr val="5A5F68"/>
                </a:solidFill>
              </a:defRPr>
            </a:pPr>
            <a:r>
              <a:rPr sz="1275" b="0">
                <a:latin typeface="Times New Roman" panose="02020603050405020304" pitchFamily="18" charset="0"/>
                <a:cs typeface="Times New Roman" panose="02020603050405020304" pitchFamily="18" charset="0"/>
              </a:rPr>
              <a:t>Unikey: hpan0285</a:t>
            </a:r>
            <a:endParaRPr sz="1275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11528" y="3103416"/>
            <a:ext cx="2381250" cy="38100"/>
          </a:xfrm>
          <a:prstGeom prst="rect">
            <a:avLst/>
          </a:prstGeom>
          <a:solidFill>
            <a:srgbClr val="3D8DFF"/>
          </a:solidFill>
          <a:ln w="0">
            <a:solidFill>
              <a:srgbClr val="37BDF9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984" y="608731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Why this problem matters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2984" y="1126257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Longitudinal lesion review is hard when scans and lesions change over time.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2984" y="1698647"/>
            <a:ext cx="552301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review becomes slow and inconsistent when:</a:t>
            </a:r>
            <a:endParaRPr lang="en-US" sz="1900" dirty="0">
              <a:solidFill>
                <a:srgbClr val="37BD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2984" y="2229831"/>
            <a:ext cx="5053626" cy="210312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patients have many lesions</a:t>
            </a:r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baseline and follow-up scans use different geometry</a:t>
            </a:r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lesions can persist, disappear, newly appear, or merge</a:t>
            </a:r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voxel indices cannot be compared directly across scans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2984" y="4202323"/>
            <a:ext cx="5053625" cy="1146917"/>
          </a:xfrm>
          <a:prstGeom prst="rect">
            <a:avLst/>
          </a:prstGeom>
          <a:solidFill>
            <a:srgbClr val="17233A"/>
          </a:solidFill>
          <a:ln w="19050">
            <a:solidFill>
              <a:srgbClr val="38BDF8">
                <a:alpha val="9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organise, align, match, evaluate, and visualise lesion-level change.</a:t>
            </a:r>
            <a:endParaRPr lang="en-US" sz="16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323515" y="5142490"/>
            <a:ext cx="4389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planes make lesion location easier to inspect visually.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4" name="图片 3" descr="557630dbf4900165d1e5b9bf0891644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8015" y="608965"/>
            <a:ext cx="2319655" cy="4133850"/>
          </a:xfrm>
          <a:prstGeom prst="rect">
            <a:avLst/>
          </a:prstGeom>
        </p:spPr>
      </p:pic>
      <p:pic>
        <p:nvPicPr>
          <p:cNvPr id="11" name="图片 10" descr="fa7c8a14822b61498f6e4201aaeae4b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605" y="608330"/>
            <a:ext cx="2319655" cy="41344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969885" y="4758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BL                                   FU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0610" y="60872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Project scope and stakeholders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0610" y="1131532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 research-review tool, not a diagnostic or treatment system.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936271"/>
            <a:ext cx="283464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334155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&amp; feedback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617720" y="1936271"/>
            <a:ext cx="283464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334155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COMP3888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team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66760" y="1936271"/>
            <a:ext cx="2834640" cy="914400"/>
          </a:xfrm>
          <a:prstGeom prst="rect">
            <a:avLst/>
          </a:prstGeom>
          <a:solidFill>
            <a:srgbClr val="132238"/>
          </a:solidFill>
          <a:ln w="12700">
            <a:solidFill>
              <a:srgbClr val="334155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Researchers /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clinical-domain users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94760" y="2393471"/>
            <a:ext cx="704088" cy="0"/>
          </a:xfrm>
          <a:prstGeom prst="line">
            <a:avLst/>
          </a:prstGeom>
          <a:noFill/>
          <a:ln w="19050">
            <a:solidFill>
              <a:srgbClr val="37BDF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71232" y="2393471"/>
            <a:ext cx="676656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3"/>
          <p:cNvSpPr/>
          <p:nvPr/>
        </p:nvSpPr>
        <p:spPr>
          <a:xfrm>
            <a:off x="822961" y="3559630"/>
            <a:ext cx="3998422" cy="1796135"/>
          </a:xfrm>
          <a:prstGeom prst="rect">
            <a:avLst/>
          </a:prstGeom>
          <a:solidFill>
            <a:srgbClr val="132238">
              <a:alpha val="36410"/>
            </a:srgbClr>
          </a:solidFill>
          <a:ln w="12700">
            <a:noFill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3621381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scope</a:t>
            </a:r>
            <a:endParaRPr lang="en-US" sz="2000" dirty="0">
              <a:solidFill>
                <a:srgbClr val="37BD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4124301"/>
            <a:ext cx="4206240" cy="160020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descriptive lesion tracking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baseline-to-follow-up comparison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visual inspection and quantitative evaluation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reproducible Python pipeline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3"/>
          <p:cNvSpPr/>
          <p:nvPr/>
        </p:nvSpPr>
        <p:spPr>
          <a:xfrm>
            <a:off x="7195139" y="3559630"/>
            <a:ext cx="3998422" cy="1796135"/>
          </a:xfrm>
          <a:prstGeom prst="rect">
            <a:avLst/>
          </a:prstGeom>
          <a:solidFill>
            <a:srgbClr val="132238">
              <a:alpha val="36410"/>
            </a:srgbClr>
          </a:solidFill>
          <a:ln w="12700">
            <a:noFill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84422" y="3603687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of scope</a:t>
            </a:r>
            <a:endParaRPr lang="en-US" sz="2000" dirty="0">
              <a:solidFill>
                <a:srgbClr val="37BD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84422" y="4106607"/>
            <a:ext cx="4343400" cy="160020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clinical diagnosis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automatic treatment decisions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autonomous response classification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complex deformable registration baseline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974615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332" y="60873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Representative requirements</a:t>
            </a:r>
            <a:endParaRPr lang="en-US"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5332" y="1102506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User stories define a chain from raw data to interpretable tracking results.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159947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access</a:t>
            </a:r>
            <a:endParaRPr lang="en-US" sz="1800" dirty="0">
              <a:solidFill>
                <a:srgbClr val="37BD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0" y="1562896"/>
            <a:ext cx="7635240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patient manifests for BL/FU scans and masks.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2257840"/>
            <a:ext cx="10012680" cy="0"/>
          </a:xfrm>
          <a:prstGeom prst="line">
            <a:avLst/>
          </a:prstGeom>
          <a:noFill/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65103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Inspection</a:t>
            </a:r>
            <a:endParaRPr lang="en-US" sz="1800" dirty="0">
              <a:solidFill>
                <a:srgbClr val="37BD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0" y="2614456"/>
            <a:ext cx="7635240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CT/PET scans and lesion masks in axial, coronal, and sagittal planes.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3309400"/>
            <a:ext cx="10012680" cy="0"/>
          </a:xfrm>
          <a:prstGeom prst="line">
            <a:avLst/>
          </a:prstGeom>
          <a:noFill/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370259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endParaRPr lang="en-US" sz="1800" dirty="0">
              <a:solidFill>
                <a:srgbClr val="37BD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0" y="3666016"/>
            <a:ext cx="7635240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lesion pair costs and solve lesion correspondence globally.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8680" y="4360960"/>
            <a:ext cx="10012680" cy="0"/>
          </a:xfrm>
          <a:prstGeom prst="line">
            <a:avLst/>
          </a:prstGeom>
          <a:noFill/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475415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1800" dirty="0">
              <a:solidFill>
                <a:srgbClr val="37BD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0" y="4717576"/>
            <a:ext cx="7635240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predicted matches with expert ground truth when available.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8680" y="5412520"/>
            <a:ext cx="10012680" cy="0"/>
          </a:xfrm>
          <a:prstGeom prst="line">
            <a:avLst/>
          </a:prstGeom>
          <a:noFill/>
          <a:ln w="12700">
            <a:solidFill>
              <a:srgbClr val="33415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8286" y="5732996"/>
            <a:ext cx="8412480" cy="475488"/>
          </a:xfrm>
          <a:prstGeom prst="rect">
            <a:avLst/>
          </a:prstGeom>
          <a:solidFill>
            <a:srgbClr val="17233A"/>
          </a:solidFill>
          <a:ln w="19050">
            <a:solidFill>
              <a:srgbClr val="38BDF8">
                <a:alpha val="9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focus: reproducible, modular, interpretable, testable.</a:t>
            </a:r>
            <a:endParaRPr lang="en-US" sz="16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8605" y="1342864"/>
            <a:ext cx="6686366" cy="332711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65332" y="608729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System architecture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5332" y="1102505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Each stage produces intermediate outputs that can be inspected and reused.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mnt/data/report_extract/word/media/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32" y="1473490"/>
            <a:ext cx="3866024" cy="4939339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5225143" y="4801432"/>
            <a:ext cx="7067874" cy="1608802"/>
            <a:chOff x="4847772" y="4380518"/>
            <a:chExt cx="7067874" cy="1608802"/>
          </a:xfrm>
        </p:grpSpPr>
        <p:sp>
          <p:nvSpPr>
            <p:cNvPr id="29" name="Text 15"/>
            <p:cNvSpPr/>
            <p:nvPr/>
          </p:nvSpPr>
          <p:spPr>
            <a:xfrm>
              <a:off x="4847772" y="4380518"/>
              <a:ext cx="6008914" cy="1608802"/>
            </a:xfrm>
            <a:prstGeom prst="rect">
              <a:avLst/>
            </a:prstGeom>
            <a:solidFill>
              <a:srgbClr val="17233A"/>
            </a:solidFill>
            <a:ln w="19050">
              <a:solidFill>
                <a:srgbClr val="38BDF8">
                  <a:alpha val="95000"/>
                </a:srgbClr>
              </a:solidFill>
            </a:ln>
          </p:spPr>
          <p:txBody>
            <a:bodyPr wrap="square" lIns="1524" tIns="1524" rIns="1524" bIns="1524" rtlCol="0" anchor="ctr">
              <a:normAutofit/>
            </a:bodyPr>
            <a:lstStyle/>
            <a:p>
              <a:pPr marL="0" indent="0" algn="ctr">
                <a:buNone/>
              </a:pPr>
              <a:endParaRPr lang="en-US" sz="16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6246366" y="4380518"/>
              <a:ext cx="5669280" cy="1565260"/>
              <a:chOff x="6246366" y="4380518"/>
              <a:chExt cx="5669280" cy="1565260"/>
            </a:xfrm>
          </p:grpSpPr>
          <p:sp>
            <p:nvSpPr>
              <p:cNvPr id="21" name="Text 18"/>
              <p:cNvSpPr/>
              <p:nvPr/>
            </p:nvSpPr>
            <p:spPr>
              <a:xfrm>
                <a:off x="6246366" y="4380518"/>
                <a:ext cx="4022635" cy="64432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37BDF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this structure helps</a:t>
                </a:r>
                <a:endParaRPr lang="en-US" sz="2000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 19"/>
              <p:cNvSpPr/>
              <p:nvPr/>
            </p:nvSpPr>
            <p:spPr>
              <a:xfrm>
                <a:off x="6246366" y="5031378"/>
                <a:ext cx="5669280" cy="914400"/>
              </a:xfrm>
              <a:prstGeom prst="rect">
                <a:avLst/>
              </a:prstGeom>
              <a:noFill/>
            </p:spPr>
            <p:txBody>
              <a:bodyPr wrap="square" lIns="1016" tIns="1016" rIns="1016" bIns="1016" rtlCol="0" anchor="t">
                <a:norm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itchFamily="34" charset="-122"/>
                    <a:cs typeface="Times New Roman" panose="02020603050405020304" pitchFamily="18" charset="0"/>
                  </a:rPr>
                  <a:t>debugging can stop at any stage</a:t>
                </a:r>
                <a:endPara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itchFamily="34" charset="-122"/>
                    <a:cs typeface="Times New Roman" panose="02020603050405020304" pitchFamily="18" charset="0"/>
                  </a:rPr>
                  <a:t>CSV outputs support independent testing</a:t>
                </a:r>
                <a:endPara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Aptos" pitchFamily="34" charset="-122"/>
                    <a:cs typeface="Times New Roman" panose="02020603050405020304" pitchFamily="18" charset="0"/>
                  </a:rPr>
                  <a:t>UI is separated from processing modules</a:t>
                </a:r>
                <a:endPara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332" y="594211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Data representation: more than pixels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5332" y="1087987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Spatial metadata is preserved before any distance-based comparison.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872887" y="2134248"/>
            <a:ext cx="11046821" cy="1658917"/>
            <a:chOff x="713232" y="1466586"/>
            <a:chExt cx="11046821" cy="1658917"/>
          </a:xfrm>
        </p:grpSpPr>
        <p:sp>
          <p:nvSpPr>
            <p:cNvPr id="16" name="Text 3"/>
            <p:cNvSpPr/>
            <p:nvPr/>
          </p:nvSpPr>
          <p:spPr>
            <a:xfrm>
              <a:off x="4482300" y="1466586"/>
              <a:ext cx="2503716" cy="1537793"/>
            </a:xfrm>
            <a:prstGeom prst="rect">
              <a:avLst/>
            </a:prstGeom>
            <a:solidFill>
              <a:srgbClr val="132238"/>
            </a:solidFill>
            <a:ln w="12700">
              <a:solidFill>
                <a:srgbClr val="334155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endPara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3"/>
            <p:cNvSpPr/>
            <p:nvPr/>
          </p:nvSpPr>
          <p:spPr>
            <a:xfrm>
              <a:off x="8503049" y="1466586"/>
              <a:ext cx="2359152" cy="1537793"/>
            </a:xfrm>
            <a:prstGeom prst="rect">
              <a:avLst/>
            </a:prstGeom>
            <a:solidFill>
              <a:srgbClr val="132238"/>
            </a:solidFill>
            <a:ln w="12700">
              <a:solidFill>
                <a:srgbClr val="334155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endPara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3"/>
            <p:cNvSpPr/>
            <p:nvPr/>
          </p:nvSpPr>
          <p:spPr>
            <a:xfrm>
              <a:off x="713232" y="1466586"/>
              <a:ext cx="2359152" cy="1537793"/>
            </a:xfrm>
            <a:prstGeom prst="rect">
              <a:avLst/>
            </a:prstGeom>
            <a:solidFill>
              <a:srgbClr val="132238"/>
            </a:solidFill>
            <a:ln w="12700">
              <a:solidFill>
                <a:srgbClr val="334155">
                  <a:alpha val="90000"/>
                </a:srgbClr>
              </a:solidFill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endParaRPr lang="en-US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822960" y="1495693"/>
              <a:ext cx="21945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NIfTI volume</a:t>
              </a:r>
              <a:endParaRPr lang="en-US" sz="19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896112" y="1891063"/>
              <a:ext cx="3108960" cy="1234440"/>
            </a:xfrm>
            <a:prstGeom prst="rect">
              <a:avLst/>
            </a:prstGeom>
            <a:noFill/>
          </p:spPr>
          <p:txBody>
            <a:bodyPr wrap="square" lIns="1016" tIns="1016" rIns="1016" bIns="1016" rtlCol="0" anchor="t">
              <a:norm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voxel array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spacing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orientation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affine/world coordinates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4572000" y="1495693"/>
              <a:ext cx="219456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Lesion mask</a:t>
              </a:r>
              <a:endParaRPr lang="en-US" sz="19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4645152" y="1891063"/>
              <a:ext cx="3108960" cy="1234440"/>
            </a:xfrm>
            <a:prstGeom prst="rect">
              <a:avLst/>
            </a:prstGeom>
            <a:noFill/>
          </p:spPr>
          <p:txBody>
            <a:bodyPr wrap="square" lIns="1016" tIns="1016" rIns="1016" bIns="1016" rtlCol="0" anchor="t">
              <a:norm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3D connected components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temporary lesion IDs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volume and centroid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empty/invalid mask checks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8577941" y="1495693"/>
              <a:ext cx="256032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Structured tables</a:t>
              </a:r>
              <a:endParaRPr lang="en-US" sz="19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8651093" y="1891063"/>
              <a:ext cx="3108960" cy="1234440"/>
            </a:xfrm>
            <a:prstGeom prst="rect">
              <a:avLst/>
            </a:prstGeom>
            <a:noFill/>
          </p:spPr>
          <p:txBody>
            <a:bodyPr wrap="square" lIns="1016" tIns="1016" rIns="1016" bIns="1016" rtlCol="0" anchor="t">
              <a:norm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scan manifest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aligned features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candidate costs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match/evaluation outputs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3329579" y="2167704"/>
              <a:ext cx="932688" cy="0"/>
            </a:xfrm>
            <a:prstGeom prst="line">
              <a:avLst/>
            </a:prstGeom>
            <a:noFill/>
            <a:ln w="19050">
              <a:solidFill>
                <a:srgbClr val="37BDF9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7296334" y="2167704"/>
              <a:ext cx="896112" cy="0"/>
            </a:xfrm>
            <a:prstGeom prst="line">
              <a:avLst/>
            </a:prstGeom>
            <a:noFill/>
            <a:ln w="19050">
              <a:solidFill>
                <a:srgbClr val="37BDF9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5"/>
          <p:cNvSpPr/>
          <p:nvPr/>
        </p:nvSpPr>
        <p:spPr>
          <a:xfrm>
            <a:off x="1582056" y="4571855"/>
            <a:ext cx="8665029" cy="475488"/>
          </a:xfrm>
          <a:prstGeom prst="rect">
            <a:avLst/>
          </a:prstGeom>
          <a:solidFill>
            <a:srgbClr val="17233A"/>
          </a:solidFill>
          <a:ln w="19050">
            <a:solidFill>
              <a:srgbClr val="38BDF8">
                <a:alpha val="9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/>
            <a:r>
              <a:rPr lang="en-US" altLang="zh-CN" sz="16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idea: compare lesions using physical coordinates after alignment, not raw voxel indices.</a:t>
            </a:r>
            <a:endParaRPr lang="en-US" altLang="zh-CN" sz="16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846" y="60873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From candidate costs to matching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9846" y="1102506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 matcher is global, not just nearest-neighbour.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50863" y="1797740"/>
            <a:ext cx="11857355" cy="1905870"/>
            <a:chOff x="550863" y="1638083"/>
            <a:chExt cx="11857355" cy="1905870"/>
          </a:xfrm>
        </p:grpSpPr>
        <p:sp>
          <p:nvSpPr>
            <p:cNvPr id="18" name="Text 3"/>
            <p:cNvSpPr/>
            <p:nvPr/>
          </p:nvSpPr>
          <p:spPr>
            <a:xfrm>
              <a:off x="550863" y="1638083"/>
              <a:ext cx="11075080" cy="1905870"/>
            </a:xfrm>
            <a:prstGeom prst="rect">
              <a:avLst/>
            </a:prstGeom>
            <a:solidFill>
              <a:srgbClr val="132238">
                <a:alpha val="36410"/>
              </a:srgbClr>
            </a:solidFill>
            <a:ln w="12700">
              <a:noFill/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808446" y="1756955"/>
              <a:ext cx="365760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Candidate cost uses:</a:t>
              </a:r>
              <a:endParaRPr lang="en-US" sz="24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810624" y="2351315"/>
              <a:ext cx="5852160" cy="768096"/>
              <a:chOff x="854166" y="2090058"/>
              <a:chExt cx="5852160" cy="768096"/>
            </a:xfrm>
          </p:grpSpPr>
          <p:sp>
            <p:nvSpPr>
              <p:cNvPr id="6" name="Text 4"/>
              <p:cNvSpPr/>
              <p:nvPr/>
            </p:nvSpPr>
            <p:spPr>
              <a:xfrm>
                <a:off x="854166" y="2090058"/>
                <a:ext cx="1828800" cy="3840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2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854166" y="2492394"/>
                <a:ext cx="1828800" cy="320040"/>
              </a:xfrm>
              <a:prstGeom prst="rect">
                <a:avLst/>
              </a:prstGeom>
              <a:noFill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spatial distance</a:t>
                </a:r>
                <a:endPara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Shape 6"/>
              <p:cNvSpPr/>
              <p:nvPr/>
            </p:nvSpPr>
            <p:spPr>
              <a:xfrm>
                <a:off x="854166" y="2858154"/>
                <a:ext cx="1828800" cy="0"/>
              </a:xfrm>
              <a:prstGeom prst="line">
                <a:avLst/>
              </a:prstGeom>
              <a:noFill/>
              <a:ln w="25400">
                <a:solidFill>
                  <a:srgbClr val="38BDF8">
                    <a:alpha val="95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2774406" y="2090058"/>
                <a:ext cx="1828800" cy="3840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2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2774406" y="2492394"/>
                <a:ext cx="1828800" cy="320040"/>
              </a:xfrm>
              <a:prstGeom prst="rect">
                <a:avLst/>
              </a:prstGeom>
              <a:noFill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size difference</a:t>
                </a:r>
                <a:endPara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Shape 9"/>
              <p:cNvSpPr/>
              <p:nvPr/>
            </p:nvSpPr>
            <p:spPr>
              <a:xfrm>
                <a:off x="2774406" y="2858154"/>
                <a:ext cx="1828800" cy="0"/>
              </a:xfrm>
              <a:prstGeom prst="line">
                <a:avLst/>
              </a:prstGeom>
              <a:noFill/>
              <a:ln w="25400">
                <a:solidFill>
                  <a:srgbClr val="37BDF9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4694646" y="2090058"/>
                <a:ext cx="2011680" cy="3840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6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2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4694646" y="2492394"/>
                <a:ext cx="2011680" cy="320040"/>
              </a:xfrm>
              <a:prstGeom prst="rect">
                <a:avLst/>
              </a:prstGeom>
              <a:noFill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optional PET difference</a:t>
                </a:r>
                <a:endParaRPr 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Shape 12"/>
              <p:cNvSpPr/>
              <p:nvPr/>
            </p:nvSpPr>
            <p:spPr>
              <a:xfrm>
                <a:off x="4694646" y="2858154"/>
                <a:ext cx="2011680" cy="0"/>
              </a:xfrm>
              <a:prstGeom prst="line">
                <a:avLst/>
              </a:prstGeom>
              <a:noFill/>
              <a:ln w="25400">
                <a:solidFill>
                  <a:srgbClr val="37BDF9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" name="Text 13"/>
            <p:cNvSpPr/>
            <p:nvPr/>
          </p:nvSpPr>
          <p:spPr>
            <a:xfrm>
              <a:off x="7236823" y="1756955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Why min-cost flow?</a:t>
              </a:r>
              <a:endParaRPr lang="en-US" sz="24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7242627" y="2127068"/>
              <a:ext cx="5165591" cy="1416882"/>
            </a:xfrm>
            <a:prstGeom prst="rect">
              <a:avLst/>
            </a:prstGeom>
            <a:noFill/>
          </p:spPr>
          <p:txBody>
            <a:bodyPr wrap="square" lIns="1016" tIns="1016" rIns="1016" bIns="1016" rtlCol="0" anchor="t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supports persistent, new, and disappearing lesions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keeps many-to-one merge candidates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optimises patient-level correspondences globally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outputs explicit MATCHED / MERGING / NEW / DISAPPEARING rows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1582056" y="4571855"/>
            <a:ext cx="8665029" cy="475488"/>
          </a:xfrm>
          <a:prstGeom prst="rect">
            <a:avLst/>
          </a:prstGeom>
          <a:solidFill>
            <a:srgbClr val="17233A"/>
          </a:solidFill>
          <a:ln w="19050">
            <a:solidFill>
              <a:srgbClr val="38BDF8">
                <a:alpha val="9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/>
            <a:r>
              <a:rPr lang="en-US" altLang="zh-CN" sz="16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cost table and matrix are interpretable inputs for downstream matching.</a:t>
            </a:r>
            <a:endParaRPr lang="en-US" altLang="zh-CN" sz="16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3"/>
          <p:cNvSpPr/>
          <p:nvPr/>
        </p:nvSpPr>
        <p:spPr>
          <a:xfrm>
            <a:off x="666255" y="3631481"/>
            <a:ext cx="10887894" cy="1489159"/>
          </a:xfrm>
          <a:prstGeom prst="rect">
            <a:avLst/>
          </a:prstGeom>
          <a:solidFill>
            <a:srgbClr val="132238">
              <a:alpha val="36410"/>
            </a:srgbClr>
          </a:solidFill>
          <a:ln w="12700">
            <a:noFill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579846" y="594215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Alignment and feature generation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9846" y="1087991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Baseline is transformed into the follow-up coordinate system before matching.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901408" y="2548851"/>
            <a:ext cx="54864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90479" y="2548851"/>
            <a:ext cx="54864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712204" y="2548851"/>
            <a:ext cx="50292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3770" y="37033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Aligned features</a:t>
            </a:r>
            <a:endParaRPr lang="en-US" sz="2100" dirty="0">
              <a:solidFill>
                <a:srgbClr val="37BD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3770" y="4160520"/>
            <a:ext cx="9875520" cy="96012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BL mask is resampled with nearest-neighbour interpolation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features include centroid, volume, and optional PET measurements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registration outputs are reusable for batch experiments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5" name="Text 3"/>
          <p:cNvSpPr/>
          <p:nvPr/>
        </p:nvSpPr>
        <p:spPr>
          <a:xfrm>
            <a:off x="677820" y="2135774"/>
            <a:ext cx="2103120" cy="960120"/>
          </a:xfrm>
          <a:prstGeom prst="rect">
            <a:avLst/>
          </a:prstGeom>
          <a:solidFill>
            <a:srgbClr val="132238"/>
          </a:solidFill>
          <a:ln w="12700">
            <a:solidFill>
              <a:srgbClr val="334155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CT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(moving)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3"/>
          <p:cNvSpPr/>
          <p:nvPr/>
        </p:nvSpPr>
        <p:spPr>
          <a:xfrm>
            <a:off x="3573420" y="2135774"/>
            <a:ext cx="2103120" cy="960120"/>
          </a:xfrm>
          <a:prstGeom prst="rect">
            <a:avLst/>
          </a:prstGeom>
          <a:solidFill>
            <a:srgbClr val="132238"/>
          </a:solidFill>
          <a:ln w="12700">
            <a:solidFill>
              <a:srgbClr val="334155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Rigid BL → FU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ITKElastix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3"/>
          <p:cNvSpPr/>
          <p:nvPr/>
        </p:nvSpPr>
        <p:spPr>
          <a:xfrm>
            <a:off x="6469020" y="2135774"/>
            <a:ext cx="2103120" cy="960120"/>
          </a:xfrm>
          <a:prstGeom prst="rect">
            <a:avLst/>
          </a:prstGeom>
          <a:solidFill>
            <a:srgbClr val="132238"/>
          </a:solidFill>
          <a:ln w="12700">
            <a:solidFill>
              <a:srgbClr val="334155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Follow-up CT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(fixed)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3"/>
          <p:cNvSpPr/>
          <p:nvPr/>
        </p:nvSpPr>
        <p:spPr>
          <a:xfrm>
            <a:off x="9364620" y="2135774"/>
            <a:ext cx="2103120" cy="960120"/>
          </a:xfrm>
          <a:prstGeom prst="rect">
            <a:avLst/>
          </a:prstGeom>
          <a:solidFill>
            <a:srgbClr val="132238"/>
          </a:solidFill>
          <a:ln w="12700">
            <a:solidFill>
              <a:srgbClr val="334155">
                <a:alpha val="9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FU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space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846" y="60872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Evaluation against expert correspondence</a:t>
            </a:r>
            <a:endParaRPr lang="en-US"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9846" y="1102504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Ground truth is kept separate from the matcher and used only after prediction.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组合 42"/>
          <p:cNvGrpSpPr/>
          <p:nvPr>
            <p:custDataLst>
              <p:tags r:id="rId1"/>
            </p:custDataLst>
          </p:nvPr>
        </p:nvGrpSpPr>
        <p:grpSpPr>
          <a:xfrm>
            <a:off x="3810" y="1678309"/>
            <a:ext cx="6628765" cy="2727085"/>
            <a:chOff x="822960" y="1493524"/>
            <a:chExt cx="6628765" cy="2727085"/>
          </a:xfrm>
        </p:grpSpPr>
        <p:grpSp>
          <p:nvGrpSpPr>
            <p:cNvPr id="40" name="组合 39"/>
            <p:cNvGrpSpPr/>
            <p:nvPr/>
          </p:nvGrpSpPr>
          <p:grpSpPr>
            <a:xfrm>
              <a:off x="822960" y="1493524"/>
              <a:ext cx="6628765" cy="2727085"/>
              <a:chOff x="822960" y="1493524"/>
              <a:chExt cx="6628765" cy="2727085"/>
            </a:xfrm>
          </p:grpSpPr>
          <p:sp>
            <p:nvSpPr>
              <p:cNvPr id="37" name="Text 3"/>
              <p:cNvSpPr/>
              <p:nvPr>
                <p:custDataLst>
                  <p:tags r:id="rId2"/>
                </p:custDataLst>
              </p:nvPr>
            </p:nvSpPr>
            <p:spPr>
              <a:xfrm>
                <a:off x="1090749" y="1513844"/>
                <a:ext cx="1884680" cy="1201780"/>
              </a:xfrm>
              <a:prstGeom prst="rect">
                <a:avLst/>
              </a:prstGeom>
              <a:solidFill>
                <a:srgbClr val="132238">
                  <a:alpha val="36410"/>
                </a:srgbClr>
              </a:solidFill>
              <a:ln w="12700">
                <a:noFill/>
              </a:ln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Text 3"/>
              <p:cNvSpPr/>
              <p:nvPr>
                <p:custDataLst>
                  <p:tags r:id="rId3"/>
                </p:custDataLst>
              </p:nvPr>
            </p:nvSpPr>
            <p:spPr>
              <a:xfrm>
                <a:off x="1090749" y="3018829"/>
                <a:ext cx="1884680" cy="1201780"/>
              </a:xfrm>
              <a:prstGeom prst="rect">
                <a:avLst/>
              </a:prstGeom>
              <a:solidFill>
                <a:srgbClr val="132238">
                  <a:alpha val="36410"/>
                </a:srgbClr>
              </a:solidFill>
              <a:ln w="12700">
                <a:noFill/>
              </a:ln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Text 3"/>
              <p:cNvSpPr/>
              <p:nvPr>
                <p:custDataLst>
                  <p:tags r:id="rId4"/>
                </p:custDataLst>
              </p:nvPr>
            </p:nvSpPr>
            <p:spPr>
              <a:xfrm>
                <a:off x="5320665" y="1493524"/>
                <a:ext cx="1884680" cy="1201780"/>
              </a:xfrm>
              <a:prstGeom prst="rect">
                <a:avLst/>
              </a:prstGeom>
              <a:solidFill>
                <a:srgbClr val="132238">
                  <a:alpha val="36410"/>
                </a:srgbClr>
              </a:solidFill>
              <a:ln w="12700">
                <a:noFill/>
              </a:ln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Text 3"/>
              <p:cNvSpPr/>
              <p:nvPr>
                <p:custDataLst>
                  <p:tags r:id="rId5"/>
                </p:custDataLst>
              </p:nvPr>
            </p:nvSpPr>
            <p:spPr>
              <a:xfrm>
                <a:off x="3200309" y="1513844"/>
                <a:ext cx="1884680" cy="1201780"/>
              </a:xfrm>
              <a:prstGeom prst="rect">
                <a:avLst/>
              </a:prstGeom>
              <a:solidFill>
                <a:srgbClr val="132238">
                  <a:alpha val="36410"/>
                </a:srgbClr>
              </a:solidFill>
              <a:ln w="12700">
                <a:noFill/>
              </a:ln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Text 3"/>
              <p:cNvSpPr/>
              <p:nvPr>
                <p:custDataLst>
                  <p:tags r:id="rId6"/>
                </p:custDataLst>
              </p:nvPr>
            </p:nvSpPr>
            <p:spPr>
              <a:xfrm>
                <a:off x="5320665" y="2998509"/>
                <a:ext cx="1884680" cy="1201780"/>
              </a:xfrm>
              <a:prstGeom prst="rect">
                <a:avLst/>
              </a:prstGeom>
              <a:solidFill>
                <a:srgbClr val="132238">
                  <a:alpha val="36410"/>
                </a:srgbClr>
              </a:solidFill>
              <a:ln w="12700">
                <a:noFill/>
              </a:ln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Text 3"/>
              <p:cNvSpPr/>
              <p:nvPr>
                <p:custDataLst>
                  <p:tags r:id="rId7"/>
                </p:custDataLst>
              </p:nvPr>
            </p:nvSpPr>
            <p:spPr>
              <a:xfrm>
                <a:off x="3200309" y="3018829"/>
                <a:ext cx="1884680" cy="1201780"/>
              </a:xfrm>
              <a:prstGeom prst="rect">
                <a:avLst/>
              </a:prstGeom>
              <a:solidFill>
                <a:srgbClr val="132238">
                  <a:alpha val="36410"/>
                </a:srgbClr>
              </a:solidFill>
              <a:ln w="12700">
                <a:noFill/>
              </a:ln>
            </p:spPr>
            <p:txBody>
              <a:bodyPr wrap="square" lIns="508" tIns="508" rIns="508" bIns="508" rtlCol="0" anchor="ctr">
                <a:normAutofit/>
              </a:bodyPr>
              <a:lstStyle/>
              <a:p>
                <a:pPr marL="0" indent="0" algn="ctr">
                  <a:buNone/>
                </a:pPr>
                <a:endPara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Text 4"/>
              <p:cNvSpPr/>
              <p:nvPr>
                <p:custDataLst>
                  <p:tags r:id="rId8"/>
                </p:custDataLst>
              </p:nvPr>
            </p:nvSpPr>
            <p:spPr>
              <a:xfrm>
                <a:off x="822960" y="2208928"/>
                <a:ext cx="2377440" cy="2560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tracking accuracy</a:t>
                </a:r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 5"/>
              <p:cNvSpPr/>
              <p:nvPr>
                <p:custDataLst>
                  <p:tags r:id="rId9"/>
                </p:custDataLst>
              </p:nvPr>
            </p:nvSpPr>
            <p:spPr>
              <a:xfrm>
                <a:off x="2943225" y="1678576"/>
                <a:ext cx="2377440" cy="4114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3100" b="1" dirty="0">
                    <a:solidFill>
                      <a:srgbClr val="37BDF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90.4%</a:t>
                </a:r>
                <a:endParaRPr lang="en-US" sz="3100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Text 6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43225" y="2208928"/>
                <a:ext cx="2377440" cy="2560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precision</a:t>
                </a:r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 7"/>
              <p:cNvSpPr/>
              <p:nvPr>
                <p:custDataLst>
                  <p:tags r:id="rId11"/>
                </p:custDataLst>
              </p:nvPr>
            </p:nvSpPr>
            <p:spPr>
              <a:xfrm>
                <a:off x="5074285" y="1658256"/>
                <a:ext cx="2377440" cy="4114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3100" b="1" dirty="0">
                    <a:solidFill>
                      <a:srgbClr val="37BDF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91.0%</a:t>
                </a:r>
                <a:endParaRPr lang="en-US" sz="3100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 8"/>
              <p:cNvSpPr/>
              <p:nvPr>
                <p:custDataLst>
                  <p:tags r:id="rId12"/>
                </p:custDataLst>
              </p:nvPr>
            </p:nvSpPr>
            <p:spPr>
              <a:xfrm>
                <a:off x="5074285" y="2188608"/>
                <a:ext cx="2377440" cy="2560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recall</a:t>
                </a:r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 10"/>
              <p:cNvSpPr/>
              <p:nvPr>
                <p:custDataLst>
                  <p:tags r:id="rId13"/>
                </p:custDataLst>
              </p:nvPr>
            </p:nvSpPr>
            <p:spPr>
              <a:xfrm>
                <a:off x="822960" y="3809128"/>
                <a:ext cx="2377440" cy="2560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F1 score</a:t>
                </a:r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 11"/>
              <p:cNvSpPr/>
              <p:nvPr>
                <p:custDataLst>
                  <p:tags r:id="rId14"/>
                </p:custDataLst>
              </p:nvPr>
            </p:nvSpPr>
            <p:spPr>
              <a:xfrm>
                <a:off x="2943225" y="3278776"/>
                <a:ext cx="2377440" cy="4114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3100" b="1" dirty="0">
                    <a:solidFill>
                      <a:srgbClr val="37BDF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88.5%</a:t>
                </a:r>
                <a:endParaRPr lang="en-US" sz="3100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 12"/>
              <p:cNvSpPr/>
              <p:nvPr>
                <p:custDataLst>
                  <p:tags r:id="rId15"/>
                </p:custDataLst>
              </p:nvPr>
            </p:nvSpPr>
            <p:spPr>
              <a:xfrm>
                <a:off x="2943225" y="3809128"/>
                <a:ext cx="2377440" cy="2560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topology accuracy</a:t>
                </a:r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 13"/>
              <p:cNvSpPr/>
              <p:nvPr>
                <p:custDataLst>
                  <p:tags r:id="rId16"/>
                </p:custDataLst>
              </p:nvPr>
            </p:nvSpPr>
            <p:spPr>
              <a:xfrm>
                <a:off x="5074285" y="3258456"/>
                <a:ext cx="2377440" cy="4114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3100" b="1" dirty="0">
                    <a:solidFill>
                      <a:srgbClr val="37BDF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88.2%</a:t>
                </a:r>
                <a:endParaRPr lang="en-US" sz="3100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 14"/>
              <p:cNvSpPr/>
              <p:nvPr>
                <p:custDataLst>
                  <p:tags r:id="rId17"/>
                </p:custDataLst>
              </p:nvPr>
            </p:nvSpPr>
            <p:spPr>
              <a:xfrm>
                <a:off x="5074285" y="3788808"/>
                <a:ext cx="2377440" cy="2560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topology F1</a:t>
                </a:r>
                <a:endPara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1" name="Text 9"/>
            <p:cNvSpPr/>
            <p:nvPr>
              <p:custDataLst>
                <p:tags r:id="rId18"/>
              </p:custDataLst>
            </p:nvPr>
          </p:nvSpPr>
          <p:spPr>
            <a:xfrm>
              <a:off x="822960" y="3278776"/>
              <a:ext cx="2377440" cy="411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1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90.7%</a:t>
              </a:r>
              <a:endParaRPr lang="en-US" sz="31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3"/>
            <p:cNvSpPr/>
            <p:nvPr>
              <p:custDataLst>
                <p:tags r:id="rId19"/>
              </p:custDataLst>
            </p:nvPr>
          </p:nvSpPr>
          <p:spPr>
            <a:xfrm>
              <a:off x="822960" y="1678576"/>
              <a:ext cx="2377440" cy="41148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1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91.0%</a:t>
              </a:r>
              <a:endParaRPr lang="en-US" sz="31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Text 15"/>
          <p:cNvSpPr/>
          <p:nvPr/>
        </p:nvSpPr>
        <p:spPr>
          <a:xfrm>
            <a:off x="1364340" y="4934711"/>
            <a:ext cx="8665029" cy="1016145"/>
          </a:xfrm>
          <a:prstGeom prst="rect">
            <a:avLst/>
          </a:prstGeom>
          <a:solidFill>
            <a:srgbClr val="17233A"/>
          </a:solidFill>
          <a:ln w="19050">
            <a:solidFill>
              <a:srgbClr val="38BDF8">
                <a:alpha val="9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baseline: 11 evaluable Cohort A patients; 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cases excluded due to known rigid-registration initialization issues.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86195" y="1341755"/>
            <a:ext cx="5767070" cy="34182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3"/>
          <p:cNvSpPr/>
          <p:nvPr/>
        </p:nvSpPr>
        <p:spPr>
          <a:xfrm>
            <a:off x="7496939" y="788180"/>
            <a:ext cx="4287482" cy="2344638"/>
          </a:xfrm>
          <a:prstGeom prst="rect">
            <a:avLst/>
          </a:prstGeom>
          <a:solidFill>
            <a:srgbClr val="132238">
              <a:alpha val="36410"/>
            </a:srgbClr>
          </a:solidFill>
          <a:ln w="12700">
            <a:noFill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579846" y="608729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Interactive prototype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9846" y="1102505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Streamlit supports visual inspection of registration, masks, matches, and summary outputs.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34061" y="83172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viewer capabilities</a:t>
            </a:r>
            <a:endParaRPr lang="en-US" sz="2000" dirty="0">
              <a:solidFill>
                <a:srgbClr val="37BD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79781" y="1316354"/>
            <a:ext cx="3840480" cy="2468880"/>
          </a:xfrm>
          <a:prstGeom prst="rect">
            <a:avLst/>
          </a:prstGeom>
          <a:noFill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2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Original BL, registered BL, and FU displayed side by side</a:t>
            </a:r>
            <a:endParaRPr lang="en-US" sz="152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2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CT and PET modes</a:t>
            </a:r>
            <a:endParaRPr lang="en-US" sz="152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2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lesion-mask overlays</a:t>
            </a:r>
            <a:endParaRPr lang="en-US" sz="152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2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axial, coronal, and sagittal slice sliders</a:t>
            </a:r>
            <a:endParaRPr lang="en-US" sz="152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2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matched correspondence details and patient-level summary</a:t>
            </a:r>
            <a:endParaRPr lang="en-US" sz="152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862661" y="5543587"/>
            <a:ext cx="3657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Multiplanar views use physical aspect ratio correction.</a:t>
            </a:r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80" y="1603375"/>
            <a:ext cx="7021830" cy="389128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245" y="3592830"/>
            <a:ext cx="1075690" cy="10731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049260" y="502602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/>
                </a:solidFill>
              </a:rPr>
              <a:t>    Axial                   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18" name="图片 17" descr="110580aa4d6fe9bbdec4ae4813393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715" y="3362325"/>
            <a:ext cx="906780" cy="1619250"/>
          </a:xfrm>
          <a:prstGeom prst="rect">
            <a:avLst/>
          </a:prstGeom>
        </p:spPr>
      </p:pic>
      <p:pic>
        <p:nvPicPr>
          <p:cNvPr id="19" name="图片 18" descr="439478ae95737c444ae7c1d485ef81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2900" y="3362325"/>
            <a:ext cx="906780" cy="161925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9335770" y="5026025"/>
            <a:ext cx="9074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/>
                </a:solidFill>
                <a:sym typeface="+mn-ea"/>
              </a:rPr>
              <a:t>Coronal            </a:t>
            </a:r>
            <a:endParaRPr lang="en-US" altLang="zh-CN" sz="1400">
              <a:solidFill>
                <a:schemeClr val="bg1"/>
              </a:solidFill>
            </a:endParaRPr>
          </a:p>
          <a:p>
            <a:endParaRPr lang="zh-CN" altLang="en-US" sz="1400"/>
          </a:p>
        </p:txBody>
      </p:sp>
      <p:sp>
        <p:nvSpPr>
          <p:cNvPr id="21" name="文本框 20"/>
          <p:cNvSpPr txBox="1"/>
          <p:nvPr/>
        </p:nvSpPr>
        <p:spPr>
          <a:xfrm>
            <a:off x="10651490" y="502602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/>
                </a:solidFill>
                <a:sym typeface="+mn-ea"/>
              </a:rPr>
              <a:t>Sagittal</a:t>
            </a:r>
            <a:endParaRPr lang="en-US" altLang="zh-CN" sz="1400">
              <a:solidFill>
                <a:schemeClr val="bg1"/>
              </a:solidFill>
            </a:endParaRPr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215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Quality, teamwork, and risk management</a:t>
            </a:r>
            <a:endParaRPr lang="en-US"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1087991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The project uses testing and intermediate outputs to reduce integration risk.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50863" y="2001665"/>
            <a:ext cx="10924857" cy="2425192"/>
            <a:chOff x="550863" y="1450123"/>
            <a:chExt cx="10924857" cy="2425192"/>
          </a:xfrm>
        </p:grpSpPr>
        <p:sp>
          <p:nvSpPr>
            <p:cNvPr id="13" name="Text 3"/>
            <p:cNvSpPr/>
            <p:nvPr/>
          </p:nvSpPr>
          <p:spPr>
            <a:xfrm>
              <a:off x="550863" y="1450123"/>
              <a:ext cx="3426777" cy="2265533"/>
            </a:xfrm>
            <a:prstGeom prst="rect">
              <a:avLst/>
            </a:prstGeom>
            <a:solidFill>
              <a:srgbClr val="132238">
                <a:alpha val="36410"/>
              </a:srgbClr>
            </a:solidFill>
            <a:ln w="12700">
              <a:noFill/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3"/>
            <p:cNvSpPr/>
            <p:nvPr/>
          </p:nvSpPr>
          <p:spPr>
            <a:xfrm>
              <a:off x="4298451" y="1450123"/>
              <a:ext cx="3426777" cy="2265533"/>
            </a:xfrm>
            <a:prstGeom prst="rect">
              <a:avLst/>
            </a:prstGeom>
            <a:solidFill>
              <a:srgbClr val="132238">
                <a:alpha val="36410"/>
              </a:srgbClr>
            </a:solidFill>
            <a:ln w="12700">
              <a:noFill/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3"/>
            <p:cNvSpPr/>
            <p:nvPr/>
          </p:nvSpPr>
          <p:spPr>
            <a:xfrm>
              <a:off x="8046039" y="1450123"/>
              <a:ext cx="3426777" cy="2265533"/>
            </a:xfrm>
            <a:prstGeom prst="rect">
              <a:avLst/>
            </a:prstGeom>
            <a:solidFill>
              <a:srgbClr val="132238">
                <a:alpha val="36410"/>
              </a:srgbClr>
            </a:solidFill>
            <a:ln w="12700">
              <a:noFill/>
            </a:ln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777240" y="1526903"/>
              <a:ext cx="320040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Quality techniques</a:t>
              </a:r>
              <a:endParaRPr lang="en-US" sz="20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822960" y="1955075"/>
              <a:ext cx="3154680" cy="1920240"/>
            </a:xfrm>
            <a:prstGeom prst="rect">
              <a:avLst/>
            </a:prstGeom>
            <a:noFill/>
          </p:spPr>
          <p:txBody>
            <a:bodyPr wrap="square" lIns="1016" tIns="1016" rIns="1016" bIns="1016" rtlCol="0" anchor="t">
              <a:norm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pytest unit tests for core modules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CLI smoke tests on real data subsets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intermediate CSVs for inspection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visual checks in the dashboard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4474028" y="1526903"/>
              <a:ext cx="320040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Collaboration</a:t>
              </a:r>
              <a:endParaRPr lang="en-US" sz="20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4519748" y="1955075"/>
              <a:ext cx="3337560" cy="1920240"/>
            </a:xfrm>
            <a:prstGeom prst="rect">
              <a:avLst/>
            </a:prstGeom>
            <a:noFill/>
          </p:spPr>
          <p:txBody>
            <a:bodyPr wrap="square" lIns="1016" tIns="1016" rIns="1016" bIns="1016" rtlCol="0" anchor="t">
              <a:norm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Jira user stories and acceptance criteria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GitHub branches and commits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shared docs for each iteration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rotating PM, tracker, doomsayer, and client-liaison roles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8275320" y="1526903"/>
              <a:ext cx="320040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Remaining risks</a:t>
              </a:r>
              <a:endParaRPr lang="en-US" sz="20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8321040" y="1955075"/>
              <a:ext cx="3063240" cy="1920240"/>
            </a:xfrm>
            <a:prstGeom prst="rect">
              <a:avLst/>
            </a:prstGeom>
            <a:noFill/>
          </p:spPr>
          <p:txBody>
            <a:bodyPr wrap="square" lIns="1016" tIns="1016" rIns="1016" bIns="1016" rtlCol="0" anchor="t">
              <a:norm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registration failures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ambiguous merging or splitting cases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small mask components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PET availability and grid consistency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2" name="Text 18"/>
          <p:cNvSpPr/>
          <p:nvPr/>
        </p:nvSpPr>
        <p:spPr>
          <a:xfrm>
            <a:off x="899886" y="5054891"/>
            <a:ext cx="10419082" cy="580427"/>
          </a:xfrm>
          <a:prstGeom prst="rect">
            <a:avLst/>
          </a:prstGeom>
          <a:solidFill>
            <a:srgbClr val="17233A"/>
          </a:solidFill>
          <a:ln w="19050">
            <a:solidFill>
              <a:srgbClr val="38BDF8">
                <a:alpha val="9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/>
            <a:r>
              <a:rPr lang="en-US" altLang="zh-CN" sz="16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strategy: keep the pipeline modular and report both successful and failed cases transparently.</a:t>
            </a:r>
            <a:endParaRPr lang="en-US" altLang="zh-CN" sz="16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3"/>
          <p:cNvSpPr/>
          <p:nvPr/>
        </p:nvSpPr>
        <p:spPr>
          <a:xfrm>
            <a:off x="5881141" y="1658987"/>
            <a:ext cx="5553942" cy="2537094"/>
          </a:xfrm>
          <a:prstGeom prst="rect">
            <a:avLst/>
          </a:prstGeom>
          <a:solidFill>
            <a:srgbClr val="132238">
              <a:alpha val="36410"/>
            </a:srgbClr>
          </a:solidFill>
          <a:ln w="12700">
            <a:noFill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3"/>
          <p:cNvSpPr/>
          <p:nvPr/>
        </p:nvSpPr>
        <p:spPr>
          <a:xfrm>
            <a:off x="550862" y="1658987"/>
            <a:ext cx="5080681" cy="4698270"/>
          </a:xfrm>
          <a:prstGeom prst="rect">
            <a:avLst/>
          </a:prstGeom>
          <a:solidFill>
            <a:srgbClr val="132238">
              <a:alpha val="36410"/>
            </a:srgbClr>
          </a:solidFill>
          <a:ln w="12700">
            <a:noFill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565332" y="60872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Remaining plan and video demo</a:t>
            </a:r>
            <a:endParaRPr lang="en-US" sz="2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5332" y="1102504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After this spoken section, the video will demonstrate the prototype workflow.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273026" y="1807320"/>
            <a:ext cx="3749040" cy="2194560"/>
            <a:chOff x="793932" y="1858553"/>
            <a:chExt cx="3749040" cy="2194560"/>
          </a:xfrm>
        </p:grpSpPr>
        <p:sp>
          <p:nvSpPr>
            <p:cNvPr id="5" name="Text 3"/>
            <p:cNvSpPr/>
            <p:nvPr/>
          </p:nvSpPr>
          <p:spPr>
            <a:xfrm>
              <a:off x="793932" y="1858553"/>
              <a:ext cx="310896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Next project stage</a:t>
              </a:r>
              <a:endParaRPr lang="en-US" sz="20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793932" y="2315753"/>
              <a:ext cx="3749040" cy="1737360"/>
            </a:xfrm>
            <a:prstGeom prst="rect">
              <a:avLst/>
            </a:prstGeom>
            <a:noFill/>
          </p:spPr>
          <p:txBody>
            <a:bodyPr wrap="square" lIns="1016" tIns="1016" rIns="1016" bIns="1016" rtlCol="0" anchor="t">
              <a:normAutofit fontScale="92500" lnSpcReduction="10000"/>
            </a:bodyPr>
            <a:lstStyle/>
            <a:p>
              <a:pPr>
                <a:lnSpc>
                  <a:spcPct val="20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improve registration reliability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expand full-cohort evaluation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validate matching parameters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itchFamily="34" charset="-122"/>
                  <a:cs typeface="Times New Roman" panose="02020603050405020304" pitchFamily="18" charset="0"/>
                </a:rPr>
                <a:t>stabilise final client-facing interface</a:t>
              </a:r>
              <a:endPara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11197" y="1805577"/>
            <a:ext cx="5513832" cy="3566160"/>
            <a:chOff x="6458856" y="1495696"/>
            <a:chExt cx="5513832" cy="3566160"/>
          </a:xfrm>
        </p:grpSpPr>
        <p:sp>
          <p:nvSpPr>
            <p:cNvPr id="7" name="Text 5"/>
            <p:cNvSpPr/>
            <p:nvPr/>
          </p:nvSpPr>
          <p:spPr>
            <a:xfrm>
              <a:off x="6458856" y="1495696"/>
              <a:ext cx="4023360" cy="32004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8-minute recorded demo plan</a:t>
              </a:r>
              <a:endParaRPr lang="en-US" sz="20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6504576" y="1998616"/>
              <a:ext cx="11430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0:00-1:00</a:t>
              </a:r>
              <a:endParaRPr lang="en-US" sz="11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7720728" y="1998616"/>
              <a:ext cx="425196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Open dashboard and select patient</a:t>
              </a:r>
              <a:endPara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6504576" y="2565544"/>
              <a:ext cx="11430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1:00-2:30</a:t>
              </a:r>
              <a:endParaRPr lang="en-US" sz="11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7720728" y="2565544"/>
              <a:ext cx="425196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Inspect CT/PET in axial, coronal, sagittal</a:t>
              </a:r>
              <a:endPara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6504576" y="3132472"/>
              <a:ext cx="11430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2:30-4:00</a:t>
              </a:r>
              <a:endParaRPr lang="en-US" sz="11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7720728" y="3132472"/>
              <a:ext cx="425196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Show registration and masks</a:t>
              </a:r>
              <a:endPara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6504576" y="3699400"/>
              <a:ext cx="11430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4:00-5:30</a:t>
              </a:r>
              <a:endParaRPr lang="en-US" sz="11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720728" y="3699400"/>
              <a:ext cx="425196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Open matched correspondence details</a:t>
              </a:r>
              <a:endPara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6504576" y="4266328"/>
              <a:ext cx="11430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5:30-7:00</a:t>
              </a:r>
              <a:endParaRPr lang="en-US" sz="11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7720728" y="4266328"/>
              <a:ext cx="425196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Show patient summary and accuracy</a:t>
              </a:r>
              <a:endPara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504576" y="4833256"/>
              <a:ext cx="114300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37BDF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7:00-8:00</a:t>
              </a:r>
              <a:endParaRPr lang="en-US" sz="1100" dirty="0">
                <a:solidFill>
                  <a:srgbClr val="37BDF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7720728" y="4833256"/>
              <a:ext cx="4251960" cy="2286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Known limitations and next steps</a:t>
              </a:r>
              <a:endPara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 18"/>
          <p:cNvSpPr/>
          <p:nvPr/>
        </p:nvSpPr>
        <p:spPr>
          <a:xfrm>
            <a:off x="5881141" y="4594643"/>
            <a:ext cx="5597484" cy="1737360"/>
          </a:xfrm>
          <a:prstGeom prst="rect">
            <a:avLst/>
          </a:prstGeom>
          <a:solidFill>
            <a:srgbClr val="17233A"/>
          </a:solidFill>
          <a:ln w="19050">
            <a:solidFill>
              <a:srgbClr val="38BDF8">
                <a:alpha val="9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message:</a:t>
            </a:r>
            <a:endParaRPr lang="en-US" sz="165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prototype is already usable for end-to-end research review, while final delivery will focus on reliability and polish.</a:t>
            </a:r>
            <a:endParaRPr lang="en-US" sz="16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46324"/>
            <a:ext cx="12192000" cy="50981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2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3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4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5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6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7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8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9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10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11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12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13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14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15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16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17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18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ags/tag19.xml><?xml version="1.0" encoding="utf-8"?>
<p:tagLst xmlns:p="http://schemas.openxmlformats.org/presentationml/2006/main">
  <p:tag name="KSO_WM_DIAGRAM_VIRTUALLY_FRAME" val="{&quot;height&quot;:216.33110236220472,&quot;left&quot;:0.3,&quot;top&quot;:132.15031496062994,&quot;width&quot;:834.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5413</Words>
  <Application>WPS 演示</Application>
  <PresentationFormat>宽屏</PresentationFormat>
  <Paragraphs>330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Aptos</vt:lpstr>
      <vt:lpstr>Segoe UI</vt:lpstr>
      <vt:lpstr>Aptos</vt:lpstr>
      <vt:lpstr>Aptos</vt:lpstr>
      <vt:lpstr>Aptos</vt:lpstr>
      <vt:lpstr>Times New Roman</vt:lpstr>
      <vt:lpstr>Aptos Display</vt:lpstr>
      <vt:lpstr>Segoe UI Variable Display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COMP3888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Longitudinal PET/CT Lesion Tracking</dc:title>
  <dc:creator>P31 Team</dc:creator>
  <dc:subject>Progress presentation for longitudinal PET/CT lesion tracking prototype</dc:subject>
  <cp:lastModifiedBy>hfg</cp:lastModifiedBy>
  <cp:revision>11</cp:revision>
  <dcterms:created xsi:type="dcterms:W3CDTF">2026-09-12T15:15:00Z</dcterms:created>
  <dcterms:modified xsi:type="dcterms:W3CDTF">2026-09-13T10:49:39Z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D1B3B32E02504D0DAE8990E19213E8B8_12</vt:lpwstr>
  </property>
  <property fmtid="{D5CDD505-2E9C-101B-9397-08002B2CF9AE}" pid="3" name="KSOProductBuildVer">
    <vt:lpwstr>2052-12.1.0.28505</vt:lpwstr>
  </property>
</Properties>
</file>