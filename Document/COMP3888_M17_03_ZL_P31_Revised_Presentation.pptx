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9"/>
  </p:normalViewPr>
  <p:slideViewPr>
    <p:cSldViewPr snapToGrid="0">
      <p:cViewPr varScale="1">
        <p:scale>
          <a:sx n="101" d="100"/>
          <a:sy n="101" d="100"/>
        </p:scale>
        <p:origin x="9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Good morning everyone. Our project is Project 31,Longitudinal PET/CT Lesion Quantification and Treatment.</a:t>
            </a:r>
            <a:endParaRPr lang="zh-CN" altLang="zh-CN" sz="1200" kern="1200" dirty="0">
              <a:effectLst/>
            </a:endParaRPr>
          </a:p>
          <a:p>
            <a:r>
              <a:rPr lang="en-US" altLang="zh-CN" sz="1200" kern="1200" dirty="0">
                <a:effectLst/>
              </a:rPr>
              <a:t>Our team members are Qiang Li, Linkang Wen, Yuqi Wu, and </a:t>
            </a:r>
            <a:r>
              <a:rPr lang="en-US" altLang="zh-CN" sz="1200" kern="1200" dirty="0" err="1">
                <a:effectLst/>
              </a:rPr>
              <a:t>Haoxiong</a:t>
            </a:r>
            <a:r>
              <a:rPr lang="en-US" altLang="zh-CN" sz="1200" kern="1200" dirty="0">
                <a:effectLst/>
              </a:rPr>
              <a:t> Pan.</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This project focuses on PSMA PET/CT scans. These scans are often used for prostate cancer related imaging. They can show PSMA-positive lesions in different parts of the body, such as bone, organs, or soft tissue.</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The problem is that one patient may have many lesions. These lesions may not all change in the same way over time. Some lesions may become smaller. Some may grow. Some may disappear. New lesions may also appear.</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Because of this, manual review can be difficult and slow. A simple total number may not show the full picture.</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Our aim is to build a research review tool. The tool will help users measure and compare lesions between a baseline scan and a follow-up scan.</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The project will not train a new segmentation model. It will use existing lesion masks from the datasets. This makes the project more focused and realistic.</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Our main objectives are: first, identify patients with two scans. Second, extract lesion features such as volume, </a:t>
            </a:r>
            <a:r>
              <a:rPr lang="en-US" altLang="zh-CN" sz="1200" kern="1200" dirty="0" err="1">
                <a:effectLst/>
              </a:rPr>
              <a:t>SUVmax</a:t>
            </a:r>
            <a:r>
              <a:rPr lang="en-US" altLang="zh-CN" sz="1200" kern="1200" dirty="0">
                <a:effectLst/>
              </a:rPr>
              <a:t>, </a:t>
            </a:r>
            <a:r>
              <a:rPr lang="en-US" altLang="zh-CN" sz="1200" kern="1200" dirty="0" err="1">
                <a:effectLst/>
              </a:rPr>
              <a:t>SUVmean</a:t>
            </a:r>
            <a:r>
              <a:rPr lang="en-US" altLang="zh-CN" sz="1200" kern="1200" dirty="0">
                <a:effectLst/>
              </a:rPr>
              <a:t>, centroid, and region. Third, match lesions across scans. Fourth, calculate changes. Finally, show the results in a </a:t>
            </a:r>
            <a:r>
              <a:rPr lang="en-US" altLang="zh-CN" sz="1200" kern="1200" dirty="0" err="1">
                <a:effectLst/>
              </a:rPr>
              <a:t>Streamlit</a:t>
            </a:r>
            <a:r>
              <a:rPr lang="en-US" altLang="zh-CN" sz="1200" kern="1200" dirty="0">
                <a:effectLst/>
              </a:rPr>
              <a:t> dashboard.</a:t>
            </a:r>
            <a:endParaRPr lang="zh-CN" altLang="zh-CN" sz="1200" kern="1200" dirty="0">
              <a:effectLst/>
            </a:endParaRPr>
          </a:p>
          <a:p>
            <a:r>
              <a:rPr lang="en-US" altLang="zh-CN" sz="1200" kern="1200" dirty="0">
                <a:effectLst/>
              </a:rPr>
              <a:t>Now Yuqi will explain our project scope and data plan.</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Thank you, </a:t>
            </a:r>
            <a:r>
              <a:rPr lang="en-US" altLang="zh-CN" sz="1200" kern="1200" dirty="0" err="1">
                <a:effectLst/>
              </a:rPr>
              <a:t>Linkang</a:t>
            </a:r>
            <a:r>
              <a:rPr lang="en-US" altLang="zh-CN" sz="1200" kern="1200" dirty="0">
                <a:effectLst/>
              </a:rPr>
              <a:t>.</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Our project scope is clear and limited. In scope, we will do data indexing, lesion feature extraction, basic image alignment, lesion matching, change analysis, </a:t>
            </a:r>
            <a:r>
              <a:rPr lang="en-US" altLang="zh-CN" sz="1200" kern="1200" dirty="0" err="1">
                <a:effectLst/>
              </a:rPr>
              <a:t>visualisation</a:t>
            </a:r>
            <a:r>
              <a:rPr lang="en-US" altLang="zh-CN" sz="1200" kern="1200" dirty="0">
                <a:effectLst/>
              </a:rPr>
              <a:t>, dashboard development, and the final report.</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There are also things that are out of scope. We will not train a new segmentation model. We will not provide clinical diagnosis. We will not give treatment recommendations. We will also not do complex deformable registration, because that would make the project too large for this semester.</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Our technical solution is designed to be transparent. The workflow starts with data preparation. We parse patient information and scan dates, then load the PET/CT scans and existing lesion masks.</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After that, we extract lesion features, including volume and SUV measurements. Then we align the baseline and follow-up PET/CT scans.</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After alignment, lesions are matched based on anatomical region, distance, and overlap. The matched results are then used for change and heterogeneity analysis, and finally displayed on the dashboard.</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This approach uses existing masks, keeps the matching rules interpretable, and makes the results easy for the client and teaching team to review.</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We will use two cohorts. Cohort A is from </a:t>
            </a:r>
            <a:r>
              <a:rPr lang="en-US" altLang="zh-CN" sz="1200" kern="1200" dirty="0" err="1">
                <a:effectLst/>
              </a:rPr>
              <a:t>autoPET</a:t>
            </a:r>
            <a:r>
              <a:rPr lang="en-US" altLang="zh-CN" sz="1200" kern="1200" dirty="0">
                <a:effectLst/>
              </a:rPr>
              <a:t>-IV Task 2 Longitudinal-CT. This cohort has expert-confirmed lesion correspondence. We will use it to test and validate our lesion matching method.</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Cohort B is the </a:t>
            </a:r>
            <a:r>
              <a:rPr lang="en-US" altLang="zh-CN" sz="1200" kern="1200" dirty="0" err="1">
                <a:effectLst/>
              </a:rPr>
              <a:t>autoPET</a:t>
            </a:r>
            <a:r>
              <a:rPr lang="en-US" altLang="zh-CN" sz="1200" kern="1200" dirty="0">
                <a:effectLst/>
              </a:rPr>
              <a:t>-III PSMA subset. This is our main target dataset. It includes PET/CT scans, SUV images, and lesion masks. We will recover patient pairs by using patient hash and scan date.</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To reduce risk, we will start with about 10 to 15 cases. Once the pipeline is stable, we can apply it to more cases.</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Next, </a:t>
            </a:r>
            <a:r>
              <a:rPr lang="en-US" altLang="zh-CN" sz="1200" kern="1200" dirty="0" err="1">
                <a:effectLst/>
              </a:rPr>
              <a:t>Haoxiong</a:t>
            </a:r>
            <a:r>
              <a:rPr lang="en-US" altLang="zh-CN" sz="1200" kern="1200" dirty="0">
                <a:effectLst/>
              </a:rPr>
              <a:t> will explain the lesion matching method and how we measure success.</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Thank you, Yuqi.</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The main algorithmic part of this project is lesion matching. This means we try to decide whether a lesion in the baseline scan is the same lesion in the follow-up scan.</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This is not always easy. A lesion may move slightly because the patient position is different. A lesion may grow, shrink, split, or disappear. New lesions may also appear.</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To keep the method clear, we will use simple rules. First, we compare broad anatomical region. For example, a bone lesion should be matched with another likely bone lesion.</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Second, we use centroid distance. The centroid is the </a:t>
            </a:r>
            <a:r>
              <a:rPr lang="en-US" altLang="zh-CN" sz="1200" kern="1200" dirty="0" err="1">
                <a:effectLst/>
              </a:rPr>
              <a:t>centre</a:t>
            </a:r>
            <a:r>
              <a:rPr lang="en-US" altLang="zh-CN" sz="1200" kern="1200" dirty="0">
                <a:effectLst/>
              </a:rPr>
              <a:t> point of a lesion. If two lesions are close after alignment, they are more likely to match.</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Third, we use mask overlap after rigid alignment. If the baseline lesion and follow-up lesion overlap in space, this gives stronger evidence.</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Using these rules, each lesion can be labelled. If a baseline lesion matches a follow-up lesion, it is called persistent. If a follow-up lesion has no baseline match, it is newly detected. If a baseline lesion has no follow-up match, it is no longer detected.</a:t>
            </a:r>
          </a:p>
          <a:p>
            <a:endParaRPr lang="zh-CN" altLang="zh-CN" sz="1200" kern="1200" dirty="0">
              <a:effectLst/>
            </a:endParaRPr>
          </a:p>
          <a:p>
            <a:r>
              <a:rPr lang="en-US" altLang="zh-CN" sz="1200" kern="1200" dirty="0">
                <a:effectLst/>
              </a:rPr>
              <a:t>These labels are descriptive only. They are not clinical conclusions.</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Success will be measured by clear outputs. We will produce a reproducible Python pipeline, lesion-level tables, patient-level summary tables, matching results, waterfall plots, region-level plots, a </a:t>
            </a:r>
            <a:r>
              <a:rPr lang="en-US" altLang="zh-CN" sz="1200" kern="1200" dirty="0" err="1">
                <a:effectLst/>
              </a:rPr>
              <a:t>Streamlit</a:t>
            </a:r>
            <a:r>
              <a:rPr lang="en-US" altLang="zh-CN" sz="1200" kern="1200" dirty="0">
                <a:effectLst/>
              </a:rPr>
              <a:t> dashboard, and a final report.</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Our schedule follows the course timeline. In Weeks 1 to 3, we work on project scope and proposal. In Weeks 3 to 5, we work on data and image loading. In Weeks 5 to 7, we work on feature extraction and matching. In Weeks 8 to 10, we develop the dashboard and improve the analysis. In Weeks 11 to 13, we </a:t>
            </a:r>
            <a:r>
              <a:rPr lang="en-US" altLang="zh-CN" sz="1200" kern="1200" dirty="0" err="1">
                <a:effectLst/>
              </a:rPr>
              <a:t>finalise</a:t>
            </a:r>
            <a:r>
              <a:rPr lang="en-US" altLang="zh-CN" sz="1200" kern="1200" dirty="0">
                <a:effectLst/>
              </a:rPr>
              <a:t> the product, report, and demo.</a:t>
            </a:r>
            <a:endParaRPr lang="zh-CN" altLang="zh-CN" sz="1200" kern="1200" dirty="0">
              <a:effectLst/>
            </a:endParaRPr>
          </a:p>
          <a:p>
            <a:r>
              <a:rPr lang="en-US" altLang="zh-CN" sz="1200" kern="1200" dirty="0">
                <a:effectLst/>
              </a:rPr>
              <a:t> </a:t>
            </a:r>
            <a:endParaRPr lang="zh-CN" altLang="zh-CN" sz="1200" kern="1200" dirty="0">
              <a:effectLst/>
            </a:endParaRPr>
          </a:p>
          <a:p>
            <a:r>
              <a:rPr lang="en-US" altLang="zh-CN" sz="1200" kern="1200" dirty="0">
                <a:effectLst/>
              </a:rPr>
              <a:t>Now Qiang will explain our team roles, risks, and final plan.</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Linkang is the Project and Data Lead. He will manage the timeline, meetings, scan manifest, and dashboard integration.</a:t>
            </a:r>
            <a:br>
              <a:rPr lang="zh-CN" altLang="zh-CN" sz="1200" kern="1200" dirty="0">
                <a:effectLst/>
              </a:rPr>
            </a:br>
            <a:endParaRPr lang="zh-CN" altLang="zh-CN" sz="1200" kern="1200" dirty="0">
              <a:effectLst/>
            </a:endParaRPr>
          </a:p>
          <a:p>
            <a:r>
              <a:rPr lang="zh-CN" altLang="zh-CN" sz="1200" kern="1200" dirty="0">
                <a:effectLst/>
              </a:rPr>
              <a:t>Yuqi is the Imaging Lead. he will work on (PET/CT) image loading, mask checking, image overlays, and dashboard support.</a:t>
            </a:r>
          </a:p>
          <a:p>
            <a:endParaRPr lang="zh-CN" altLang="zh-CN" sz="1200" kern="1200" dirty="0">
              <a:effectLst/>
            </a:endParaRPr>
          </a:p>
          <a:p>
            <a:r>
              <a:rPr lang="zh-CN" altLang="zh-CN" sz="1200" kern="1200" dirty="0">
                <a:effectLst/>
              </a:rPr>
              <a:t>I am the Feature and Metrics Lead. My main responsibility is to extract and analyse key lesion features,</a:t>
            </a:r>
            <a:r>
              <a:rPr lang="en-US" altLang="zh-CN" sz="1200" kern="1200" dirty="0">
                <a:effectLst/>
              </a:rPr>
              <a:t> </a:t>
            </a:r>
            <a:r>
              <a:rPr lang="zh-CN" altLang="zh-CN" sz="1200" kern="1200" dirty="0">
                <a:effectLst/>
              </a:rPr>
              <a:t>I will also create patient-level summaries to clearly present changes over time.</a:t>
            </a:r>
            <a:endParaRPr lang="en-US" altLang="zh-CN" sz="1200" kern="1200" dirty="0">
              <a:effectLst/>
            </a:endParaRPr>
          </a:p>
          <a:p>
            <a:endParaRPr lang="zh-CN" altLang="zh-CN" sz="1200" kern="1200" dirty="0">
              <a:effectLst/>
            </a:endParaRPr>
          </a:p>
          <a:p>
            <a:r>
              <a:rPr lang="zh-CN" altLang="zh-CN" sz="1200" kern="1200" dirty="0">
                <a:effectLst/>
              </a:rPr>
              <a:t>Haoxiong is the Algorithm and Evaluation Lead. He will work on lesion matching, parameter testing, and validation metrics.</a:t>
            </a:r>
          </a:p>
          <a:p>
            <a:r>
              <a:rPr lang="zh-CN" altLang="zh-CN" sz="1200" kern="1200" dirty="0">
                <a:effectLst/>
              </a:rPr>
              <a:t>And we will review each other’s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There are several risks in this project. </a:t>
            </a:r>
            <a:endParaRPr lang="en-US" altLang="zh-CN" sz="1200" kern="1200" dirty="0">
              <a:effectLst/>
            </a:endParaRPr>
          </a:p>
          <a:p>
            <a:r>
              <a:rPr lang="en-US" altLang="zh-CN" sz="1200" kern="1200" dirty="0">
                <a:effectLst/>
              </a:rPr>
              <a:t>1. </a:t>
            </a:r>
            <a:r>
              <a:rPr lang="zh-CN" altLang="zh-CN" sz="1200" kern="1200" dirty="0">
                <a:effectLst/>
              </a:rPr>
              <a:t>The first risk is dataset pairing. We need to correctly parse patient hash and scan date. We will check this early.</a:t>
            </a:r>
          </a:p>
          <a:p>
            <a:endParaRPr lang="zh-CN" altLang="zh-CN" sz="1200" kern="1200" dirty="0">
              <a:effectLst/>
            </a:endParaRPr>
          </a:p>
          <a:p>
            <a:r>
              <a:rPr lang="en-US" altLang="zh-CN" sz="1200" kern="1200" dirty="0">
                <a:effectLst/>
              </a:rPr>
              <a:t>2. </a:t>
            </a:r>
            <a:r>
              <a:rPr lang="zh-CN" altLang="zh-CN" sz="1200" kern="1200" dirty="0">
                <a:effectLst/>
              </a:rPr>
              <a:t>The second risk is large image files. Medical images can take a lot of space and time to process. We will start with 10 to 15 cases and save intermediate results.</a:t>
            </a:r>
            <a:br>
              <a:rPr lang="zh-CN" altLang="zh-CN" sz="1200" kern="1200" dirty="0">
                <a:effectLst/>
              </a:rPr>
            </a:br>
            <a:endParaRPr lang="zh-CN" altLang="zh-CN" sz="1200" kern="1200" dirty="0">
              <a:effectLst/>
            </a:endParaRPr>
          </a:p>
          <a:p>
            <a:r>
              <a:rPr lang="en-US" altLang="zh-CN" sz="1200" kern="1200" dirty="0">
                <a:effectLst/>
              </a:rPr>
              <a:t>3. </a:t>
            </a:r>
            <a:r>
              <a:rPr lang="zh-CN" altLang="zh-CN" sz="1200" kern="1200" dirty="0">
                <a:effectLst/>
              </a:rPr>
              <a:t>The third risk is image alignment quality. Rigid alignment may not be perfect. To reduce this risk, we will combine alignment with region and distance rules.</a:t>
            </a:r>
            <a:br>
              <a:rPr lang="zh-CN" altLang="zh-CN" sz="1200" kern="1200" dirty="0">
                <a:effectLst/>
              </a:rPr>
            </a:br>
            <a:endParaRPr lang="zh-CN" altLang="zh-CN" sz="1200" kern="1200" dirty="0">
              <a:effectLst/>
            </a:endParaRPr>
          </a:p>
          <a:p>
            <a:r>
              <a:rPr lang="en-US" altLang="zh-CN" sz="1200" kern="1200" dirty="0">
                <a:effectLst/>
              </a:rPr>
              <a:t>4. </a:t>
            </a:r>
            <a:r>
              <a:rPr lang="zh-CN" altLang="zh-CN" sz="1200" kern="1200" dirty="0">
                <a:effectLst/>
              </a:rPr>
              <a:t>The fourth risk is matching uncertainty. Lesion matching may be difficult when lesions split or disappear. We will test the method on autoPET-IV before applying it to the PSMA cohort.</a:t>
            </a:r>
            <a:br>
              <a:rPr lang="zh-CN" altLang="zh-CN" sz="1200" kern="1200" dirty="0">
                <a:effectLst/>
              </a:rPr>
            </a:br>
            <a:endParaRPr lang="zh-CN" altLang="zh-CN" sz="1200" kern="1200" dirty="0">
              <a:effectLst/>
            </a:endParaRPr>
          </a:p>
          <a:p>
            <a:r>
              <a:rPr lang="en-US" altLang="zh-CN" sz="1200" kern="1200" dirty="0">
                <a:effectLst/>
              </a:rPr>
              <a:t>5. </a:t>
            </a:r>
            <a:r>
              <a:rPr lang="zh-CN" altLang="zh-CN" sz="1200" kern="1200" dirty="0">
                <a:effectLst/>
              </a:rPr>
              <a:t>The last risk is dashboard workload. If time is limited, we will first build tables and plots, then add more advanced image viewers.</a:t>
            </a:r>
            <a:br>
              <a:rPr lang="zh-CN" altLang="zh-CN" sz="1200" kern="1200" dirty="0">
                <a:effectLst/>
              </a:rPr>
            </a:br>
            <a:endParaRPr lang="zh-CN" altLang="zh-CN" sz="1200" kern="1200" dirty="0">
              <a:effectLst/>
            </a:endParaRPr>
          </a:p>
          <a:p>
            <a:r>
              <a:rPr lang="zh-CN" altLang="zh-CN" sz="1200" kern="1200" dirty="0">
                <a:effectLst/>
              </a:rPr>
              <a:t>To conclude, our project is feasible because it uses existing lesion masks and established Python tools. The main value is a clear and reproducible way to measure, match, and review lesion changes over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Thank you. We are happy to answer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86FBC3FB-3412-40FF-8FEA-98E517DC5FF4}"/>
              </a:ext>
            </a:extLst>
          </p:cNvPr>
          <p:cNvSpPr>
            <a:spLocks noGrp="1"/>
          </p:cNvSpPr>
          <p:nvPr/>
        </p:nvSpPr>
        <p:spPr>
          <a:xfrm>
            <a:off x="533400" y="361950"/>
            <a:ext cx="5905500" cy="285750"/>
          </a:xfrm>
          <a:prstGeom prst="rect">
            <a:avLst/>
          </a:prstGeom>
          <a:noFill/>
          <a:ln w="0">
            <a:noFill/>
            <a:prstDash val="solid"/>
          </a:ln>
        </p:spPr>
        <p:txBody>
          <a:bodyPr anchor="t"/>
          <a:lstStyle/>
          <a:p>
            <a:pPr algn="l">
              <a:defRPr sz="1650" b="1">
                <a:solidFill>
                  <a:srgbClr val="5A5F68"/>
                </a:solidFill>
              </a:defRPr>
            </a:pPr>
            <a:r>
              <a:rPr sz="1650" b="1">
                <a:solidFill>
                  <a:srgbClr val="5A5F68"/>
                </a:solidFill>
              </a:rPr>
              <a:t>COMP3888_M17_03_ZL | Project 31</a:t>
            </a:r>
          </a:p>
        </p:txBody>
      </p:sp>
      <p:sp>
        <p:nvSpPr>
          <p:cNvPr id="2" name="矩形 1">
            <a:extLst>
              <a:ext uri="{FF2B5EF4-FFF2-40B4-BE49-F238E27FC236}">
                <a16:creationId xmlns:a16="http://schemas.microsoft.com/office/drawing/2014/main" id="{CCE1125E-3BD4-42B9-8CA2-4DA4A1B1C642}"/>
              </a:ext>
            </a:extLst>
          </p:cNvPr>
          <p:cNvSpPr>
            <a:spLocks noGrp="1"/>
          </p:cNvSpPr>
          <p:nvPr/>
        </p:nvSpPr>
        <p:spPr>
          <a:xfrm>
            <a:off x="533400" y="1238250"/>
            <a:ext cx="7524750" cy="1428750"/>
          </a:xfrm>
          <a:prstGeom prst="rect">
            <a:avLst/>
          </a:prstGeom>
          <a:noFill/>
          <a:ln w="0">
            <a:noFill/>
            <a:prstDash val="solid"/>
          </a:ln>
        </p:spPr>
        <p:txBody>
          <a:bodyPr anchor="t"/>
          <a:lstStyle/>
          <a:p>
            <a:pPr algn="l">
              <a:defRPr sz="3450" b="1">
                <a:solidFill>
                  <a:srgbClr val="111111"/>
                </a:solidFill>
              </a:defRPr>
            </a:pPr>
            <a:r>
              <a:rPr sz="3450" b="1">
                <a:solidFill>
                  <a:srgbClr val="111111"/>
                </a:solidFill>
              </a:rPr>
              <a:t>Longitudinal PET/CT Lesion Quantification and Treatment</a:t>
            </a:r>
          </a:p>
        </p:txBody>
      </p:sp>
      <p:sp>
        <p:nvSpPr>
          <p:cNvPr id="3" name="矩形 2">
            <a:extLst>
              <a:ext uri="{FF2B5EF4-FFF2-40B4-BE49-F238E27FC236}">
                <a16:creationId xmlns:a16="http://schemas.microsoft.com/office/drawing/2014/main" id="{2B8F81F8-73C0-4BBD-9F3A-A81839D16A5C}"/>
              </a:ext>
            </a:extLst>
          </p:cNvPr>
          <p:cNvSpPr>
            <a:spLocks noGrp="1"/>
          </p:cNvSpPr>
          <p:nvPr/>
        </p:nvSpPr>
        <p:spPr>
          <a:xfrm>
            <a:off x="533400" y="2876550"/>
            <a:ext cx="5905500" cy="400050"/>
          </a:xfrm>
          <a:prstGeom prst="rect">
            <a:avLst/>
          </a:prstGeom>
          <a:noFill/>
          <a:ln w="0">
            <a:noFill/>
            <a:prstDash val="solid"/>
          </a:ln>
        </p:spPr>
        <p:txBody>
          <a:bodyPr anchor="t"/>
          <a:lstStyle/>
          <a:p>
            <a:pPr algn="l">
              <a:defRPr sz="2100" b="0">
                <a:solidFill>
                  <a:srgbClr val="5A5F68"/>
                </a:solidFill>
              </a:defRPr>
            </a:pPr>
            <a:r>
              <a:rPr sz="2100" b="0">
                <a:solidFill>
                  <a:srgbClr val="5A5F68"/>
                </a:solidFill>
              </a:rPr>
              <a:t>Week 4 Project Proposal &amp; Roles Allocation</a:t>
            </a:r>
          </a:p>
        </p:txBody>
      </p:sp>
      <p:sp>
        <p:nvSpPr>
          <p:cNvPr id="4" name="矩形 3">
            <a:extLst>
              <a:ext uri="{FF2B5EF4-FFF2-40B4-BE49-F238E27FC236}">
                <a16:creationId xmlns:a16="http://schemas.microsoft.com/office/drawing/2014/main" id="{6E552B27-B8DB-418E-B576-EBBA06366DAE}"/>
              </a:ext>
            </a:extLst>
          </p:cNvPr>
          <p:cNvSpPr>
            <a:spLocks noGrp="1"/>
          </p:cNvSpPr>
          <p:nvPr/>
        </p:nvSpPr>
        <p:spPr>
          <a:xfrm>
            <a:off x="533400" y="3714750"/>
            <a:ext cx="3429000" cy="1066800"/>
          </a:xfrm>
          <a:prstGeom prst="rect">
            <a:avLst/>
          </a:prstGeom>
          <a:noFill/>
          <a:ln w="0">
            <a:noFill/>
            <a:prstDash val="solid"/>
          </a:ln>
        </p:spPr>
        <p:txBody>
          <a:bodyPr anchor="t"/>
          <a:lstStyle/>
          <a:p>
            <a:pPr algn="l">
              <a:defRPr sz="1575" b="0">
                <a:solidFill>
                  <a:srgbClr val="111111"/>
                </a:solidFill>
              </a:defRPr>
            </a:pPr>
            <a:r>
              <a:rPr sz="1575" b="0" dirty="0">
                <a:solidFill>
                  <a:srgbClr val="111111"/>
                </a:solidFill>
              </a:rPr>
              <a:t>Client: Zilin Zhang</a:t>
            </a:r>
          </a:p>
          <a:p>
            <a:pPr algn="l">
              <a:defRPr sz="1575" b="0">
                <a:solidFill>
                  <a:srgbClr val="111111"/>
                </a:solidFill>
              </a:defRPr>
            </a:pPr>
            <a:r>
              <a:rPr sz="1575" b="0" dirty="0">
                <a:solidFill>
                  <a:srgbClr val="111111"/>
                </a:solidFill>
              </a:rPr>
              <a:t>Tutor: </a:t>
            </a:r>
            <a:r>
              <a:rPr sz="1575" b="0" dirty="0" err="1">
                <a:solidFill>
                  <a:srgbClr val="111111"/>
                </a:solidFill>
              </a:rPr>
              <a:t>Zhenlin</a:t>
            </a:r>
            <a:r>
              <a:rPr sz="1575" b="0" dirty="0">
                <a:solidFill>
                  <a:srgbClr val="111111"/>
                </a:solidFill>
              </a:rPr>
              <a:t> Liu</a:t>
            </a:r>
          </a:p>
          <a:p>
            <a:pPr algn="l">
              <a:defRPr sz="1575" b="0">
                <a:solidFill>
                  <a:srgbClr val="111111"/>
                </a:solidFill>
              </a:defRPr>
            </a:pPr>
            <a:r>
              <a:rPr sz="1575" b="0" dirty="0">
                <a:solidFill>
                  <a:srgbClr val="111111"/>
                </a:solidFill>
              </a:rPr>
              <a:t>Tutorial</a:t>
            </a:r>
            <a:r>
              <a:rPr sz="1575" b="0">
                <a:solidFill>
                  <a:srgbClr val="111111"/>
                </a:solidFill>
              </a:rPr>
              <a:t>: M17</a:t>
            </a:r>
            <a:r>
              <a:rPr lang="en-US" sz="1575" b="0">
                <a:solidFill>
                  <a:srgbClr val="111111"/>
                </a:solidFill>
              </a:rPr>
              <a:t>(5:00-7:00)</a:t>
            </a:r>
            <a:endParaRPr sz="1575" b="0" dirty="0">
              <a:solidFill>
                <a:srgbClr val="111111"/>
              </a:solidFill>
            </a:endParaRPr>
          </a:p>
          <a:p>
            <a:pPr algn="l">
              <a:defRPr sz="1575" b="0">
                <a:solidFill>
                  <a:srgbClr val="111111"/>
                </a:solidFill>
              </a:defRPr>
            </a:pPr>
            <a:r>
              <a:rPr sz="1575" b="0" dirty="0">
                <a:solidFill>
                  <a:srgbClr val="111111"/>
                </a:solidFill>
              </a:rPr>
              <a:t>Submission date: 23 Aug 2026</a:t>
            </a:r>
          </a:p>
        </p:txBody>
      </p:sp>
      <p:sp>
        <p:nvSpPr>
          <p:cNvPr id="5" name="矩形 4">
            <a:extLst>
              <a:ext uri="{FF2B5EF4-FFF2-40B4-BE49-F238E27FC236}">
                <a16:creationId xmlns:a16="http://schemas.microsoft.com/office/drawing/2014/main" id="{2E8C5945-9608-4C38-8C81-905158173CAA}"/>
              </a:ext>
            </a:extLst>
          </p:cNvPr>
          <p:cNvSpPr>
            <a:spLocks noGrp="1"/>
          </p:cNvSpPr>
          <p:nvPr/>
        </p:nvSpPr>
        <p:spPr>
          <a:xfrm>
            <a:off x="7000875" y="876300"/>
            <a:ext cx="4191000" cy="4857750"/>
          </a:xfrm>
          <a:prstGeom prst="rect">
            <a:avLst/>
          </a:prstGeom>
          <a:solidFill>
            <a:srgbClr val="F0F2F5"/>
          </a:solidFill>
          <a:ln w="9525">
            <a:solidFill>
              <a:srgbClr val="B8BCC4"/>
            </a:solidFill>
            <a:prstDash val="solid"/>
          </a:ln>
        </p:spPr>
        <p:txBody>
          <a:bodyPr/>
          <a:lstStyle/>
          <a:p>
            <a:endParaRPr lang="zh-CN" altLang="en-US"/>
          </a:p>
        </p:txBody>
      </p:sp>
      <p:sp>
        <p:nvSpPr>
          <p:cNvPr id="6" name="矩形 5">
            <a:extLst>
              <a:ext uri="{FF2B5EF4-FFF2-40B4-BE49-F238E27FC236}">
                <a16:creationId xmlns:a16="http://schemas.microsoft.com/office/drawing/2014/main" id="{E63AA30E-EF2D-4DE5-A312-0D37D0BEB845}"/>
              </a:ext>
            </a:extLst>
          </p:cNvPr>
          <p:cNvSpPr>
            <a:spLocks noGrp="1"/>
          </p:cNvSpPr>
          <p:nvPr/>
        </p:nvSpPr>
        <p:spPr>
          <a:xfrm>
            <a:off x="7334250" y="1171575"/>
            <a:ext cx="2476500" cy="304800"/>
          </a:xfrm>
          <a:prstGeom prst="rect">
            <a:avLst/>
          </a:prstGeom>
          <a:noFill/>
          <a:ln w="0">
            <a:noFill/>
            <a:prstDash val="solid"/>
          </a:ln>
        </p:spPr>
        <p:txBody>
          <a:bodyPr anchor="t"/>
          <a:lstStyle/>
          <a:p>
            <a:pPr algn="l">
              <a:defRPr sz="1950" b="1">
                <a:solidFill>
                  <a:srgbClr val="111111"/>
                </a:solidFill>
              </a:defRPr>
            </a:pPr>
            <a:r>
              <a:rPr sz="1950" b="1">
                <a:solidFill>
                  <a:srgbClr val="111111"/>
                </a:solidFill>
              </a:rPr>
              <a:t>Team members</a:t>
            </a:r>
          </a:p>
        </p:txBody>
      </p:sp>
      <p:sp>
        <p:nvSpPr>
          <p:cNvPr id="7" name="矩形 6">
            <a:extLst>
              <a:ext uri="{FF2B5EF4-FFF2-40B4-BE49-F238E27FC236}">
                <a16:creationId xmlns:a16="http://schemas.microsoft.com/office/drawing/2014/main" id="{7F1CD29D-56B5-489B-A7DE-15CC79CC7DC3}"/>
              </a:ext>
            </a:extLst>
          </p:cNvPr>
          <p:cNvSpPr>
            <a:spLocks noGrp="1"/>
          </p:cNvSpPr>
          <p:nvPr/>
        </p:nvSpPr>
        <p:spPr>
          <a:xfrm>
            <a:off x="7334250" y="1714500"/>
            <a:ext cx="1571625" cy="228600"/>
          </a:xfrm>
          <a:prstGeom prst="rect">
            <a:avLst/>
          </a:prstGeom>
          <a:noFill/>
          <a:ln w="0">
            <a:noFill/>
            <a:prstDash val="solid"/>
          </a:ln>
        </p:spPr>
        <p:txBody>
          <a:bodyPr anchor="t"/>
          <a:lstStyle/>
          <a:p>
            <a:pPr algn="l">
              <a:defRPr sz="1500" b="1">
                <a:solidFill>
                  <a:srgbClr val="111111"/>
                </a:solidFill>
              </a:defRPr>
            </a:pPr>
            <a:r>
              <a:rPr sz="1500" b="1">
                <a:solidFill>
                  <a:srgbClr val="111111"/>
                </a:solidFill>
              </a:rPr>
              <a:t>Qiang Li</a:t>
            </a:r>
          </a:p>
        </p:txBody>
      </p:sp>
      <p:sp>
        <p:nvSpPr>
          <p:cNvPr id="8" name="矩形 7">
            <a:extLst>
              <a:ext uri="{FF2B5EF4-FFF2-40B4-BE49-F238E27FC236}">
                <a16:creationId xmlns:a16="http://schemas.microsoft.com/office/drawing/2014/main" id="{F7FBBFB8-7F0A-4F52-93EB-FD0F205F2C17}"/>
              </a:ext>
            </a:extLst>
          </p:cNvPr>
          <p:cNvSpPr>
            <a:spLocks noGrp="1"/>
          </p:cNvSpPr>
          <p:nvPr/>
        </p:nvSpPr>
        <p:spPr>
          <a:xfrm>
            <a:off x="9001125" y="1695450"/>
            <a:ext cx="1809750" cy="419100"/>
          </a:xfrm>
          <a:prstGeom prst="rect">
            <a:avLst/>
          </a:prstGeom>
          <a:noFill/>
          <a:ln w="0">
            <a:noFill/>
            <a:prstDash val="solid"/>
          </a:ln>
        </p:spPr>
        <p:txBody>
          <a:bodyPr anchor="t"/>
          <a:lstStyle/>
          <a:p>
            <a:pPr algn="l">
              <a:defRPr sz="1275" b="0">
                <a:solidFill>
                  <a:srgbClr val="5A5F68"/>
                </a:solidFill>
              </a:defRPr>
            </a:pPr>
            <a:r>
              <a:rPr sz="1275" b="0">
                <a:solidFill>
                  <a:srgbClr val="5A5F68"/>
                </a:solidFill>
              </a:rPr>
              <a:t>SID: 540788868</a:t>
            </a:r>
          </a:p>
          <a:p>
            <a:pPr algn="l">
              <a:defRPr sz="1275" b="0">
                <a:solidFill>
                  <a:srgbClr val="5A5F68"/>
                </a:solidFill>
              </a:defRPr>
            </a:pPr>
            <a:r>
              <a:rPr sz="1275" b="0">
                <a:solidFill>
                  <a:srgbClr val="5A5F68"/>
                </a:solidFill>
              </a:rPr>
              <a:t>Unikey: qili0179</a:t>
            </a:r>
          </a:p>
        </p:txBody>
      </p:sp>
      <p:sp>
        <p:nvSpPr>
          <p:cNvPr id="9" name="矩形 8">
            <a:extLst>
              <a:ext uri="{FF2B5EF4-FFF2-40B4-BE49-F238E27FC236}">
                <a16:creationId xmlns:a16="http://schemas.microsoft.com/office/drawing/2014/main" id="{65CEFF00-16D9-4816-994F-90A0BBA46FE0}"/>
              </a:ext>
            </a:extLst>
          </p:cNvPr>
          <p:cNvSpPr>
            <a:spLocks noGrp="1"/>
          </p:cNvSpPr>
          <p:nvPr/>
        </p:nvSpPr>
        <p:spPr>
          <a:xfrm>
            <a:off x="7334250" y="2266950"/>
            <a:ext cx="3429000" cy="9525"/>
          </a:xfrm>
          <a:prstGeom prst="rect">
            <a:avLst/>
          </a:prstGeom>
          <a:solidFill>
            <a:srgbClr val="B8BCC4"/>
          </a:solidFill>
          <a:ln w="0">
            <a:solidFill>
              <a:srgbClr val="B8BCC4"/>
            </a:solidFill>
            <a:prstDash val="solid"/>
          </a:ln>
        </p:spPr>
        <p:txBody>
          <a:bodyPr/>
          <a:lstStyle/>
          <a:p>
            <a:endParaRPr lang="zh-CN" altLang="en-US"/>
          </a:p>
        </p:txBody>
      </p:sp>
      <p:sp>
        <p:nvSpPr>
          <p:cNvPr id="10" name="矩形 9">
            <a:extLst>
              <a:ext uri="{FF2B5EF4-FFF2-40B4-BE49-F238E27FC236}">
                <a16:creationId xmlns:a16="http://schemas.microsoft.com/office/drawing/2014/main" id="{FBC23AB8-5BB7-496B-B308-7F0F4B972C97}"/>
              </a:ext>
            </a:extLst>
          </p:cNvPr>
          <p:cNvSpPr>
            <a:spLocks noGrp="1"/>
          </p:cNvSpPr>
          <p:nvPr/>
        </p:nvSpPr>
        <p:spPr>
          <a:xfrm>
            <a:off x="7334250" y="2533650"/>
            <a:ext cx="1571625" cy="228600"/>
          </a:xfrm>
          <a:prstGeom prst="rect">
            <a:avLst/>
          </a:prstGeom>
          <a:noFill/>
          <a:ln w="0">
            <a:noFill/>
            <a:prstDash val="solid"/>
          </a:ln>
        </p:spPr>
        <p:txBody>
          <a:bodyPr anchor="t"/>
          <a:lstStyle/>
          <a:p>
            <a:pPr algn="l">
              <a:defRPr sz="1500" b="1">
                <a:solidFill>
                  <a:srgbClr val="111111"/>
                </a:solidFill>
              </a:defRPr>
            </a:pPr>
            <a:r>
              <a:rPr sz="1500" b="1">
                <a:solidFill>
                  <a:srgbClr val="111111"/>
                </a:solidFill>
              </a:rPr>
              <a:t>Linkang Wen</a:t>
            </a:r>
          </a:p>
        </p:txBody>
      </p:sp>
      <p:sp>
        <p:nvSpPr>
          <p:cNvPr id="11" name="矩形 10">
            <a:extLst>
              <a:ext uri="{FF2B5EF4-FFF2-40B4-BE49-F238E27FC236}">
                <a16:creationId xmlns:a16="http://schemas.microsoft.com/office/drawing/2014/main" id="{D5D3F0D0-61EF-4384-A3CA-BBAD96040CB3}"/>
              </a:ext>
            </a:extLst>
          </p:cNvPr>
          <p:cNvSpPr>
            <a:spLocks noGrp="1"/>
          </p:cNvSpPr>
          <p:nvPr/>
        </p:nvSpPr>
        <p:spPr>
          <a:xfrm>
            <a:off x="9001125" y="2514600"/>
            <a:ext cx="1809750" cy="419100"/>
          </a:xfrm>
          <a:prstGeom prst="rect">
            <a:avLst/>
          </a:prstGeom>
          <a:noFill/>
          <a:ln w="0">
            <a:noFill/>
            <a:prstDash val="solid"/>
          </a:ln>
        </p:spPr>
        <p:txBody>
          <a:bodyPr anchor="t"/>
          <a:lstStyle/>
          <a:p>
            <a:pPr algn="l">
              <a:defRPr sz="1275" b="0">
                <a:solidFill>
                  <a:srgbClr val="5A5F68"/>
                </a:solidFill>
              </a:defRPr>
            </a:pPr>
            <a:r>
              <a:rPr sz="1275" b="0">
                <a:solidFill>
                  <a:srgbClr val="5A5F68"/>
                </a:solidFill>
              </a:rPr>
              <a:t>SID: 540276619</a:t>
            </a:r>
          </a:p>
          <a:p>
            <a:pPr algn="l">
              <a:defRPr sz="1275" b="0">
                <a:solidFill>
                  <a:srgbClr val="5A5F68"/>
                </a:solidFill>
              </a:defRPr>
            </a:pPr>
            <a:r>
              <a:rPr sz="1275" b="0">
                <a:solidFill>
                  <a:srgbClr val="5A5F68"/>
                </a:solidFill>
              </a:rPr>
              <a:t>Unikey: lwen0131</a:t>
            </a:r>
          </a:p>
        </p:txBody>
      </p:sp>
      <p:sp>
        <p:nvSpPr>
          <p:cNvPr id="12" name="矩形 11">
            <a:extLst>
              <a:ext uri="{FF2B5EF4-FFF2-40B4-BE49-F238E27FC236}">
                <a16:creationId xmlns:a16="http://schemas.microsoft.com/office/drawing/2014/main" id="{B4E8CB25-6D2C-4150-B450-E853A21BE050}"/>
              </a:ext>
            </a:extLst>
          </p:cNvPr>
          <p:cNvSpPr>
            <a:spLocks noGrp="1"/>
          </p:cNvSpPr>
          <p:nvPr/>
        </p:nvSpPr>
        <p:spPr>
          <a:xfrm>
            <a:off x="7334250" y="3086100"/>
            <a:ext cx="3429000" cy="9525"/>
          </a:xfrm>
          <a:prstGeom prst="rect">
            <a:avLst/>
          </a:prstGeom>
          <a:solidFill>
            <a:srgbClr val="B8BCC4"/>
          </a:solidFill>
          <a:ln w="0">
            <a:solidFill>
              <a:srgbClr val="B8BCC4"/>
            </a:solidFill>
            <a:prstDash val="solid"/>
          </a:ln>
        </p:spPr>
        <p:txBody>
          <a:bodyPr/>
          <a:lstStyle/>
          <a:p>
            <a:endParaRPr lang="zh-CN" altLang="en-US"/>
          </a:p>
        </p:txBody>
      </p:sp>
      <p:sp>
        <p:nvSpPr>
          <p:cNvPr id="13" name="矩形 12">
            <a:extLst>
              <a:ext uri="{FF2B5EF4-FFF2-40B4-BE49-F238E27FC236}">
                <a16:creationId xmlns:a16="http://schemas.microsoft.com/office/drawing/2014/main" id="{5A4BE029-A728-452C-9791-3AB4912A26E0}"/>
              </a:ext>
            </a:extLst>
          </p:cNvPr>
          <p:cNvSpPr>
            <a:spLocks noGrp="1"/>
          </p:cNvSpPr>
          <p:nvPr/>
        </p:nvSpPr>
        <p:spPr>
          <a:xfrm>
            <a:off x="7334250" y="3352800"/>
            <a:ext cx="1571625" cy="228600"/>
          </a:xfrm>
          <a:prstGeom prst="rect">
            <a:avLst/>
          </a:prstGeom>
          <a:noFill/>
          <a:ln w="0">
            <a:noFill/>
            <a:prstDash val="solid"/>
          </a:ln>
        </p:spPr>
        <p:txBody>
          <a:bodyPr anchor="t"/>
          <a:lstStyle/>
          <a:p>
            <a:pPr algn="l">
              <a:defRPr sz="1500" b="1">
                <a:solidFill>
                  <a:srgbClr val="111111"/>
                </a:solidFill>
              </a:defRPr>
            </a:pPr>
            <a:r>
              <a:rPr sz="1500" b="1">
                <a:solidFill>
                  <a:srgbClr val="111111"/>
                </a:solidFill>
              </a:rPr>
              <a:t>Yuqi Wu</a:t>
            </a:r>
          </a:p>
        </p:txBody>
      </p:sp>
      <p:sp>
        <p:nvSpPr>
          <p:cNvPr id="14" name="矩形 13">
            <a:extLst>
              <a:ext uri="{FF2B5EF4-FFF2-40B4-BE49-F238E27FC236}">
                <a16:creationId xmlns:a16="http://schemas.microsoft.com/office/drawing/2014/main" id="{A6FAAE14-1821-4FFD-96F7-66F3C52E6049}"/>
              </a:ext>
            </a:extLst>
          </p:cNvPr>
          <p:cNvSpPr>
            <a:spLocks noGrp="1"/>
          </p:cNvSpPr>
          <p:nvPr/>
        </p:nvSpPr>
        <p:spPr>
          <a:xfrm>
            <a:off x="9001125" y="3333750"/>
            <a:ext cx="1809750" cy="419100"/>
          </a:xfrm>
          <a:prstGeom prst="rect">
            <a:avLst/>
          </a:prstGeom>
          <a:noFill/>
          <a:ln w="0">
            <a:noFill/>
            <a:prstDash val="solid"/>
          </a:ln>
        </p:spPr>
        <p:txBody>
          <a:bodyPr anchor="t"/>
          <a:lstStyle/>
          <a:p>
            <a:pPr algn="l">
              <a:defRPr sz="1275" b="0">
                <a:solidFill>
                  <a:srgbClr val="5A5F68"/>
                </a:solidFill>
              </a:defRPr>
            </a:pPr>
            <a:r>
              <a:rPr sz="1275" b="0">
                <a:solidFill>
                  <a:srgbClr val="5A5F68"/>
                </a:solidFill>
              </a:rPr>
              <a:t>SID: 540035669</a:t>
            </a:r>
          </a:p>
          <a:p>
            <a:pPr algn="l">
              <a:defRPr sz="1275" b="0">
                <a:solidFill>
                  <a:srgbClr val="5A5F68"/>
                </a:solidFill>
              </a:defRPr>
            </a:pPr>
            <a:r>
              <a:rPr sz="1275" b="0">
                <a:solidFill>
                  <a:srgbClr val="5A5F68"/>
                </a:solidFill>
              </a:rPr>
              <a:t>Unikey: yuwu0501</a:t>
            </a:r>
          </a:p>
        </p:txBody>
      </p:sp>
      <p:sp>
        <p:nvSpPr>
          <p:cNvPr id="15" name="矩形 14">
            <a:extLst>
              <a:ext uri="{FF2B5EF4-FFF2-40B4-BE49-F238E27FC236}">
                <a16:creationId xmlns:a16="http://schemas.microsoft.com/office/drawing/2014/main" id="{D1B82462-57AB-4DD3-BD59-4DDDECE3E542}"/>
              </a:ext>
            </a:extLst>
          </p:cNvPr>
          <p:cNvSpPr>
            <a:spLocks noGrp="1"/>
          </p:cNvSpPr>
          <p:nvPr/>
        </p:nvSpPr>
        <p:spPr>
          <a:xfrm>
            <a:off x="7334250" y="3905250"/>
            <a:ext cx="3429000" cy="9525"/>
          </a:xfrm>
          <a:prstGeom prst="rect">
            <a:avLst/>
          </a:prstGeom>
          <a:solidFill>
            <a:srgbClr val="B8BCC4"/>
          </a:solidFill>
          <a:ln w="0">
            <a:solidFill>
              <a:srgbClr val="B8BCC4"/>
            </a:solidFill>
            <a:prstDash val="solid"/>
          </a:ln>
        </p:spPr>
        <p:txBody>
          <a:bodyPr/>
          <a:lstStyle/>
          <a:p>
            <a:endParaRPr lang="zh-CN" altLang="en-US"/>
          </a:p>
        </p:txBody>
      </p:sp>
      <p:sp>
        <p:nvSpPr>
          <p:cNvPr id="16" name="矩形 15">
            <a:extLst>
              <a:ext uri="{FF2B5EF4-FFF2-40B4-BE49-F238E27FC236}">
                <a16:creationId xmlns:a16="http://schemas.microsoft.com/office/drawing/2014/main" id="{30CB337C-C4E4-4F4A-98BC-84E2734E1F1A}"/>
              </a:ext>
            </a:extLst>
          </p:cNvPr>
          <p:cNvSpPr>
            <a:spLocks noGrp="1"/>
          </p:cNvSpPr>
          <p:nvPr/>
        </p:nvSpPr>
        <p:spPr>
          <a:xfrm>
            <a:off x="7334250" y="4171950"/>
            <a:ext cx="1571625" cy="228600"/>
          </a:xfrm>
          <a:prstGeom prst="rect">
            <a:avLst/>
          </a:prstGeom>
          <a:noFill/>
          <a:ln w="0">
            <a:noFill/>
            <a:prstDash val="solid"/>
          </a:ln>
        </p:spPr>
        <p:txBody>
          <a:bodyPr anchor="t"/>
          <a:lstStyle/>
          <a:p>
            <a:pPr algn="l">
              <a:defRPr sz="1500" b="1">
                <a:solidFill>
                  <a:srgbClr val="111111"/>
                </a:solidFill>
              </a:defRPr>
            </a:pPr>
            <a:r>
              <a:rPr sz="1500" b="1">
                <a:solidFill>
                  <a:srgbClr val="111111"/>
                </a:solidFill>
              </a:rPr>
              <a:t>Haoxiong Pan</a:t>
            </a:r>
          </a:p>
        </p:txBody>
      </p:sp>
      <p:sp>
        <p:nvSpPr>
          <p:cNvPr id="17" name="矩形 16">
            <a:extLst>
              <a:ext uri="{FF2B5EF4-FFF2-40B4-BE49-F238E27FC236}">
                <a16:creationId xmlns:a16="http://schemas.microsoft.com/office/drawing/2014/main" id="{A5F41C24-9A99-4C95-B1C7-B02999356A55}"/>
              </a:ext>
            </a:extLst>
          </p:cNvPr>
          <p:cNvSpPr>
            <a:spLocks noGrp="1"/>
          </p:cNvSpPr>
          <p:nvPr/>
        </p:nvSpPr>
        <p:spPr>
          <a:xfrm>
            <a:off x="9001125" y="4152900"/>
            <a:ext cx="1809750" cy="419100"/>
          </a:xfrm>
          <a:prstGeom prst="rect">
            <a:avLst/>
          </a:prstGeom>
          <a:noFill/>
          <a:ln w="0">
            <a:noFill/>
            <a:prstDash val="solid"/>
          </a:ln>
        </p:spPr>
        <p:txBody>
          <a:bodyPr anchor="t"/>
          <a:lstStyle/>
          <a:p>
            <a:pPr algn="l">
              <a:defRPr sz="1275" b="0">
                <a:solidFill>
                  <a:srgbClr val="5A5F68"/>
                </a:solidFill>
              </a:defRPr>
            </a:pPr>
            <a:r>
              <a:rPr sz="1275" b="0">
                <a:solidFill>
                  <a:srgbClr val="5A5F68"/>
                </a:solidFill>
              </a:rPr>
              <a:t>SID: 530425128</a:t>
            </a:r>
          </a:p>
          <a:p>
            <a:pPr algn="l">
              <a:defRPr sz="1275" b="0">
                <a:solidFill>
                  <a:srgbClr val="5A5F68"/>
                </a:solidFill>
              </a:defRPr>
            </a:pPr>
            <a:r>
              <a:rPr sz="1275" b="0">
                <a:solidFill>
                  <a:srgbClr val="5A5F68"/>
                </a:solidFill>
              </a:rPr>
              <a:t>Unikey: hpan0285</a:t>
            </a:r>
          </a:p>
        </p:txBody>
      </p:sp>
      <p:sp>
        <p:nvSpPr>
          <p:cNvPr id="18" name="矩形 17">
            <a:extLst>
              <a:ext uri="{FF2B5EF4-FFF2-40B4-BE49-F238E27FC236}">
                <a16:creationId xmlns:a16="http://schemas.microsoft.com/office/drawing/2014/main" id="{740ECA0A-E3D4-4C6C-890A-4F93A0CEF174}"/>
              </a:ext>
            </a:extLst>
          </p:cNvPr>
          <p:cNvSpPr>
            <a:spLocks noGrp="1"/>
          </p:cNvSpPr>
          <p:nvPr/>
        </p:nvSpPr>
        <p:spPr>
          <a:xfrm>
            <a:off x="533400" y="3352800"/>
            <a:ext cx="2381250" cy="38100"/>
          </a:xfrm>
          <a:prstGeom prst="rect">
            <a:avLst/>
          </a:prstGeom>
          <a:solidFill>
            <a:srgbClr val="3D8DFF"/>
          </a:solidFill>
          <a:ln w="0">
            <a:solidFill>
              <a:srgbClr val="3D8DFF"/>
            </a:solidFill>
            <a:prstDash val="solid"/>
          </a:ln>
        </p:spPr>
        <p:txBody>
          <a:bodyPr/>
          <a:lstStyle/>
          <a:p>
            <a:endParaRPr lang="zh-CN" altLang="en-US"/>
          </a:p>
        </p:txBody>
      </p:sp>
      <p:sp>
        <p:nvSpPr>
          <p:cNvPr id="19" name="矩形 18">
            <a:extLst>
              <a:ext uri="{FF2B5EF4-FFF2-40B4-BE49-F238E27FC236}">
                <a16:creationId xmlns:a16="http://schemas.microsoft.com/office/drawing/2014/main" id="{04A823E0-0A5F-4EB7-9CA9-CD471A3D7F89}"/>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1</a:t>
            </a:r>
          </a:p>
        </p:txBody>
      </p:sp>
    </p:spTree>
    <p:extLst>
      <p:ext uri="{BB962C8B-B14F-4D97-AF65-F5344CB8AC3E}">
        <p14:creationId xmlns:p14="http://schemas.microsoft.com/office/powerpoint/2010/main" val="343106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8BBAD5E1-A6C0-4E15-9225-903572F817B4}"/>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48887F94-D25B-4B5C-A091-FCDCAB9CBE7F}"/>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The problem is longitudinal review, not segmentation</a:t>
            </a:r>
          </a:p>
        </p:txBody>
      </p:sp>
      <p:sp>
        <p:nvSpPr>
          <p:cNvPr id="3" name="矩形 2">
            <a:extLst>
              <a:ext uri="{FF2B5EF4-FFF2-40B4-BE49-F238E27FC236}">
                <a16:creationId xmlns:a16="http://schemas.microsoft.com/office/drawing/2014/main" id="{A44CA0D3-C28F-4FAE-9F94-E1F70C65F0F7}"/>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41EA55C4-6A95-4E7D-A694-28A188717DDC}"/>
              </a:ext>
            </a:extLst>
          </p:cNvPr>
          <p:cNvSpPr>
            <a:spLocks noGrp="1"/>
          </p:cNvSpPr>
          <p:nvPr/>
        </p:nvSpPr>
        <p:spPr>
          <a:xfrm>
            <a:off x="666750" y="1809750"/>
            <a:ext cx="4857750" cy="1428750"/>
          </a:xfrm>
          <a:prstGeom prst="rect">
            <a:avLst/>
          </a:prstGeom>
          <a:noFill/>
          <a:ln w="0">
            <a:noFill/>
            <a:prstDash val="solid"/>
          </a:ln>
        </p:spPr>
        <p:txBody>
          <a:bodyPr anchor="t"/>
          <a:lstStyle/>
          <a:p>
            <a:pPr algn="l">
              <a:defRPr sz="1800" b="0">
                <a:solidFill>
                  <a:srgbClr val="111111"/>
                </a:solidFill>
              </a:defRPr>
            </a:pPr>
            <a:r>
              <a:rPr sz="1800" b="0">
                <a:solidFill>
                  <a:srgbClr val="111111"/>
                </a:solidFill>
              </a:rPr>
              <a:t>PSMA PET/CT can show PSMA-positive lesions related to prostate cancer across the body. When a patient has multiple scans, researchers need a clear way to compare lesion burden and activity over time.</a:t>
            </a:r>
          </a:p>
        </p:txBody>
      </p:sp>
      <p:sp>
        <p:nvSpPr>
          <p:cNvPr id="5" name="矩形 4">
            <a:extLst>
              <a:ext uri="{FF2B5EF4-FFF2-40B4-BE49-F238E27FC236}">
                <a16:creationId xmlns:a16="http://schemas.microsoft.com/office/drawing/2014/main" id="{7662DF07-4C6B-4866-84D1-DE99BD2DF658}"/>
              </a:ext>
            </a:extLst>
          </p:cNvPr>
          <p:cNvSpPr>
            <a:spLocks noGrp="1"/>
          </p:cNvSpPr>
          <p:nvPr/>
        </p:nvSpPr>
        <p:spPr>
          <a:xfrm>
            <a:off x="666750" y="3524250"/>
            <a:ext cx="4857750" cy="1000125"/>
          </a:xfrm>
          <a:prstGeom prst="rect">
            <a:avLst/>
          </a:prstGeom>
          <a:noFill/>
          <a:ln w="0">
            <a:noFill/>
            <a:prstDash val="solid"/>
          </a:ln>
        </p:spPr>
        <p:txBody>
          <a:bodyPr anchor="t"/>
          <a:lstStyle/>
          <a:p>
            <a:pPr algn="l">
              <a:defRPr sz="1800" b="0">
                <a:solidFill>
                  <a:srgbClr val="5A5F68"/>
                </a:solidFill>
              </a:defRPr>
            </a:pPr>
            <a:r>
              <a:rPr sz="1800" b="0">
                <a:solidFill>
                  <a:srgbClr val="5A5F68"/>
                </a:solidFill>
              </a:rPr>
              <a:t>Manual review becomes harder when lesions are numerous, appear in different regions, or change in different directions.</a:t>
            </a:r>
          </a:p>
        </p:txBody>
      </p:sp>
      <p:sp>
        <p:nvSpPr>
          <p:cNvPr id="6" name="矩形 5">
            <a:extLst>
              <a:ext uri="{FF2B5EF4-FFF2-40B4-BE49-F238E27FC236}">
                <a16:creationId xmlns:a16="http://schemas.microsoft.com/office/drawing/2014/main" id="{6CAC63DF-8D97-462B-8CAF-CAC01E45714F}"/>
              </a:ext>
            </a:extLst>
          </p:cNvPr>
          <p:cNvSpPr>
            <a:spLocks noGrp="1"/>
          </p:cNvSpPr>
          <p:nvPr/>
        </p:nvSpPr>
        <p:spPr>
          <a:xfrm>
            <a:off x="6477000" y="1809750"/>
            <a:ext cx="4476750" cy="914400"/>
          </a:xfrm>
          <a:prstGeom prst="rect">
            <a:avLst/>
          </a:prstGeom>
          <a:solidFill>
            <a:srgbClr val="F0F2F5"/>
          </a:solidFill>
          <a:ln w="9525">
            <a:solidFill>
              <a:srgbClr val="B8BCC4"/>
            </a:solidFill>
            <a:prstDash val="solid"/>
          </a:ln>
        </p:spPr>
        <p:txBody>
          <a:bodyPr/>
          <a:lstStyle/>
          <a:p>
            <a:endParaRPr lang="zh-CN" altLang="en-US"/>
          </a:p>
        </p:txBody>
      </p:sp>
      <p:sp>
        <p:nvSpPr>
          <p:cNvPr id="7" name="矩形 6">
            <a:extLst>
              <a:ext uri="{FF2B5EF4-FFF2-40B4-BE49-F238E27FC236}">
                <a16:creationId xmlns:a16="http://schemas.microsoft.com/office/drawing/2014/main" id="{767C06E2-2AE2-4C37-83B8-E5703C3A42F1}"/>
              </a:ext>
            </a:extLst>
          </p:cNvPr>
          <p:cNvSpPr>
            <a:spLocks noGrp="1"/>
          </p:cNvSpPr>
          <p:nvPr/>
        </p:nvSpPr>
        <p:spPr>
          <a:xfrm>
            <a:off x="6762750" y="1981200"/>
            <a:ext cx="1238250" cy="28575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Users</a:t>
            </a:r>
          </a:p>
        </p:txBody>
      </p:sp>
      <p:sp>
        <p:nvSpPr>
          <p:cNvPr id="8" name="矩形 7">
            <a:extLst>
              <a:ext uri="{FF2B5EF4-FFF2-40B4-BE49-F238E27FC236}">
                <a16:creationId xmlns:a16="http://schemas.microsoft.com/office/drawing/2014/main" id="{FFD5A5C6-00DE-43F0-8860-A2BC898EACEC}"/>
              </a:ext>
            </a:extLst>
          </p:cNvPr>
          <p:cNvSpPr>
            <a:spLocks noGrp="1"/>
          </p:cNvSpPr>
          <p:nvPr/>
        </p:nvSpPr>
        <p:spPr>
          <a:xfrm>
            <a:off x="8096250" y="1971675"/>
            <a:ext cx="2476500" cy="552450"/>
          </a:xfrm>
          <a:prstGeom prst="rect">
            <a:avLst/>
          </a:prstGeom>
          <a:noFill/>
          <a:ln w="0">
            <a:noFill/>
            <a:prstDash val="solid"/>
          </a:ln>
        </p:spPr>
        <p:txBody>
          <a:bodyPr anchor="t"/>
          <a:lstStyle/>
          <a:p>
            <a:pPr algn="l">
              <a:defRPr sz="1425" b="0">
                <a:solidFill>
                  <a:srgbClr val="5A5F68"/>
                </a:solidFill>
              </a:defRPr>
            </a:pPr>
            <a:r>
              <a:rPr sz="1425" b="0">
                <a:solidFill>
                  <a:srgbClr val="5A5F68"/>
                </a:solidFill>
              </a:rPr>
              <a:t>Researchers and supervisors reviewing longitudinal imaging results.</a:t>
            </a:r>
          </a:p>
        </p:txBody>
      </p:sp>
      <p:sp>
        <p:nvSpPr>
          <p:cNvPr id="9" name="矩形 8">
            <a:extLst>
              <a:ext uri="{FF2B5EF4-FFF2-40B4-BE49-F238E27FC236}">
                <a16:creationId xmlns:a16="http://schemas.microsoft.com/office/drawing/2014/main" id="{903800CD-9FA3-4B17-B85A-3D27BE45F700}"/>
              </a:ext>
            </a:extLst>
          </p:cNvPr>
          <p:cNvSpPr>
            <a:spLocks noGrp="1"/>
          </p:cNvSpPr>
          <p:nvPr/>
        </p:nvSpPr>
        <p:spPr>
          <a:xfrm>
            <a:off x="6477000" y="3095625"/>
            <a:ext cx="4476750" cy="914400"/>
          </a:xfrm>
          <a:prstGeom prst="rect">
            <a:avLst/>
          </a:prstGeom>
          <a:solidFill>
            <a:srgbClr val="F0F2F5"/>
          </a:solidFill>
          <a:ln w="9525">
            <a:solidFill>
              <a:srgbClr val="B8BCC4"/>
            </a:solidFill>
            <a:prstDash val="solid"/>
          </a:ln>
        </p:spPr>
        <p:txBody>
          <a:bodyPr/>
          <a:lstStyle/>
          <a:p>
            <a:endParaRPr lang="zh-CN" altLang="en-US"/>
          </a:p>
        </p:txBody>
      </p:sp>
      <p:sp>
        <p:nvSpPr>
          <p:cNvPr id="10" name="矩形 9">
            <a:extLst>
              <a:ext uri="{FF2B5EF4-FFF2-40B4-BE49-F238E27FC236}">
                <a16:creationId xmlns:a16="http://schemas.microsoft.com/office/drawing/2014/main" id="{D4934960-B7F7-4ED9-8468-8451808A7D2A}"/>
              </a:ext>
            </a:extLst>
          </p:cNvPr>
          <p:cNvSpPr>
            <a:spLocks noGrp="1"/>
          </p:cNvSpPr>
          <p:nvPr/>
        </p:nvSpPr>
        <p:spPr>
          <a:xfrm>
            <a:off x="6762750" y="3267075"/>
            <a:ext cx="1238250" cy="28575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Need</a:t>
            </a:r>
          </a:p>
        </p:txBody>
      </p:sp>
      <p:sp>
        <p:nvSpPr>
          <p:cNvPr id="11" name="矩形 10">
            <a:extLst>
              <a:ext uri="{FF2B5EF4-FFF2-40B4-BE49-F238E27FC236}">
                <a16:creationId xmlns:a16="http://schemas.microsoft.com/office/drawing/2014/main" id="{3E165971-7A0F-4E24-822D-8D4C31A510E7}"/>
              </a:ext>
            </a:extLst>
          </p:cNvPr>
          <p:cNvSpPr>
            <a:spLocks noGrp="1"/>
          </p:cNvSpPr>
          <p:nvPr/>
        </p:nvSpPr>
        <p:spPr>
          <a:xfrm>
            <a:off x="8096250" y="3257550"/>
            <a:ext cx="2476500" cy="552450"/>
          </a:xfrm>
          <a:prstGeom prst="rect">
            <a:avLst/>
          </a:prstGeom>
          <a:noFill/>
          <a:ln w="0">
            <a:noFill/>
            <a:prstDash val="solid"/>
          </a:ln>
        </p:spPr>
        <p:txBody>
          <a:bodyPr anchor="t"/>
          <a:lstStyle/>
          <a:p>
            <a:pPr algn="l">
              <a:defRPr sz="1425" b="0">
                <a:solidFill>
                  <a:srgbClr val="5A5F68"/>
                </a:solidFill>
              </a:defRPr>
            </a:pPr>
            <a:r>
              <a:rPr sz="1425" b="0">
                <a:solidFill>
                  <a:srgbClr val="5A5F68"/>
                </a:solidFill>
              </a:rPr>
              <a:t>A reproducible way to measure, validate, match, and summarise lesions.</a:t>
            </a:r>
          </a:p>
        </p:txBody>
      </p:sp>
      <p:sp>
        <p:nvSpPr>
          <p:cNvPr id="12" name="矩形 11">
            <a:extLst>
              <a:ext uri="{FF2B5EF4-FFF2-40B4-BE49-F238E27FC236}">
                <a16:creationId xmlns:a16="http://schemas.microsoft.com/office/drawing/2014/main" id="{8CFA53D0-8437-4EBF-8B61-84DA7A2A4888}"/>
              </a:ext>
            </a:extLst>
          </p:cNvPr>
          <p:cNvSpPr>
            <a:spLocks noGrp="1"/>
          </p:cNvSpPr>
          <p:nvPr/>
        </p:nvSpPr>
        <p:spPr>
          <a:xfrm>
            <a:off x="6477000" y="4381500"/>
            <a:ext cx="4476750" cy="914400"/>
          </a:xfrm>
          <a:prstGeom prst="rect">
            <a:avLst/>
          </a:prstGeom>
          <a:solidFill>
            <a:srgbClr val="DDEEFF"/>
          </a:solidFill>
          <a:ln w="9525">
            <a:solidFill>
              <a:srgbClr val="B8BCC4"/>
            </a:solidFill>
            <a:prstDash val="solid"/>
          </a:ln>
        </p:spPr>
        <p:txBody>
          <a:bodyPr/>
          <a:lstStyle/>
          <a:p>
            <a:endParaRPr lang="zh-CN" altLang="en-US"/>
          </a:p>
        </p:txBody>
      </p:sp>
      <p:sp>
        <p:nvSpPr>
          <p:cNvPr id="13" name="矩形 12">
            <a:extLst>
              <a:ext uri="{FF2B5EF4-FFF2-40B4-BE49-F238E27FC236}">
                <a16:creationId xmlns:a16="http://schemas.microsoft.com/office/drawing/2014/main" id="{AF24D4A7-9939-4BB5-A42D-F69BD9882EA4}"/>
              </a:ext>
            </a:extLst>
          </p:cNvPr>
          <p:cNvSpPr>
            <a:spLocks noGrp="1"/>
          </p:cNvSpPr>
          <p:nvPr/>
        </p:nvSpPr>
        <p:spPr>
          <a:xfrm>
            <a:off x="6762750" y="4552950"/>
            <a:ext cx="1238250" cy="28575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Guardrail</a:t>
            </a:r>
          </a:p>
        </p:txBody>
      </p:sp>
      <p:sp>
        <p:nvSpPr>
          <p:cNvPr id="14" name="矩形 13">
            <a:extLst>
              <a:ext uri="{FF2B5EF4-FFF2-40B4-BE49-F238E27FC236}">
                <a16:creationId xmlns:a16="http://schemas.microsoft.com/office/drawing/2014/main" id="{E0A1BAEF-A1DD-42C5-A473-86AD4028CD31}"/>
              </a:ext>
            </a:extLst>
          </p:cNvPr>
          <p:cNvSpPr>
            <a:spLocks noGrp="1"/>
          </p:cNvSpPr>
          <p:nvPr/>
        </p:nvSpPr>
        <p:spPr>
          <a:xfrm>
            <a:off x="8096250" y="4543425"/>
            <a:ext cx="2476500" cy="552450"/>
          </a:xfrm>
          <a:prstGeom prst="rect">
            <a:avLst/>
          </a:prstGeom>
          <a:noFill/>
          <a:ln w="0">
            <a:noFill/>
            <a:prstDash val="solid"/>
          </a:ln>
        </p:spPr>
        <p:txBody>
          <a:bodyPr anchor="t"/>
          <a:lstStyle/>
          <a:p>
            <a:pPr algn="l">
              <a:defRPr sz="1425" b="0">
                <a:solidFill>
                  <a:srgbClr val="5A5F68"/>
                </a:solidFill>
              </a:defRPr>
            </a:pPr>
            <a:r>
              <a:rPr sz="1425" b="0">
                <a:solidFill>
                  <a:srgbClr val="5A5F68"/>
                </a:solidFill>
              </a:rPr>
              <a:t>Research review only. No clinical diagnosis or treatment advice.</a:t>
            </a:r>
          </a:p>
        </p:txBody>
      </p:sp>
      <p:sp>
        <p:nvSpPr>
          <p:cNvPr id="15" name="矩形 14">
            <a:extLst>
              <a:ext uri="{FF2B5EF4-FFF2-40B4-BE49-F238E27FC236}">
                <a16:creationId xmlns:a16="http://schemas.microsoft.com/office/drawing/2014/main" id="{AF15E469-08B4-40AD-8002-42037CC64513}"/>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2</a:t>
            </a:r>
          </a:p>
        </p:txBody>
      </p:sp>
    </p:spTree>
    <p:extLst>
      <p:ext uri="{BB962C8B-B14F-4D97-AF65-F5344CB8AC3E}">
        <p14:creationId xmlns:p14="http://schemas.microsoft.com/office/powerpoint/2010/main" val="589418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97A5225D-EE36-479D-8A3A-FB4AA492E038}"/>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C78A632B-915B-427F-98C2-50BECC8644DA}"/>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The aim is a reproducible research review tool</a:t>
            </a:r>
          </a:p>
        </p:txBody>
      </p:sp>
      <p:sp>
        <p:nvSpPr>
          <p:cNvPr id="3" name="矩形 2">
            <a:extLst>
              <a:ext uri="{FF2B5EF4-FFF2-40B4-BE49-F238E27FC236}">
                <a16:creationId xmlns:a16="http://schemas.microsoft.com/office/drawing/2014/main" id="{C4C0A90E-C453-4165-9A03-F20E6288E881}"/>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6C394982-CE88-4F7E-B87D-F8B4C5289B1D}"/>
              </a:ext>
            </a:extLst>
          </p:cNvPr>
          <p:cNvSpPr>
            <a:spLocks noGrp="1"/>
          </p:cNvSpPr>
          <p:nvPr/>
        </p:nvSpPr>
        <p:spPr>
          <a:xfrm>
            <a:off x="666750" y="1809750"/>
            <a:ext cx="4095750" cy="3143250"/>
          </a:xfrm>
          <a:prstGeom prst="rect">
            <a:avLst/>
          </a:prstGeom>
          <a:solidFill>
            <a:srgbClr val="111111"/>
          </a:solidFill>
          <a:ln w="9525">
            <a:solidFill>
              <a:srgbClr val="111111"/>
            </a:solidFill>
            <a:prstDash val="solid"/>
          </a:ln>
        </p:spPr>
        <p:txBody>
          <a:bodyPr/>
          <a:lstStyle/>
          <a:p>
            <a:endParaRPr lang="zh-CN" altLang="en-US"/>
          </a:p>
        </p:txBody>
      </p:sp>
      <p:sp>
        <p:nvSpPr>
          <p:cNvPr id="5" name="矩形 4">
            <a:extLst>
              <a:ext uri="{FF2B5EF4-FFF2-40B4-BE49-F238E27FC236}">
                <a16:creationId xmlns:a16="http://schemas.microsoft.com/office/drawing/2014/main" id="{DFED914A-D73B-409C-85F5-EF264AF0117D}"/>
              </a:ext>
            </a:extLst>
          </p:cNvPr>
          <p:cNvSpPr>
            <a:spLocks noGrp="1"/>
          </p:cNvSpPr>
          <p:nvPr/>
        </p:nvSpPr>
        <p:spPr>
          <a:xfrm>
            <a:off x="1000125" y="2095500"/>
            <a:ext cx="1905000" cy="400050"/>
          </a:xfrm>
          <a:prstGeom prst="rect">
            <a:avLst/>
          </a:prstGeom>
          <a:noFill/>
          <a:ln w="0">
            <a:noFill/>
            <a:prstDash val="solid"/>
          </a:ln>
        </p:spPr>
        <p:txBody>
          <a:bodyPr anchor="t"/>
          <a:lstStyle/>
          <a:p>
            <a:pPr algn="l">
              <a:defRPr sz="2250" b="1">
                <a:solidFill>
                  <a:srgbClr val="FFFFFF"/>
                </a:solidFill>
              </a:defRPr>
            </a:pPr>
            <a:r>
              <a:rPr sz="2250" b="1">
                <a:solidFill>
                  <a:srgbClr val="FFFFFF"/>
                </a:solidFill>
              </a:rPr>
              <a:t>Aim</a:t>
            </a:r>
          </a:p>
        </p:txBody>
      </p:sp>
      <p:sp>
        <p:nvSpPr>
          <p:cNvPr id="6" name="矩形 5">
            <a:extLst>
              <a:ext uri="{FF2B5EF4-FFF2-40B4-BE49-F238E27FC236}">
                <a16:creationId xmlns:a16="http://schemas.microsoft.com/office/drawing/2014/main" id="{218546D4-8B72-4150-A865-31739B4272AF}"/>
              </a:ext>
            </a:extLst>
          </p:cNvPr>
          <p:cNvSpPr>
            <a:spLocks noGrp="1"/>
          </p:cNvSpPr>
          <p:nvPr/>
        </p:nvSpPr>
        <p:spPr>
          <a:xfrm>
            <a:off x="1000125" y="2714625"/>
            <a:ext cx="3333750" cy="1619250"/>
          </a:xfrm>
          <a:prstGeom prst="rect">
            <a:avLst/>
          </a:prstGeom>
          <a:noFill/>
          <a:ln w="0">
            <a:noFill/>
            <a:prstDash val="solid"/>
          </a:ln>
        </p:spPr>
        <p:txBody>
          <a:bodyPr anchor="t"/>
          <a:lstStyle/>
          <a:p>
            <a:pPr algn="l">
              <a:defRPr sz="2025" b="0">
                <a:solidFill>
                  <a:srgbClr val="FFFFFF"/>
                </a:solidFill>
              </a:defRPr>
            </a:pPr>
            <a:r>
              <a:rPr sz="2025" b="0">
                <a:solidFill>
                  <a:srgbClr val="FFFFFF"/>
                </a:solidFill>
              </a:rPr>
              <a:t>Build a Python pipeline and Streamlit dashboard to measure and review lesion changes between baseline and follow-up PET/CT scans.</a:t>
            </a:r>
          </a:p>
        </p:txBody>
      </p:sp>
      <p:sp>
        <p:nvSpPr>
          <p:cNvPr id="7" name="矩形 6">
            <a:extLst>
              <a:ext uri="{FF2B5EF4-FFF2-40B4-BE49-F238E27FC236}">
                <a16:creationId xmlns:a16="http://schemas.microsoft.com/office/drawing/2014/main" id="{2C6A7BB9-48C9-4DBB-8E68-13A573B54B60}"/>
              </a:ext>
            </a:extLst>
          </p:cNvPr>
          <p:cNvSpPr>
            <a:spLocks noGrp="1"/>
          </p:cNvSpPr>
          <p:nvPr/>
        </p:nvSpPr>
        <p:spPr>
          <a:xfrm>
            <a:off x="5524500" y="1809750"/>
            <a:ext cx="4762500" cy="30480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SMART objectives</a:t>
            </a:r>
          </a:p>
        </p:txBody>
      </p:sp>
      <p:sp>
        <p:nvSpPr>
          <p:cNvPr id="8" name="矩形 7">
            <a:extLst>
              <a:ext uri="{FF2B5EF4-FFF2-40B4-BE49-F238E27FC236}">
                <a16:creationId xmlns:a16="http://schemas.microsoft.com/office/drawing/2014/main" id="{BE205437-5F6D-4A04-9289-DA53C5DE4BFC}"/>
              </a:ext>
            </a:extLst>
          </p:cNvPr>
          <p:cNvSpPr>
            <a:spLocks noGrp="1"/>
          </p:cNvSpPr>
          <p:nvPr/>
        </p:nvSpPr>
        <p:spPr>
          <a:xfrm>
            <a:off x="5619750" y="2286000"/>
            <a:ext cx="5334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Identify patients with two or more scans.</a:t>
            </a:r>
          </a:p>
        </p:txBody>
      </p:sp>
      <p:sp>
        <p:nvSpPr>
          <p:cNvPr id="9" name="矩形 8">
            <a:extLst>
              <a:ext uri="{FF2B5EF4-FFF2-40B4-BE49-F238E27FC236}">
                <a16:creationId xmlns:a16="http://schemas.microsoft.com/office/drawing/2014/main" id="{19DB171C-A0B3-4344-ACC0-33E66D90241F}"/>
              </a:ext>
            </a:extLst>
          </p:cNvPr>
          <p:cNvSpPr>
            <a:spLocks noGrp="1"/>
          </p:cNvSpPr>
          <p:nvPr/>
        </p:nvSpPr>
        <p:spPr>
          <a:xfrm>
            <a:off x="5619750" y="2876550"/>
            <a:ext cx="5334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Extract volume, SUVmax, SUVmean, centroid, and region.</a:t>
            </a:r>
          </a:p>
        </p:txBody>
      </p:sp>
      <p:sp>
        <p:nvSpPr>
          <p:cNvPr id="10" name="矩形 9">
            <a:extLst>
              <a:ext uri="{FF2B5EF4-FFF2-40B4-BE49-F238E27FC236}">
                <a16:creationId xmlns:a16="http://schemas.microsoft.com/office/drawing/2014/main" id="{64814426-E167-4BF6-B38A-9431E8A5D423}"/>
              </a:ext>
            </a:extLst>
          </p:cNvPr>
          <p:cNvSpPr>
            <a:spLocks noGrp="1"/>
          </p:cNvSpPr>
          <p:nvPr/>
        </p:nvSpPr>
        <p:spPr>
          <a:xfrm>
            <a:off x="5619750" y="3467100"/>
            <a:ext cx="5334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Match likely corresponding lesions across scans.</a:t>
            </a:r>
          </a:p>
        </p:txBody>
      </p:sp>
      <p:sp>
        <p:nvSpPr>
          <p:cNvPr id="11" name="矩形 10">
            <a:extLst>
              <a:ext uri="{FF2B5EF4-FFF2-40B4-BE49-F238E27FC236}">
                <a16:creationId xmlns:a16="http://schemas.microsoft.com/office/drawing/2014/main" id="{90D6FBA8-7FE0-4377-ACEE-4D250FC63CEF}"/>
              </a:ext>
            </a:extLst>
          </p:cNvPr>
          <p:cNvSpPr>
            <a:spLocks noGrp="1"/>
          </p:cNvSpPr>
          <p:nvPr/>
        </p:nvSpPr>
        <p:spPr>
          <a:xfrm>
            <a:off x="5619750" y="4057650"/>
            <a:ext cx="5334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Calculate lesion and patient level change metrics.</a:t>
            </a:r>
          </a:p>
        </p:txBody>
      </p:sp>
      <p:sp>
        <p:nvSpPr>
          <p:cNvPr id="12" name="矩形 11">
            <a:extLst>
              <a:ext uri="{FF2B5EF4-FFF2-40B4-BE49-F238E27FC236}">
                <a16:creationId xmlns:a16="http://schemas.microsoft.com/office/drawing/2014/main" id="{49D1DD59-4333-403E-9FCB-C1D3486D07D8}"/>
              </a:ext>
            </a:extLst>
          </p:cNvPr>
          <p:cNvSpPr>
            <a:spLocks noGrp="1"/>
          </p:cNvSpPr>
          <p:nvPr/>
        </p:nvSpPr>
        <p:spPr>
          <a:xfrm>
            <a:off x="5619750" y="4648200"/>
            <a:ext cx="5334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Present results through a clear dashboard and report.</a:t>
            </a:r>
          </a:p>
        </p:txBody>
      </p:sp>
      <p:sp>
        <p:nvSpPr>
          <p:cNvPr id="13" name="矩形 12">
            <a:extLst>
              <a:ext uri="{FF2B5EF4-FFF2-40B4-BE49-F238E27FC236}">
                <a16:creationId xmlns:a16="http://schemas.microsoft.com/office/drawing/2014/main" id="{50337B61-A5A7-40CB-8EB0-40CF678FF2D8}"/>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3</a:t>
            </a:r>
          </a:p>
        </p:txBody>
      </p:sp>
    </p:spTree>
    <p:extLst>
      <p:ext uri="{BB962C8B-B14F-4D97-AF65-F5344CB8AC3E}">
        <p14:creationId xmlns:p14="http://schemas.microsoft.com/office/powerpoint/2010/main" val="104527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0D50315C-BB2E-4627-A109-17E17528DBF7}"/>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4E101D96-DFA6-4FBA-BD8B-B7A345D47FBA}"/>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The scope keeps the project feasible</a:t>
            </a:r>
          </a:p>
        </p:txBody>
      </p:sp>
      <p:sp>
        <p:nvSpPr>
          <p:cNvPr id="3" name="矩形 2">
            <a:extLst>
              <a:ext uri="{FF2B5EF4-FFF2-40B4-BE49-F238E27FC236}">
                <a16:creationId xmlns:a16="http://schemas.microsoft.com/office/drawing/2014/main" id="{392F6008-E305-4943-AF97-DF926ABE31DC}"/>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F20018F5-E6ED-40D9-A87E-B085D9C255CB}"/>
              </a:ext>
            </a:extLst>
          </p:cNvPr>
          <p:cNvSpPr>
            <a:spLocks noGrp="1"/>
          </p:cNvSpPr>
          <p:nvPr/>
        </p:nvSpPr>
        <p:spPr>
          <a:xfrm>
            <a:off x="762000" y="1809750"/>
            <a:ext cx="4000500" cy="30480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In scope</a:t>
            </a:r>
          </a:p>
        </p:txBody>
      </p:sp>
      <p:sp>
        <p:nvSpPr>
          <p:cNvPr id="5" name="矩形 4">
            <a:extLst>
              <a:ext uri="{FF2B5EF4-FFF2-40B4-BE49-F238E27FC236}">
                <a16:creationId xmlns:a16="http://schemas.microsoft.com/office/drawing/2014/main" id="{E6F1BEB2-BB3C-4490-8D27-E64254B671EA}"/>
              </a:ext>
            </a:extLst>
          </p:cNvPr>
          <p:cNvSpPr>
            <a:spLocks noGrp="1"/>
          </p:cNvSpPr>
          <p:nvPr/>
        </p:nvSpPr>
        <p:spPr>
          <a:xfrm>
            <a:off x="6667500" y="1809750"/>
            <a:ext cx="4000500" cy="30480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Out of scope</a:t>
            </a:r>
          </a:p>
        </p:txBody>
      </p:sp>
      <p:sp>
        <p:nvSpPr>
          <p:cNvPr id="6" name="矩形 5">
            <a:extLst>
              <a:ext uri="{FF2B5EF4-FFF2-40B4-BE49-F238E27FC236}">
                <a16:creationId xmlns:a16="http://schemas.microsoft.com/office/drawing/2014/main" id="{B9E8318D-3D33-45D6-88D4-9D52BE77CA1C}"/>
              </a:ext>
            </a:extLst>
          </p:cNvPr>
          <p:cNvSpPr>
            <a:spLocks noGrp="1"/>
          </p:cNvSpPr>
          <p:nvPr/>
        </p:nvSpPr>
        <p:spPr>
          <a:xfrm>
            <a:off x="666750" y="2238375"/>
            <a:ext cx="4762500" cy="3000375"/>
          </a:xfrm>
          <a:prstGeom prst="rect">
            <a:avLst/>
          </a:prstGeom>
          <a:solidFill>
            <a:srgbClr val="F0F2F5"/>
          </a:solidFill>
          <a:ln w="9525">
            <a:solidFill>
              <a:srgbClr val="B8BCC4"/>
            </a:solidFill>
            <a:prstDash val="solid"/>
          </a:ln>
        </p:spPr>
        <p:txBody>
          <a:bodyPr/>
          <a:lstStyle/>
          <a:p>
            <a:endParaRPr lang="zh-CN" altLang="en-US"/>
          </a:p>
        </p:txBody>
      </p:sp>
      <p:sp>
        <p:nvSpPr>
          <p:cNvPr id="7" name="矩形 6">
            <a:extLst>
              <a:ext uri="{FF2B5EF4-FFF2-40B4-BE49-F238E27FC236}">
                <a16:creationId xmlns:a16="http://schemas.microsoft.com/office/drawing/2014/main" id="{F55636F2-568D-431E-ABBE-BF0628CF910F}"/>
              </a:ext>
            </a:extLst>
          </p:cNvPr>
          <p:cNvSpPr>
            <a:spLocks noGrp="1"/>
          </p:cNvSpPr>
          <p:nvPr/>
        </p:nvSpPr>
        <p:spPr>
          <a:xfrm>
            <a:off x="6572250" y="2238375"/>
            <a:ext cx="4762500" cy="3000375"/>
          </a:xfrm>
          <a:prstGeom prst="rect">
            <a:avLst/>
          </a:prstGeom>
          <a:solidFill>
            <a:srgbClr val="F0F2F5"/>
          </a:solidFill>
          <a:ln w="9525">
            <a:solidFill>
              <a:srgbClr val="B8BCC4"/>
            </a:solidFill>
            <a:prstDash val="solid"/>
          </a:ln>
        </p:spPr>
        <p:txBody>
          <a:bodyPr/>
          <a:lstStyle/>
          <a:p>
            <a:endParaRPr lang="zh-CN" altLang="en-US"/>
          </a:p>
        </p:txBody>
      </p:sp>
      <p:sp>
        <p:nvSpPr>
          <p:cNvPr id="8" name="矩形 7">
            <a:extLst>
              <a:ext uri="{FF2B5EF4-FFF2-40B4-BE49-F238E27FC236}">
                <a16:creationId xmlns:a16="http://schemas.microsoft.com/office/drawing/2014/main" id="{4B5F43C7-BF50-4D39-BA31-F8B1455C32F5}"/>
              </a:ext>
            </a:extLst>
          </p:cNvPr>
          <p:cNvSpPr>
            <a:spLocks noGrp="1"/>
          </p:cNvSpPr>
          <p:nvPr/>
        </p:nvSpPr>
        <p:spPr>
          <a:xfrm>
            <a:off x="952500" y="25717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Data indexing and cohort selection</a:t>
            </a:r>
          </a:p>
        </p:txBody>
      </p:sp>
      <p:sp>
        <p:nvSpPr>
          <p:cNvPr id="9" name="矩形 8">
            <a:extLst>
              <a:ext uri="{FF2B5EF4-FFF2-40B4-BE49-F238E27FC236}">
                <a16:creationId xmlns:a16="http://schemas.microsoft.com/office/drawing/2014/main" id="{DCF107EC-22E4-4A10-926E-112C9E6647E9}"/>
              </a:ext>
            </a:extLst>
          </p:cNvPr>
          <p:cNvSpPr>
            <a:spLocks noGrp="1"/>
          </p:cNvSpPr>
          <p:nvPr/>
        </p:nvSpPr>
        <p:spPr>
          <a:xfrm>
            <a:off x="952500" y="30670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Feature extraction from existing masks</a:t>
            </a:r>
          </a:p>
        </p:txBody>
      </p:sp>
      <p:sp>
        <p:nvSpPr>
          <p:cNvPr id="10" name="矩形 9">
            <a:extLst>
              <a:ext uri="{FF2B5EF4-FFF2-40B4-BE49-F238E27FC236}">
                <a16:creationId xmlns:a16="http://schemas.microsoft.com/office/drawing/2014/main" id="{BDBE14B6-E6ED-4909-B61E-3047983E3B6F}"/>
              </a:ext>
            </a:extLst>
          </p:cNvPr>
          <p:cNvSpPr>
            <a:spLocks noGrp="1"/>
          </p:cNvSpPr>
          <p:nvPr/>
        </p:nvSpPr>
        <p:spPr>
          <a:xfrm>
            <a:off x="952500" y="35623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Basic rigid alignment</a:t>
            </a:r>
          </a:p>
        </p:txBody>
      </p:sp>
      <p:sp>
        <p:nvSpPr>
          <p:cNvPr id="11" name="矩形 10">
            <a:extLst>
              <a:ext uri="{FF2B5EF4-FFF2-40B4-BE49-F238E27FC236}">
                <a16:creationId xmlns:a16="http://schemas.microsoft.com/office/drawing/2014/main" id="{499C0C0C-942A-44DA-B41D-3E210D65ADE5}"/>
              </a:ext>
            </a:extLst>
          </p:cNvPr>
          <p:cNvSpPr>
            <a:spLocks noGrp="1"/>
          </p:cNvSpPr>
          <p:nvPr/>
        </p:nvSpPr>
        <p:spPr>
          <a:xfrm>
            <a:off x="952500" y="40576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Transparent lesion matching</a:t>
            </a:r>
          </a:p>
        </p:txBody>
      </p:sp>
      <p:sp>
        <p:nvSpPr>
          <p:cNvPr id="12" name="矩形 11">
            <a:extLst>
              <a:ext uri="{FF2B5EF4-FFF2-40B4-BE49-F238E27FC236}">
                <a16:creationId xmlns:a16="http://schemas.microsoft.com/office/drawing/2014/main" id="{9ED892E9-2FE7-4EEA-A380-339BCB0E7CFB}"/>
              </a:ext>
            </a:extLst>
          </p:cNvPr>
          <p:cNvSpPr>
            <a:spLocks noGrp="1"/>
          </p:cNvSpPr>
          <p:nvPr/>
        </p:nvSpPr>
        <p:spPr>
          <a:xfrm>
            <a:off x="952500" y="45529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Plots, dashboard, and technical report</a:t>
            </a:r>
          </a:p>
        </p:txBody>
      </p:sp>
      <p:sp>
        <p:nvSpPr>
          <p:cNvPr id="13" name="矩形 12">
            <a:extLst>
              <a:ext uri="{FF2B5EF4-FFF2-40B4-BE49-F238E27FC236}">
                <a16:creationId xmlns:a16="http://schemas.microsoft.com/office/drawing/2014/main" id="{A267029A-6C53-4CAB-BC2E-CE63DB1A238C}"/>
              </a:ext>
            </a:extLst>
          </p:cNvPr>
          <p:cNvSpPr>
            <a:spLocks noGrp="1"/>
          </p:cNvSpPr>
          <p:nvPr/>
        </p:nvSpPr>
        <p:spPr>
          <a:xfrm>
            <a:off x="6858000" y="25717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Training a new segmentation model</a:t>
            </a:r>
          </a:p>
        </p:txBody>
      </p:sp>
      <p:sp>
        <p:nvSpPr>
          <p:cNvPr id="14" name="矩形 13">
            <a:extLst>
              <a:ext uri="{FF2B5EF4-FFF2-40B4-BE49-F238E27FC236}">
                <a16:creationId xmlns:a16="http://schemas.microsoft.com/office/drawing/2014/main" id="{8C603387-48CB-4F74-836F-1A00A5304DFF}"/>
              </a:ext>
            </a:extLst>
          </p:cNvPr>
          <p:cNvSpPr>
            <a:spLocks noGrp="1"/>
          </p:cNvSpPr>
          <p:nvPr/>
        </p:nvSpPr>
        <p:spPr>
          <a:xfrm>
            <a:off x="6858000" y="30670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Autonomous clinical response classification</a:t>
            </a:r>
          </a:p>
        </p:txBody>
      </p:sp>
      <p:sp>
        <p:nvSpPr>
          <p:cNvPr id="15" name="矩形 14">
            <a:extLst>
              <a:ext uri="{FF2B5EF4-FFF2-40B4-BE49-F238E27FC236}">
                <a16:creationId xmlns:a16="http://schemas.microsoft.com/office/drawing/2014/main" id="{048B4E2B-2C56-4163-8FE5-6B904C9BBD7B}"/>
              </a:ext>
            </a:extLst>
          </p:cNvPr>
          <p:cNvSpPr>
            <a:spLocks noGrp="1"/>
          </p:cNvSpPr>
          <p:nvPr/>
        </p:nvSpPr>
        <p:spPr>
          <a:xfrm>
            <a:off x="6858000" y="35623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Treatment recommendations</a:t>
            </a:r>
          </a:p>
        </p:txBody>
      </p:sp>
      <p:sp>
        <p:nvSpPr>
          <p:cNvPr id="16" name="矩形 15">
            <a:extLst>
              <a:ext uri="{FF2B5EF4-FFF2-40B4-BE49-F238E27FC236}">
                <a16:creationId xmlns:a16="http://schemas.microsoft.com/office/drawing/2014/main" id="{52DD127E-3720-4B0E-925D-8F83A9A02D25}"/>
              </a:ext>
            </a:extLst>
          </p:cNvPr>
          <p:cNvSpPr>
            <a:spLocks noGrp="1"/>
          </p:cNvSpPr>
          <p:nvPr/>
        </p:nvSpPr>
        <p:spPr>
          <a:xfrm>
            <a:off x="6858000" y="40576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Complex deformable registration</a:t>
            </a:r>
          </a:p>
        </p:txBody>
      </p:sp>
      <p:sp>
        <p:nvSpPr>
          <p:cNvPr id="17" name="矩形 16">
            <a:extLst>
              <a:ext uri="{FF2B5EF4-FFF2-40B4-BE49-F238E27FC236}">
                <a16:creationId xmlns:a16="http://schemas.microsoft.com/office/drawing/2014/main" id="{59AB73A6-B259-4DA0-B4BC-74F1E5D8A818}"/>
              </a:ext>
            </a:extLst>
          </p:cNvPr>
          <p:cNvSpPr>
            <a:spLocks noGrp="1"/>
          </p:cNvSpPr>
          <p:nvPr/>
        </p:nvSpPr>
        <p:spPr>
          <a:xfrm>
            <a:off x="6858000" y="4552950"/>
            <a:ext cx="40957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Forced detailed lymph-node labelling</a:t>
            </a:r>
          </a:p>
        </p:txBody>
      </p:sp>
      <p:sp>
        <p:nvSpPr>
          <p:cNvPr id="18" name="矩形 17">
            <a:extLst>
              <a:ext uri="{FF2B5EF4-FFF2-40B4-BE49-F238E27FC236}">
                <a16:creationId xmlns:a16="http://schemas.microsoft.com/office/drawing/2014/main" id="{A83C126F-69DA-44EC-914C-2BD27DF95AA3}"/>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4</a:t>
            </a:r>
          </a:p>
        </p:txBody>
      </p:sp>
    </p:spTree>
    <p:extLst>
      <p:ext uri="{BB962C8B-B14F-4D97-AF65-F5344CB8AC3E}">
        <p14:creationId xmlns:p14="http://schemas.microsoft.com/office/powerpoint/2010/main" val="1487443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99299091-E291-4B2D-9815-0BC6ED74DBB2}"/>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6FD9B498-9134-462C-BB45-82DCF78E1720}"/>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The technical solution is transparent by design</a:t>
            </a:r>
          </a:p>
        </p:txBody>
      </p:sp>
      <p:sp>
        <p:nvSpPr>
          <p:cNvPr id="3" name="矩形 2">
            <a:extLst>
              <a:ext uri="{FF2B5EF4-FFF2-40B4-BE49-F238E27FC236}">
                <a16:creationId xmlns:a16="http://schemas.microsoft.com/office/drawing/2014/main" id="{1982B30C-9045-4176-A084-C12329BD765D}"/>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DE686ADD-7414-4524-B4B2-AD4FDD3EA207}"/>
              </a:ext>
            </a:extLst>
          </p:cNvPr>
          <p:cNvSpPr>
            <a:spLocks noGrp="1"/>
          </p:cNvSpPr>
          <p:nvPr/>
        </p:nvSpPr>
        <p:spPr>
          <a:xfrm>
            <a:off x="590550" y="2143125"/>
            <a:ext cx="1504950" cy="1143000"/>
          </a:xfrm>
          <a:prstGeom prst="rect">
            <a:avLst/>
          </a:prstGeom>
          <a:solidFill>
            <a:srgbClr val="F0F2F5"/>
          </a:solidFill>
          <a:ln w="9525">
            <a:solidFill>
              <a:srgbClr val="B8BCC4"/>
            </a:solidFill>
            <a:prstDash val="solid"/>
          </a:ln>
        </p:spPr>
        <p:txBody>
          <a:bodyPr/>
          <a:lstStyle/>
          <a:p>
            <a:endParaRPr lang="zh-CN" altLang="en-US"/>
          </a:p>
        </p:txBody>
      </p:sp>
      <p:sp>
        <p:nvSpPr>
          <p:cNvPr id="5" name="矩形 4">
            <a:extLst>
              <a:ext uri="{FF2B5EF4-FFF2-40B4-BE49-F238E27FC236}">
                <a16:creationId xmlns:a16="http://schemas.microsoft.com/office/drawing/2014/main" id="{E6EAEC93-7840-415C-89C9-A938A8474EFC}"/>
              </a:ext>
            </a:extLst>
          </p:cNvPr>
          <p:cNvSpPr>
            <a:spLocks noGrp="1"/>
          </p:cNvSpPr>
          <p:nvPr/>
        </p:nvSpPr>
        <p:spPr>
          <a:xfrm>
            <a:off x="742950" y="2333625"/>
            <a:ext cx="1200150" cy="3238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Data</a:t>
            </a:r>
          </a:p>
        </p:txBody>
      </p:sp>
      <p:sp>
        <p:nvSpPr>
          <p:cNvPr id="6" name="矩形 5">
            <a:extLst>
              <a:ext uri="{FF2B5EF4-FFF2-40B4-BE49-F238E27FC236}">
                <a16:creationId xmlns:a16="http://schemas.microsoft.com/office/drawing/2014/main" id="{68F42654-5D98-465A-A86B-4457572D5099}"/>
              </a:ext>
            </a:extLst>
          </p:cNvPr>
          <p:cNvSpPr>
            <a:spLocks noGrp="1"/>
          </p:cNvSpPr>
          <p:nvPr/>
        </p:nvSpPr>
        <p:spPr>
          <a:xfrm>
            <a:off x="742950" y="2733675"/>
            <a:ext cx="1200150" cy="419100"/>
          </a:xfrm>
          <a:prstGeom prst="rect">
            <a:avLst/>
          </a:prstGeom>
          <a:noFill/>
          <a:ln w="0">
            <a:noFill/>
            <a:prstDash val="solid"/>
          </a:ln>
        </p:spPr>
        <p:txBody>
          <a:bodyPr anchor="t"/>
          <a:lstStyle/>
          <a:p>
            <a:pPr algn="l">
              <a:defRPr sz="1200" b="0">
                <a:solidFill>
                  <a:srgbClr val="5A5F68"/>
                </a:solidFill>
              </a:defRPr>
            </a:pPr>
            <a:r>
              <a:rPr sz="1200" b="0">
                <a:solidFill>
                  <a:srgbClr val="5A5F68"/>
                </a:solidFill>
              </a:rPr>
              <a:t>Parse patient and scan date</a:t>
            </a:r>
          </a:p>
        </p:txBody>
      </p:sp>
      <p:sp>
        <p:nvSpPr>
          <p:cNvPr id="7" name="矩形 6">
            <a:extLst>
              <a:ext uri="{FF2B5EF4-FFF2-40B4-BE49-F238E27FC236}">
                <a16:creationId xmlns:a16="http://schemas.microsoft.com/office/drawing/2014/main" id="{59E0DB53-93BE-445B-882A-28DC766C456D}"/>
              </a:ext>
            </a:extLst>
          </p:cNvPr>
          <p:cNvSpPr>
            <a:spLocks noGrp="1"/>
          </p:cNvSpPr>
          <p:nvPr/>
        </p:nvSpPr>
        <p:spPr>
          <a:xfrm>
            <a:off x="2143125" y="2562225"/>
            <a:ext cx="285750" cy="285750"/>
          </a:xfrm>
          <a:prstGeom prst="rect">
            <a:avLst/>
          </a:prstGeom>
          <a:noFill/>
          <a:ln w="0">
            <a:noFill/>
            <a:prstDash val="solid"/>
          </a:ln>
        </p:spPr>
        <p:txBody>
          <a:bodyPr anchor="t"/>
          <a:lstStyle/>
          <a:p>
            <a:pPr algn="l">
              <a:defRPr sz="1725" b="1">
                <a:solidFill>
                  <a:srgbClr val="5A5F68"/>
                </a:solidFill>
              </a:defRPr>
            </a:pPr>
            <a:r>
              <a:rPr sz="1725" b="1">
                <a:solidFill>
                  <a:srgbClr val="5A5F68"/>
                </a:solidFill>
              </a:rPr>
              <a:t>-&gt;</a:t>
            </a:r>
          </a:p>
        </p:txBody>
      </p:sp>
      <p:sp>
        <p:nvSpPr>
          <p:cNvPr id="8" name="矩形 7">
            <a:extLst>
              <a:ext uri="{FF2B5EF4-FFF2-40B4-BE49-F238E27FC236}">
                <a16:creationId xmlns:a16="http://schemas.microsoft.com/office/drawing/2014/main" id="{90511250-51F0-43A5-BFC6-E9F133078B10}"/>
              </a:ext>
            </a:extLst>
          </p:cNvPr>
          <p:cNvSpPr>
            <a:spLocks noGrp="1"/>
          </p:cNvSpPr>
          <p:nvPr/>
        </p:nvSpPr>
        <p:spPr>
          <a:xfrm>
            <a:off x="2466975" y="2143125"/>
            <a:ext cx="1504950" cy="1143000"/>
          </a:xfrm>
          <a:prstGeom prst="rect">
            <a:avLst/>
          </a:prstGeom>
          <a:solidFill>
            <a:srgbClr val="DDEEFF"/>
          </a:solidFill>
          <a:ln w="9525">
            <a:solidFill>
              <a:srgbClr val="B8BCC4"/>
            </a:solidFill>
            <a:prstDash val="solid"/>
          </a:ln>
        </p:spPr>
        <p:txBody>
          <a:bodyPr/>
          <a:lstStyle/>
          <a:p>
            <a:endParaRPr lang="zh-CN" altLang="en-US"/>
          </a:p>
        </p:txBody>
      </p:sp>
      <p:sp>
        <p:nvSpPr>
          <p:cNvPr id="9" name="矩形 8">
            <a:extLst>
              <a:ext uri="{FF2B5EF4-FFF2-40B4-BE49-F238E27FC236}">
                <a16:creationId xmlns:a16="http://schemas.microsoft.com/office/drawing/2014/main" id="{0BB6CDD9-21AC-4C17-819C-D5F85C4D515E}"/>
              </a:ext>
            </a:extLst>
          </p:cNvPr>
          <p:cNvSpPr>
            <a:spLocks noGrp="1"/>
          </p:cNvSpPr>
          <p:nvPr/>
        </p:nvSpPr>
        <p:spPr>
          <a:xfrm>
            <a:off x="2619375" y="2333625"/>
            <a:ext cx="1200150" cy="3238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Features</a:t>
            </a:r>
          </a:p>
        </p:txBody>
      </p:sp>
      <p:sp>
        <p:nvSpPr>
          <p:cNvPr id="10" name="矩形 9">
            <a:extLst>
              <a:ext uri="{FF2B5EF4-FFF2-40B4-BE49-F238E27FC236}">
                <a16:creationId xmlns:a16="http://schemas.microsoft.com/office/drawing/2014/main" id="{6E2EFD6E-D5DA-4424-BF0B-32DB7FD83E4C}"/>
              </a:ext>
            </a:extLst>
          </p:cNvPr>
          <p:cNvSpPr>
            <a:spLocks noGrp="1"/>
          </p:cNvSpPr>
          <p:nvPr/>
        </p:nvSpPr>
        <p:spPr>
          <a:xfrm>
            <a:off x="2619375" y="2733675"/>
            <a:ext cx="1200150" cy="419100"/>
          </a:xfrm>
          <a:prstGeom prst="rect">
            <a:avLst/>
          </a:prstGeom>
          <a:noFill/>
          <a:ln w="0">
            <a:noFill/>
            <a:prstDash val="solid"/>
          </a:ln>
        </p:spPr>
        <p:txBody>
          <a:bodyPr anchor="t"/>
          <a:lstStyle/>
          <a:p>
            <a:pPr algn="l">
              <a:defRPr sz="1200" b="0">
                <a:solidFill>
                  <a:srgbClr val="5A5F68"/>
                </a:solidFill>
              </a:defRPr>
            </a:pPr>
            <a:r>
              <a:rPr sz="1200" b="0">
                <a:solidFill>
                  <a:srgbClr val="5A5F68"/>
                </a:solidFill>
              </a:rPr>
              <a:t>Volume and SUV metrics</a:t>
            </a:r>
          </a:p>
        </p:txBody>
      </p:sp>
      <p:sp>
        <p:nvSpPr>
          <p:cNvPr id="11" name="矩形 10">
            <a:extLst>
              <a:ext uri="{FF2B5EF4-FFF2-40B4-BE49-F238E27FC236}">
                <a16:creationId xmlns:a16="http://schemas.microsoft.com/office/drawing/2014/main" id="{74891362-792C-441A-A00C-0F4AA7046CCF}"/>
              </a:ext>
            </a:extLst>
          </p:cNvPr>
          <p:cNvSpPr>
            <a:spLocks noGrp="1"/>
          </p:cNvSpPr>
          <p:nvPr/>
        </p:nvSpPr>
        <p:spPr>
          <a:xfrm>
            <a:off x="4019550" y="2562225"/>
            <a:ext cx="285750" cy="285750"/>
          </a:xfrm>
          <a:prstGeom prst="rect">
            <a:avLst/>
          </a:prstGeom>
          <a:noFill/>
          <a:ln w="0">
            <a:noFill/>
            <a:prstDash val="solid"/>
          </a:ln>
        </p:spPr>
        <p:txBody>
          <a:bodyPr anchor="t"/>
          <a:lstStyle/>
          <a:p>
            <a:pPr algn="l">
              <a:defRPr sz="1725" b="1">
                <a:solidFill>
                  <a:srgbClr val="5A5F68"/>
                </a:solidFill>
              </a:defRPr>
            </a:pPr>
            <a:r>
              <a:rPr sz="1725" b="1">
                <a:solidFill>
                  <a:srgbClr val="5A5F68"/>
                </a:solidFill>
              </a:rPr>
              <a:t>-&gt;</a:t>
            </a:r>
          </a:p>
        </p:txBody>
      </p:sp>
      <p:sp>
        <p:nvSpPr>
          <p:cNvPr id="12" name="矩形 11">
            <a:extLst>
              <a:ext uri="{FF2B5EF4-FFF2-40B4-BE49-F238E27FC236}">
                <a16:creationId xmlns:a16="http://schemas.microsoft.com/office/drawing/2014/main" id="{36D3D45E-6185-46B6-8911-7C1C597A82A8}"/>
              </a:ext>
            </a:extLst>
          </p:cNvPr>
          <p:cNvSpPr>
            <a:spLocks noGrp="1"/>
          </p:cNvSpPr>
          <p:nvPr/>
        </p:nvSpPr>
        <p:spPr>
          <a:xfrm>
            <a:off x="4343400" y="2143125"/>
            <a:ext cx="1504950" cy="1143000"/>
          </a:xfrm>
          <a:prstGeom prst="rect">
            <a:avLst/>
          </a:prstGeom>
          <a:solidFill>
            <a:srgbClr val="F0F2F5"/>
          </a:solidFill>
          <a:ln w="9525">
            <a:solidFill>
              <a:srgbClr val="B8BCC4"/>
            </a:solidFill>
            <a:prstDash val="solid"/>
          </a:ln>
        </p:spPr>
        <p:txBody>
          <a:bodyPr/>
          <a:lstStyle/>
          <a:p>
            <a:endParaRPr lang="zh-CN" altLang="en-US"/>
          </a:p>
        </p:txBody>
      </p:sp>
      <p:sp>
        <p:nvSpPr>
          <p:cNvPr id="13" name="矩形 12">
            <a:extLst>
              <a:ext uri="{FF2B5EF4-FFF2-40B4-BE49-F238E27FC236}">
                <a16:creationId xmlns:a16="http://schemas.microsoft.com/office/drawing/2014/main" id="{A5754DFC-C23E-4B5C-AD68-800B6C11DCDF}"/>
              </a:ext>
            </a:extLst>
          </p:cNvPr>
          <p:cNvSpPr>
            <a:spLocks noGrp="1"/>
          </p:cNvSpPr>
          <p:nvPr/>
        </p:nvSpPr>
        <p:spPr>
          <a:xfrm>
            <a:off x="4495800" y="2333625"/>
            <a:ext cx="1200150" cy="3238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Alignment</a:t>
            </a:r>
          </a:p>
        </p:txBody>
      </p:sp>
      <p:sp>
        <p:nvSpPr>
          <p:cNvPr id="14" name="矩形 13">
            <a:extLst>
              <a:ext uri="{FF2B5EF4-FFF2-40B4-BE49-F238E27FC236}">
                <a16:creationId xmlns:a16="http://schemas.microsoft.com/office/drawing/2014/main" id="{BF978F5F-7A6C-46E3-97AE-CDF0B2FC1BAE}"/>
              </a:ext>
            </a:extLst>
          </p:cNvPr>
          <p:cNvSpPr>
            <a:spLocks noGrp="1"/>
          </p:cNvSpPr>
          <p:nvPr/>
        </p:nvSpPr>
        <p:spPr>
          <a:xfrm>
            <a:off x="4495800" y="2733675"/>
            <a:ext cx="1200150" cy="419100"/>
          </a:xfrm>
          <a:prstGeom prst="rect">
            <a:avLst/>
          </a:prstGeom>
          <a:noFill/>
          <a:ln w="0">
            <a:noFill/>
            <a:prstDash val="solid"/>
          </a:ln>
        </p:spPr>
        <p:txBody>
          <a:bodyPr anchor="t"/>
          <a:lstStyle/>
          <a:p>
            <a:pPr algn="l">
              <a:defRPr sz="1200" b="0">
                <a:solidFill>
                  <a:srgbClr val="5A5F68"/>
                </a:solidFill>
              </a:defRPr>
            </a:pPr>
            <a:r>
              <a:rPr sz="1200" b="0">
                <a:solidFill>
                  <a:srgbClr val="5A5F68"/>
                </a:solidFill>
              </a:rPr>
              <a:t>Rigid PET/CT alignment</a:t>
            </a:r>
          </a:p>
        </p:txBody>
      </p:sp>
      <p:sp>
        <p:nvSpPr>
          <p:cNvPr id="15" name="矩形 14">
            <a:extLst>
              <a:ext uri="{FF2B5EF4-FFF2-40B4-BE49-F238E27FC236}">
                <a16:creationId xmlns:a16="http://schemas.microsoft.com/office/drawing/2014/main" id="{2A1110B2-40CA-443E-9A15-3188D95E9118}"/>
              </a:ext>
            </a:extLst>
          </p:cNvPr>
          <p:cNvSpPr>
            <a:spLocks noGrp="1"/>
          </p:cNvSpPr>
          <p:nvPr/>
        </p:nvSpPr>
        <p:spPr>
          <a:xfrm>
            <a:off x="5895975" y="2562225"/>
            <a:ext cx="285750" cy="285750"/>
          </a:xfrm>
          <a:prstGeom prst="rect">
            <a:avLst/>
          </a:prstGeom>
          <a:noFill/>
          <a:ln w="0">
            <a:noFill/>
            <a:prstDash val="solid"/>
          </a:ln>
        </p:spPr>
        <p:txBody>
          <a:bodyPr anchor="t"/>
          <a:lstStyle/>
          <a:p>
            <a:pPr algn="l">
              <a:defRPr sz="1725" b="1">
                <a:solidFill>
                  <a:srgbClr val="5A5F68"/>
                </a:solidFill>
              </a:defRPr>
            </a:pPr>
            <a:r>
              <a:rPr sz="1725" b="1">
                <a:solidFill>
                  <a:srgbClr val="5A5F68"/>
                </a:solidFill>
              </a:rPr>
              <a:t>-&gt;</a:t>
            </a:r>
          </a:p>
        </p:txBody>
      </p:sp>
      <p:sp>
        <p:nvSpPr>
          <p:cNvPr id="16" name="矩形 15">
            <a:extLst>
              <a:ext uri="{FF2B5EF4-FFF2-40B4-BE49-F238E27FC236}">
                <a16:creationId xmlns:a16="http://schemas.microsoft.com/office/drawing/2014/main" id="{FA2EDF1F-3C43-470C-B2EB-0143AC58C5FF}"/>
              </a:ext>
            </a:extLst>
          </p:cNvPr>
          <p:cNvSpPr>
            <a:spLocks noGrp="1"/>
          </p:cNvSpPr>
          <p:nvPr/>
        </p:nvSpPr>
        <p:spPr>
          <a:xfrm>
            <a:off x="6219825" y="2143125"/>
            <a:ext cx="1504950" cy="1143000"/>
          </a:xfrm>
          <a:prstGeom prst="rect">
            <a:avLst/>
          </a:prstGeom>
          <a:solidFill>
            <a:srgbClr val="DDEEFF"/>
          </a:solidFill>
          <a:ln w="9525">
            <a:solidFill>
              <a:srgbClr val="B8BCC4"/>
            </a:solidFill>
            <a:prstDash val="solid"/>
          </a:ln>
        </p:spPr>
        <p:txBody>
          <a:bodyPr/>
          <a:lstStyle/>
          <a:p>
            <a:endParaRPr lang="zh-CN" altLang="en-US"/>
          </a:p>
        </p:txBody>
      </p:sp>
      <p:sp>
        <p:nvSpPr>
          <p:cNvPr id="17" name="矩形 16">
            <a:extLst>
              <a:ext uri="{FF2B5EF4-FFF2-40B4-BE49-F238E27FC236}">
                <a16:creationId xmlns:a16="http://schemas.microsoft.com/office/drawing/2014/main" id="{83F2A975-CDCF-4AB5-940E-AED769151F63}"/>
              </a:ext>
            </a:extLst>
          </p:cNvPr>
          <p:cNvSpPr>
            <a:spLocks noGrp="1"/>
          </p:cNvSpPr>
          <p:nvPr/>
        </p:nvSpPr>
        <p:spPr>
          <a:xfrm>
            <a:off x="6372225" y="2333625"/>
            <a:ext cx="1200150" cy="3238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Matching</a:t>
            </a:r>
          </a:p>
        </p:txBody>
      </p:sp>
      <p:sp>
        <p:nvSpPr>
          <p:cNvPr id="18" name="矩形 17">
            <a:extLst>
              <a:ext uri="{FF2B5EF4-FFF2-40B4-BE49-F238E27FC236}">
                <a16:creationId xmlns:a16="http://schemas.microsoft.com/office/drawing/2014/main" id="{04885BE8-5BDF-4488-9A34-DB16B93D3D66}"/>
              </a:ext>
            </a:extLst>
          </p:cNvPr>
          <p:cNvSpPr>
            <a:spLocks noGrp="1"/>
          </p:cNvSpPr>
          <p:nvPr/>
        </p:nvSpPr>
        <p:spPr>
          <a:xfrm>
            <a:off x="6372225" y="2733675"/>
            <a:ext cx="1200150" cy="419100"/>
          </a:xfrm>
          <a:prstGeom prst="rect">
            <a:avLst/>
          </a:prstGeom>
          <a:noFill/>
          <a:ln w="0">
            <a:noFill/>
            <a:prstDash val="solid"/>
          </a:ln>
        </p:spPr>
        <p:txBody>
          <a:bodyPr anchor="t"/>
          <a:lstStyle/>
          <a:p>
            <a:pPr algn="l">
              <a:defRPr sz="1200" b="0">
                <a:solidFill>
                  <a:srgbClr val="5A5F68"/>
                </a:solidFill>
              </a:defRPr>
            </a:pPr>
            <a:r>
              <a:rPr sz="1200" b="0">
                <a:solidFill>
                  <a:srgbClr val="5A5F68"/>
                </a:solidFill>
              </a:rPr>
              <a:t>Region, distance, overlap</a:t>
            </a:r>
          </a:p>
        </p:txBody>
      </p:sp>
      <p:sp>
        <p:nvSpPr>
          <p:cNvPr id="19" name="矩形 18">
            <a:extLst>
              <a:ext uri="{FF2B5EF4-FFF2-40B4-BE49-F238E27FC236}">
                <a16:creationId xmlns:a16="http://schemas.microsoft.com/office/drawing/2014/main" id="{59B5BCEF-2E61-40F5-A43F-571E498C6FD6}"/>
              </a:ext>
            </a:extLst>
          </p:cNvPr>
          <p:cNvSpPr>
            <a:spLocks noGrp="1"/>
          </p:cNvSpPr>
          <p:nvPr/>
        </p:nvSpPr>
        <p:spPr>
          <a:xfrm>
            <a:off x="7772400" y="2562225"/>
            <a:ext cx="285750" cy="285750"/>
          </a:xfrm>
          <a:prstGeom prst="rect">
            <a:avLst/>
          </a:prstGeom>
          <a:noFill/>
          <a:ln w="0">
            <a:noFill/>
            <a:prstDash val="solid"/>
          </a:ln>
        </p:spPr>
        <p:txBody>
          <a:bodyPr anchor="t"/>
          <a:lstStyle/>
          <a:p>
            <a:pPr algn="l">
              <a:defRPr sz="1725" b="1">
                <a:solidFill>
                  <a:srgbClr val="5A5F68"/>
                </a:solidFill>
              </a:defRPr>
            </a:pPr>
            <a:r>
              <a:rPr sz="1725" b="1">
                <a:solidFill>
                  <a:srgbClr val="5A5F68"/>
                </a:solidFill>
              </a:rPr>
              <a:t>-&gt;</a:t>
            </a:r>
          </a:p>
        </p:txBody>
      </p:sp>
      <p:sp>
        <p:nvSpPr>
          <p:cNvPr id="20" name="矩形 19">
            <a:extLst>
              <a:ext uri="{FF2B5EF4-FFF2-40B4-BE49-F238E27FC236}">
                <a16:creationId xmlns:a16="http://schemas.microsoft.com/office/drawing/2014/main" id="{2BF81CED-F88C-4890-A2F2-CB17F2CA1948}"/>
              </a:ext>
            </a:extLst>
          </p:cNvPr>
          <p:cNvSpPr>
            <a:spLocks noGrp="1"/>
          </p:cNvSpPr>
          <p:nvPr/>
        </p:nvSpPr>
        <p:spPr>
          <a:xfrm>
            <a:off x="8096250" y="2143125"/>
            <a:ext cx="1504950" cy="1143000"/>
          </a:xfrm>
          <a:prstGeom prst="rect">
            <a:avLst/>
          </a:prstGeom>
          <a:solidFill>
            <a:srgbClr val="F0F2F5"/>
          </a:solidFill>
          <a:ln w="9525">
            <a:solidFill>
              <a:srgbClr val="B8BCC4"/>
            </a:solidFill>
            <a:prstDash val="solid"/>
          </a:ln>
        </p:spPr>
        <p:txBody>
          <a:bodyPr/>
          <a:lstStyle/>
          <a:p>
            <a:endParaRPr lang="zh-CN" altLang="en-US"/>
          </a:p>
        </p:txBody>
      </p:sp>
      <p:sp>
        <p:nvSpPr>
          <p:cNvPr id="21" name="矩形 20">
            <a:extLst>
              <a:ext uri="{FF2B5EF4-FFF2-40B4-BE49-F238E27FC236}">
                <a16:creationId xmlns:a16="http://schemas.microsoft.com/office/drawing/2014/main" id="{73B49911-5420-47AB-837B-1470FB36CB57}"/>
              </a:ext>
            </a:extLst>
          </p:cNvPr>
          <p:cNvSpPr>
            <a:spLocks noGrp="1"/>
          </p:cNvSpPr>
          <p:nvPr/>
        </p:nvSpPr>
        <p:spPr>
          <a:xfrm>
            <a:off x="8248650" y="2333625"/>
            <a:ext cx="1200150" cy="3238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Analysis</a:t>
            </a:r>
          </a:p>
        </p:txBody>
      </p:sp>
      <p:sp>
        <p:nvSpPr>
          <p:cNvPr id="22" name="矩形 21">
            <a:extLst>
              <a:ext uri="{FF2B5EF4-FFF2-40B4-BE49-F238E27FC236}">
                <a16:creationId xmlns:a16="http://schemas.microsoft.com/office/drawing/2014/main" id="{EB2FCF17-FF2B-4497-82D4-EF2F060E92A7}"/>
              </a:ext>
            </a:extLst>
          </p:cNvPr>
          <p:cNvSpPr>
            <a:spLocks noGrp="1"/>
          </p:cNvSpPr>
          <p:nvPr/>
        </p:nvSpPr>
        <p:spPr>
          <a:xfrm>
            <a:off x="8248650" y="2733675"/>
            <a:ext cx="1200150" cy="419100"/>
          </a:xfrm>
          <a:prstGeom prst="rect">
            <a:avLst/>
          </a:prstGeom>
          <a:noFill/>
          <a:ln w="0">
            <a:noFill/>
            <a:prstDash val="solid"/>
          </a:ln>
        </p:spPr>
        <p:txBody>
          <a:bodyPr anchor="t"/>
          <a:lstStyle/>
          <a:p>
            <a:pPr algn="l">
              <a:defRPr sz="1200" b="0">
                <a:solidFill>
                  <a:srgbClr val="5A5F68"/>
                </a:solidFill>
              </a:defRPr>
            </a:pPr>
            <a:r>
              <a:rPr sz="1200" b="0">
                <a:solidFill>
                  <a:srgbClr val="5A5F68"/>
                </a:solidFill>
              </a:rPr>
              <a:t>Change and heterogeneity</a:t>
            </a:r>
          </a:p>
        </p:txBody>
      </p:sp>
      <p:sp>
        <p:nvSpPr>
          <p:cNvPr id="23" name="矩形 22">
            <a:extLst>
              <a:ext uri="{FF2B5EF4-FFF2-40B4-BE49-F238E27FC236}">
                <a16:creationId xmlns:a16="http://schemas.microsoft.com/office/drawing/2014/main" id="{C945319F-CCF3-4BF3-803B-6C8B7A82D3DB}"/>
              </a:ext>
            </a:extLst>
          </p:cNvPr>
          <p:cNvSpPr>
            <a:spLocks noGrp="1"/>
          </p:cNvSpPr>
          <p:nvPr/>
        </p:nvSpPr>
        <p:spPr>
          <a:xfrm>
            <a:off x="9648825" y="2562225"/>
            <a:ext cx="285750" cy="285750"/>
          </a:xfrm>
          <a:prstGeom prst="rect">
            <a:avLst/>
          </a:prstGeom>
          <a:noFill/>
          <a:ln w="0">
            <a:noFill/>
            <a:prstDash val="solid"/>
          </a:ln>
        </p:spPr>
        <p:txBody>
          <a:bodyPr anchor="t"/>
          <a:lstStyle/>
          <a:p>
            <a:pPr algn="l">
              <a:defRPr sz="1725" b="1">
                <a:solidFill>
                  <a:srgbClr val="5A5F68"/>
                </a:solidFill>
              </a:defRPr>
            </a:pPr>
            <a:r>
              <a:rPr sz="1725" b="1">
                <a:solidFill>
                  <a:srgbClr val="5A5F68"/>
                </a:solidFill>
              </a:rPr>
              <a:t>-&gt;</a:t>
            </a:r>
          </a:p>
        </p:txBody>
      </p:sp>
      <p:sp>
        <p:nvSpPr>
          <p:cNvPr id="24" name="矩形 23">
            <a:extLst>
              <a:ext uri="{FF2B5EF4-FFF2-40B4-BE49-F238E27FC236}">
                <a16:creationId xmlns:a16="http://schemas.microsoft.com/office/drawing/2014/main" id="{EFB27F6D-9DE0-4D6B-A758-7AD32D634758}"/>
              </a:ext>
            </a:extLst>
          </p:cNvPr>
          <p:cNvSpPr>
            <a:spLocks noGrp="1"/>
          </p:cNvSpPr>
          <p:nvPr/>
        </p:nvSpPr>
        <p:spPr>
          <a:xfrm>
            <a:off x="9972675" y="2143125"/>
            <a:ext cx="1504950" cy="1143000"/>
          </a:xfrm>
          <a:prstGeom prst="rect">
            <a:avLst/>
          </a:prstGeom>
          <a:solidFill>
            <a:srgbClr val="DDEEFF"/>
          </a:solidFill>
          <a:ln w="9525">
            <a:solidFill>
              <a:srgbClr val="B8BCC4"/>
            </a:solidFill>
            <a:prstDash val="solid"/>
          </a:ln>
        </p:spPr>
        <p:txBody>
          <a:bodyPr/>
          <a:lstStyle/>
          <a:p>
            <a:endParaRPr lang="zh-CN" altLang="en-US"/>
          </a:p>
        </p:txBody>
      </p:sp>
      <p:sp>
        <p:nvSpPr>
          <p:cNvPr id="25" name="矩形 24">
            <a:extLst>
              <a:ext uri="{FF2B5EF4-FFF2-40B4-BE49-F238E27FC236}">
                <a16:creationId xmlns:a16="http://schemas.microsoft.com/office/drawing/2014/main" id="{42E2A00B-2FAD-40AA-A7F8-642A7C2B4FB9}"/>
              </a:ext>
            </a:extLst>
          </p:cNvPr>
          <p:cNvSpPr>
            <a:spLocks noGrp="1"/>
          </p:cNvSpPr>
          <p:nvPr/>
        </p:nvSpPr>
        <p:spPr>
          <a:xfrm>
            <a:off x="10125075" y="2333625"/>
            <a:ext cx="1200150" cy="3238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Dashboard</a:t>
            </a:r>
          </a:p>
        </p:txBody>
      </p:sp>
      <p:sp>
        <p:nvSpPr>
          <p:cNvPr id="26" name="矩形 25">
            <a:extLst>
              <a:ext uri="{FF2B5EF4-FFF2-40B4-BE49-F238E27FC236}">
                <a16:creationId xmlns:a16="http://schemas.microsoft.com/office/drawing/2014/main" id="{C271390B-6C87-488E-A1BE-3468542957C7}"/>
              </a:ext>
            </a:extLst>
          </p:cNvPr>
          <p:cNvSpPr>
            <a:spLocks noGrp="1"/>
          </p:cNvSpPr>
          <p:nvPr/>
        </p:nvSpPr>
        <p:spPr>
          <a:xfrm>
            <a:off x="10125075" y="2733675"/>
            <a:ext cx="1200150" cy="419100"/>
          </a:xfrm>
          <a:prstGeom prst="rect">
            <a:avLst/>
          </a:prstGeom>
          <a:noFill/>
          <a:ln w="0">
            <a:noFill/>
            <a:prstDash val="solid"/>
          </a:ln>
        </p:spPr>
        <p:txBody>
          <a:bodyPr anchor="t"/>
          <a:lstStyle/>
          <a:p>
            <a:pPr algn="l">
              <a:defRPr sz="1200" b="0">
                <a:solidFill>
                  <a:srgbClr val="5A5F68"/>
                </a:solidFill>
              </a:defRPr>
            </a:pPr>
            <a:r>
              <a:rPr sz="1200" b="0">
                <a:solidFill>
                  <a:srgbClr val="5A5F68"/>
                </a:solidFill>
              </a:rPr>
              <a:t>Review and summary</a:t>
            </a:r>
          </a:p>
        </p:txBody>
      </p:sp>
      <p:sp>
        <p:nvSpPr>
          <p:cNvPr id="27" name="矩形 26">
            <a:extLst>
              <a:ext uri="{FF2B5EF4-FFF2-40B4-BE49-F238E27FC236}">
                <a16:creationId xmlns:a16="http://schemas.microsoft.com/office/drawing/2014/main" id="{578C22C0-2500-4DA2-95BB-40F362310E80}"/>
              </a:ext>
            </a:extLst>
          </p:cNvPr>
          <p:cNvSpPr>
            <a:spLocks noGrp="1"/>
          </p:cNvSpPr>
          <p:nvPr/>
        </p:nvSpPr>
        <p:spPr>
          <a:xfrm>
            <a:off x="762000" y="4000500"/>
            <a:ext cx="4000500" cy="323850"/>
          </a:xfrm>
          <a:prstGeom prst="rect">
            <a:avLst/>
          </a:prstGeom>
          <a:noFill/>
          <a:ln w="0">
            <a:noFill/>
            <a:prstDash val="solid"/>
          </a:ln>
        </p:spPr>
        <p:txBody>
          <a:bodyPr anchor="t"/>
          <a:lstStyle/>
          <a:p>
            <a:pPr algn="l">
              <a:defRPr sz="1950" b="1">
                <a:solidFill>
                  <a:srgbClr val="111111"/>
                </a:solidFill>
              </a:defRPr>
            </a:pPr>
            <a:r>
              <a:rPr sz="1950" b="1">
                <a:solidFill>
                  <a:srgbClr val="111111"/>
                </a:solidFill>
              </a:rPr>
              <a:t>Why this approach fits the project</a:t>
            </a:r>
          </a:p>
        </p:txBody>
      </p:sp>
      <p:sp>
        <p:nvSpPr>
          <p:cNvPr id="28" name="矩形 27">
            <a:extLst>
              <a:ext uri="{FF2B5EF4-FFF2-40B4-BE49-F238E27FC236}">
                <a16:creationId xmlns:a16="http://schemas.microsoft.com/office/drawing/2014/main" id="{14A3CB25-9250-47B9-94AB-E5702C9A000E}"/>
              </a:ext>
            </a:extLst>
          </p:cNvPr>
          <p:cNvSpPr>
            <a:spLocks noGrp="1"/>
          </p:cNvSpPr>
          <p:nvPr/>
        </p:nvSpPr>
        <p:spPr>
          <a:xfrm>
            <a:off x="857250" y="4476750"/>
            <a:ext cx="9906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It uses existing masks, so the work focuses on quantification and review.</a:t>
            </a:r>
          </a:p>
        </p:txBody>
      </p:sp>
      <p:sp>
        <p:nvSpPr>
          <p:cNvPr id="29" name="矩形 28">
            <a:extLst>
              <a:ext uri="{FF2B5EF4-FFF2-40B4-BE49-F238E27FC236}">
                <a16:creationId xmlns:a16="http://schemas.microsoft.com/office/drawing/2014/main" id="{86F3E634-FA92-4567-8EC2-1D7D8E728FEA}"/>
              </a:ext>
            </a:extLst>
          </p:cNvPr>
          <p:cNvSpPr>
            <a:spLocks noGrp="1"/>
          </p:cNvSpPr>
          <p:nvPr/>
        </p:nvSpPr>
        <p:spPr>
          <a:xfrm>
            <a:off x="857250" y="4953000"/>
            <a:ext cx="9906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Matching rules are interpretable and can be explained during assessment.</a:t>
            </a:r>
          </a:p>
        </p:txBody>
      </p:sp>
      <p:sp>
        <p:nvSpPr>
          <p:cNvPr id="30" name="矩形 29">
            <a:extLst>
              <a:ext uri="{FF2B5EF4-FFF2-40B4-BE49-F238E27FC236}">
                <a16:creationId xmlns:a16="http://schemas.microsoft.com/office/drawing/2014/main" id="{4F635797-6FAD-442A-B168-D7B310B7C356}"/>
              </a:ext>
            </a:extLst>
          </p:cNvPr>
          <p:cNvSpPr>
            <a:spLocks noGrp="1"/>
          </p:cNvSpPr>
          <p:nvPr/>
        </p:nvSpPr>
        <p:spPr>
          <a:xfrm>
            <a:off x="857250" y="5429250"/>
            <a:ext cx="9906000" cy="400050"/>
          </a:xfrm>
          <a:prstGeom prst="rect">
            <a:avLst/>
          </a:prstGeom>
          <a:noFill/>
          <a:ln w="0">
            <a:noFill/>
            <a:prstDash val="solid"/>
          </a:ln>
        </p:spPr>
        <p:txBody>
          <a:bodyPr anchor="t"/>
          <a:lstStyle/>
          <a:p>
            <a:pPr algn="l">
              <a:defRPr sz="1575" b="0">
                <a:solidFill>
                  <a:srgbClr val="111111"/>
                </a:solidFill>
              </a:defRPr>
            </a:pPr>
            <a:r>
              <a:rPr sz="1575" b="0">
                <a:solidFill>
                  <a:srgbClr val="111111"/>
                </a:solidFill>
              </a:rPr>
              <a:t>• The dashboard makes progress visible to the client and teaching team.</a:t>
            </a:r>
          </a:p>
        </p:txBody>
      </p:sp>
      <p:sp>
        <p:nvSpPr>
          <p:cNvPr id="31" name="矩形 30">
            <a:extLst>
              <a:ext uri="{FF2B5EF4-FFF2-40B4-BE49-F238E27FC236}">
                <a16:creationId xmlns:a16="http://schemas.microsoft.com/office/drawing/2014/main" id="{DE304BFD-2282-4DEF-92FC-A4CDE8BF0691}"/>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5</a:t>
            </a:r>
          </a:p>
        </p:txBody>
      </p:sp>
    </p:spTree>
    <p:extLst>
      <p:ext uri="{BB962C8B-B14F-4D97-AF65-F5344CB8AC3E}">
        <p14:creationId xmlns:p14="http://schemas.microsoft.com/office/powerpoint/2010/main" val="111038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0E710434-D37D-4100-A187-3EE01C733C11}"/>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63F0C164-800E-4CDB-A3EF-F2F817ED1DB3}"/>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Two cohorts make the matching plan stronger</a:t>
            </a:r>
          </a:p>
        </p:txBody>
      </p:sp>
      <p:sp>
        <p:nvSpPr>
          <p:cNvPr id="3" name="矩形 2">
            <a:extLst>
              <a:ext uri="{FF2B5EF4-FFF2-40B4-BE49-F238E27FC236}">
                <a16:creationId xmlns:a16="http://schemas.microsoft.com/office/drawing/2014/main" id="{A4F6878A-B28E-4B59-A594-12CE39EE3C4C}"/>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5AA5FEE8-B468-4C2F-9154-100AACBDE187}"/>
              </a:ext>
            </a:extLst>
          </p:cNvPr>
          <p:cNvSpPr>
            <a:spLocks noGrp="1"/>
          </p:cNvSpPr>
          <p:nvPr/>
        </p:nvSpPr>
        <p:spPr>
          <a:xfrm>
            <a:off x="666750" y="1952625"/>
            <a:ext cx="4762500" cy="2857500"/>
          </a:xfrm>
          <a:prstGeom prst="rect">
            <a:avLst/>
          </a:prstGeom>
          <a:solidFill>
            <a:srgbClr val="F0F2F5"/>
          </a:solidFill>
          <a:ln w="9525">
            <a:solidFill>
              <a:srgbClr val="B8BCC4"/>
            </a:solidFill>
            <a:prstDash val="solid"/>
          </a:ln>
        </p:spPr>
        <p:txBody>
          <a:bodyPr/>
          <a:lstStyle/>
          <a:p>
            <a:endParaRPr lang="zh-CN" altLang="en-US"/>
          </a:p>
        </p:txBody>
      </p:sp>
      <p:sp>
        <p:nvSpPr>
          <p:cNvPr id="5" name="矩形 4">
            <a:extLst>
              <a:ext uri="{FF2B5EF4-FFF2-40B4-BE49-F238E27FC236}">
                <a16:creationId xmlns:a16="http://schemas.microsoft.com/office/drawing/2014/main" id="{8120029E-2EB9-45F9-809B-91A3DC62AA9C}"/>
              </a:ext>
            </a:extLst>
          </p:cNvPr>
          <p:cNvSpPr>
            <a:spLocks noGrp="1"/>
          </p:cNvSpPr>
          <p:nvPr/>
        </p:nvSpPr>
        <p:spPr>
          <a:xfrm>
            <a:off x="6572250" y="1952625"/>
            <a:ext cx="4762500" cy="2857500"/>
          </a:xfrm>
          <a:prstGeom prst="rect">
            <a:avLst/>
          </a:prstGeom>
          <a:solidFill>
            <a:srgbClr val="DDEEFF"/>
          </a:solidFill>
          <a:ln w="9525">
            <a:solidFill>
              <a:srgbClr val="B8BCC4"/>
            </a:solidFill>
            <a:prstDash val="solid"/>
          </a:ln>
        </p:spPr>
        <p:txBody>
          <a:bodyPr/>
          <a:lstStyle/>
          <a:p>
            <a:endParaRPr lang="zh-CN" altLang="en-US"/>
          </a:p>
        </p:txBody>
      </p:sp>
      <p:sp>
        <p:nvSpPr>
          <p:cNvPr id="6" name="矩形 5">
            <a:extLst>
              <a:ext uri="{FF2B5EF4-FFF2-40B4-BE49-F238E27FC236}">
                <a16:creationId xmlns:a16="http://schemas.microsoft.com/office/drawing/2014/main" id="{8C43E931-A81A-4BD2-AD5C-C748972D1F38}"/>
              </a:ext>
            </a:extLst>
          </p:cNvPr>
          <p:cNvSpPr>
            <a:spLocks noGrp="1"/>
          </p:cNvSpPr>
          <p:nvPr/>
        </p:nvSpPr>
        <p:spPr>
          <a:xfrm>
            <a:off x="952500" y="2209800"/>
            <a:ext cx="3619500" cy="323850"/>
          </a:xfrm>
          <a:prstGeom prst="rect">
            <a:avLst/>
          </a:prstGeom>
          <a:noFill/>
          <a:ln w="0">
            <a:noFill/>
            <a:prstDash val="solid"/>
          </a:ln>
        </p:spPr>
        <p:txBody>
          <a:bodyPr anchor="t"/>
          <a:lstStyle/>
          <a:p>
            <a:pPr algn="l">
              <a:defRPr sz="2025" b="1">
                <a:solidFill>
                  <a:srgbClr val="111111"/>
                </a:solidFill>
              </a:defRPr>
            </a:pPr>
            <a:r>
              <a:rPr sz="2025" b="1">
                <a:solidFill>
                  <a:srgbClr val="111111"/>
                </a:solidFill>
              </a:rPr>
              <a:t>Cohort A: calibration</a:t>
            </a:r>
          </a:p>
        </p:txBody>
      </p:sp>
      <p:sp>
        <p:nvSpPr>
          <p:cNvPr id="7" name="矩形 6">
            <a:extLst>
              <a:ext uri="{FF2B5EF4-FFF2-40B4-BE49-F238E27FC236}">
                <a16:creationId xmlns:a16="http://schemas.microsoft.com/office/drawing/2014/main" id="{FC4CDDBA-EA8A-4E70-8D22-7FDE9B6CD6A9}"/>
              </a:ext>
            </a:extLst>
          </p:cNvPr>
          <p:cNvSpPr>
            <a:spLocks noGrp="1"/>
          </p:cNvSpPr>
          <p:nvPr/>
        </p:nvSpPr>
        <p:spPr>
          <a:xfrm>
            <a:off x="952500" y="2647950"/>
            <a:ext cx="3619500" cy="266700"/>
          </a:xfrm>
          <a:prstGeom prst="rect">
            <a:avLst/>
          </a:prstGeom>
          <a:noFill/>
          <a:ln w="0">
            <a:noFill/>
            <a:prstDash val="solid"/>
          </a:ln>
        </p:spPr>
        <p:txBody>
          <a:bodyPr anchor="t"/>
          <a:lstStyle/>
          <a:p>
            <a:pPr algn="l">
              <a:defRPr sz="1650" b="1">
                <a:solidFill>
                  <a:srgbClr val="5A5F68"/>
                </a:solidFill>
              </a:defRPr>
            </a:pPr>
            <a:r>
              <a:rPr sz="1650" b="1">
                <a:solidFill>
                  <a:srgbClr val="5A5F68"/>
                </a:solidFill>
              </a:rPr>
              <a:t>autoPET-IV Task 2 Longitudinal-CT</a:t>
            </a:r>
          </a:p>
        </p:txBody>
      </p:sp>
      <p:sp>
        <p:nvSpPr>
          <p:cNvPr id="8" name="矩形 7">
            <a:extLst>
              <a:ext uri="{FF2B5EF4-FFF2-40B4-BE49-F238E27FC236}">
                <a16:creationId xmlns:a16="http://schemas.microsoft.com/office/drawing/2014/main" id="{03777DF6-7600-4226-87F0-8ED87EC5D489}"/>
              </a:ext>
            </a:extLst>
          </p:cNvPr>
          <p:cNvSpPr>
            <a:spLocks noGrp="1"/>
          </p:cNvSpPr>
          <p:nvPr/>
        </p:nvSpPr>
        <p:spPr>
          <a:xfrm>
            <a:off x="1000125" y="3143250"/>
            <a:ext cx="39052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Expert BL-FU lesion correspondence</a:t>
            </a:r>
          </a:p>
        </p:txBody>
      </p:sp>
      <p:sp>
        <p:nvSpPr>
          <p:cNvPr id="9" name="矩形 8">
            <a:extLst>
              <a:ext uri="{FF2B5EF4-FFF2-40B4-BE49-F238E27FC236}">
                <a16:creationId xmlns:a16="http://schemas.microsoft.com/office/drawing/2014/main" id="{34884284-8CCC-459C-8085-9D6FC4404DA1}"/>
              </a:ext>
            </a:extLst>
          </p:cNvPr>
          <p:cNvSpPr>
            <a:spLocks noGrp="1"/>
          </p:cNvSpPr>
          <p:nvPr/>
        </p:nvSpPr>
        <p:spPr>
          <a:xfrm>
            <a:off x="1000125" y="3619500"/>
            <a:ext cx="39052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Used to test matcher precision and recall</a:t>
            </a:r>
          </a:p>
        </p:txBody>
      </p:sp>
      <p:sp>
        <p:nvSpPr>
          <p:cNvPr id="10" name="矩形 9">
            <a:extLst>
              <a:ext uri="{FF2B5EF4-FFF2-40B4-BE49-F238E27FC236}">
                <a16:creationId xmlns:a16="http://schemas.microsoft.com/office/drawing/2014/main" id="{7A036151-7932-41E7-B326-EB89192B15CC}"/>
              </a:ext>
            </a:extLst>
          </p:cNvPr>
          <p:cNvSpPr>
            <a:spLocks noGrp="1"/>
          </p:cNvSpPr>
          <p:nvPr/>
        </p:nvSpPr>
        <p:spPr>
          <a:xfrm>
            <a:off x="1000125" y="4095750"/>
            <a:ext cx="39052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Freezes matching parameters before deployment</a:t>
            </a:r>
          </a:p>
        </p:txBody>
      </p:sp>
      <p:sp>
        <p:nvSpPr>
          <p:cNvPr id="11" name="矩形 10">
            <a:extLst>
              <a:ext uri="{FF2B5EF4-FFF2-40B4-BE49-F238E27FC236}">
                <a16:creationId xmlns:a16="http://schemas.microsoft.com/office/drawing/2014/main" id="{51F69971-6904-448E-8009-1373A961AEDD}"/>
              </a:ext>
            </a:extLst>
          </p:cNvPr>
          <p:cNvSpPr>
            <a:spLocks noGrp="1"/>
          </p:cNvSpPr>
          <p:nvPr/>
        </p:nvSpPr>
        <p:spPr>
          <a:xfrm>
            <a:off x="6858000" y="2209800"/>
            <a:ext cx="3714750" cy="323850"/>
          </a:xfrm>
          <a:prstGeom prst="rect">
            <a:avLst/>
          </a:prstGeom>
          <a:noFill/>
          <a:ln w="0">
            <a:noFill/>
            <a:prstDash val="solid"/>
          </a:ln>
        </p:spPr>
        <p:txBody>
          <a:bodyPr anchor="t"/>
          <a:lstStyle/>
          <a:p>
            <a:pPr algn="l">
              <a:defRPr sz="2025" b="1">
                <a:solidFill>
                  <a:srgbClr val="111111"/>
                </a:solidFill>
              </a:defRPr>
            </a:pPr>
            <a:r>
              <a:rPr sz="2025" b="1">
                <a:solidFill>
                  <a:srgbClr val="111111"/>
                </a:solidFill>
              </a:rPr>
              <a:t>Cohort B: target analysis</a:t>
            </a:r>
          </a:p>
        </p:txBody>
      </p:sp>
      <p:sp>
        <p:nvSpPr>
          <p:cNvPr id="12" name="矩形 11">
            <a:extLst>
              <a:ext uri="{FF2B5EF4-FFF2-40B4-BE49-F238E27FC236}">
                <a16:creationId xmlns:a16="http://schemas.microsoft.com/office/drawing/2014/main" id="{CEE31FE7-D7C5-417C-B3C5-9D9F4D53557F}"/>
              </a:ext>
            </a:extLst>
          </p:cNvPr>
          <p:cNvSpPr>
            <a:spLocks noGrp="1"/>
          </p:cNvSpPr>
          <p:nvPr/>
        </p:nvSpPr>
        <p:spPr>
          <a:xfrm>
            <a:off x="6858000" y="2647950"/>
            <a:ext cx="3619500" cy="266700"/>
          </a:xfrm>
          <a:prstGeom prst="rect">
            <a:avLst/>
          </a:prstGeom>
          <a:noFill/>
          <a:ln w="0">
            <a:noFill/>
            <a:prstDash val="solid"/>
          </a:ln>
        </p:spPr>
        <p:txBody>
          <a:bodyPr anchor="t"/>
          <a:lstStyle/>
          <a:p>
            <a:pPr algn="l">
              <a:defRPr sz="1650" b="1">
                <a:solidFill>
                  <a:srgbClr val="5A5F68"/>
                </a:solidFill>
              </a:defRPr>
            </a:pPr>
            <a:r>
              <a:rPr sz="1650" b="1">
                <a:solidFill>
                  <a:srgbClr val="5A5F68"/>
                </a:solidFill>
              </a:rPr>
              <a:t>autoPET-III PSMA subset</a:t>
            </a:r>
          </a:p>
        </p:txBody>
      </p:sp>
      <p:sp>
        <p:nvSpPr>
          <p:cNvPr id="13" name="矩形 12">
            <a:extLst>
              <a:ext uri="{FF2B5EF4-FFF2-40B4-BE49-F238E27FC236}">
                <a16:creationId xmlns:a16="http://schemas.microsoft.com/office/drawing/2014/main" id="{F87DEA2B-9A09-48D8-9ACB-A732757CF447}"/>
              </a:ext>
            </a:extLst>
          </p:cNvPr>
          <p:cNvSpPr>
            <a:spLocks noGrp="1"/>
          </p:cNvSpPr>
          <p:nvPr/>
        </p:nvSpPr>
        <p:spPr>
          <a:xfrm>
            <a:off x="6905625" y="3143250"/>
            <a:ext cx="39052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PET/CT scans already in SUV units</a:t>
            </a:r>
          </a:p>
        </p:txBody>
      </p:sp>
      <p:sp>
        <p:nvSpPr>
          <p:cNvPr id="14" name="矩形 13">
            <a:extLst>
              <a:ext uri="{FF2B5EF4-FFF2-40B4-BE49-F238E27FC236}">
                <a16:creationId xmlns:a16="http://schemas.microsoft.com/office/drawing/2014/main" id="{249215A7-E0E6-4E3B-AD27-2120568FA5E3}"/>
              </a:ext>
            </a:extLst>
          </p:cNvPr>
          <p:cNvSpPr>
            <a:spLocks noGrp="1"/>
          </p:cNvSpPr>
          <p:nvPr/>
        </p:nvSpPr>
        <p:spPr>
          <a:xfrm>
            <a:off x="6905625" y="3619500"/>
            <a:ext cx="39052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Provided lesion masks for each scan</a:t>
            </a:r>
          </a:p>
        </p:txBody>
      </p:sp>
      <p:sp>
        <p:nvSpPr>
          <p:cNvPr id="15" name="矩形 14">
            <a:extLst>
              <a:ext uri="{FF2B5EF4-FFF2-40B4-BE49-F238E27FC236}">
                <a16:creationId xmlns:a16="http://schemas.microsoft.com/office/drawing/2014/main" id="{14977F09-6665-4703-A86E-904FFBBECF5C}"/>
              </a:ext>
            </a:extLst>
          </p:cNvPr>
          <p:cNvSpPr>
            <a:spLocks noGrp="1"/>
          </p:cNvSpPr>
          <p:nvPr/>
        </p:nvSpPr>
        <p:spPr>
          <a:xfrm>
            <a:off x="6905625" y="4095750"/>
            <a:ext cx="3905250" cy="400050"/>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 Patient pairs recovered from hash and date</a:t>
            </a:r>
          </a:p>
        </p:txBody>
      </p:sp>
      <p:sp>
        <p:nvSpPr>
          <p:cNvPr id="16" name="矩形 15">
            <a:extLst>
              <a:ext uri="{FF2B5EF4-FFF2-40B4-BE49-F238E27FC236}">
                <a16:creationId xmlns:a16="http://schemas.microsoft.com/office/drawing/2014/main" id="{2E881712-B674-4A84-BAE6-E9BE3CFF92B7}"/>
              </a:ext>
            </a:extLst>
          </p:cNvPr>
          <p:cNvSpPr>
            <a:spLocks noGrp="1"/>
          </p:cNvSpPr>
          <p:nvPr/>
        </p:nvSpPr>
        <p:spPr>
          <a:xfrm>
            <a:off x="1143000" y="5476875"/>
            <a:ext cx="9429750" cy="361950"/>
          </a:xfrm>
          <a:prstGeom prst="rect">
            <a:avLst/>
          </a:prstGeom>
          <a:noFill/>
          <a:ln w="0">
            <a:noFill/>
            <a:prstDash val="solid"/>
          </a:ln>
        </p:spPr>
        <p:txBody>
          <a:bodyPr anchor="t"/>
          <a:lstStyle/>
          <a:p>
            <a:pPr algn="ctr">
              <a:defRPr sz="1725" b="1">
                <a:solidFill>
                  <a:srgbClr val="111111"/>
                </a:solidFill>
              </a:defRPr>
            </a:pPr>
            <a:r>
              <a:rPr sz="1725" b="1">
                <a:solidFill>
                  <a:srgbClr val="111111"/>
                </a:solidFill>
              </a:rPr>
              <a:t>Development starts with 10-15 cases, then scales after registration and matching are stable.</a:t>
            </a:r>
          </a:p>
        </p:txBody>
      </p:sp>
      <p:sp>
        <p:nvSpPr>
          <p:cNvPr id="17" name="矩形 16">
            <a:extLst>
              <a:ext uri="{FF2B5EF4-FFF2-40B4-BE49-F238E27FC236}">
                <a16:creationId xmlns:a16="http://schemas.microsoft.com/office/drawing/2014/main" id="{B5A7F24B-D609-4B9E-9863-1C9B5C079029}"/>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6</a:t>
            </a:r>
          </a:p>
        </p:txBody>
      </p:sp>
    </p:spTree>
    <p:extLst>
      <p:ext uri="{BB962C8B-B14F-4D97-AF65-F5344CB8AC3E}">
        <p14:creationId xmlns:p14="http://schemas.microsoft.com/office/powerpoint/2010/main" val="1625319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D1E245AE-462D-43AE-9010-D0C1B0A39229}"/>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79382336-81DC-45CF-BAA3-DB065606CDD4}"/>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Lesion matching turns scans into trajectories</a:t>
            </a:r>
          </a:p>
        </p:txBody>
      </p:sp>
      <p:sp>
        <p:nvSpPr>
          <p:cNvPr id="3" name="矩形 2">
            <a:extLst>
              <a:ext uri="{FF2B5EF4-FFF2-40B4-BE49-F238E27FC236}">
                <a16:creationId xmlns:a16="http://schemas.microsoft.com/office/drawing/2014/main" id="{57F9D8CF-5C6D-4CC0-A36F-B4C4270772FF}"/>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8E08C16B-F80C-4991-9C32-590685589796}"/>
              </a:ext>
            </a:extLst>
          </p:cNvPr>
          <p:cNvSpPr>
            <a:spLocks noGrp="1"/>
          </p:cNvSpPr>
          <p:nvPr/>
        </p:nvSpPr>
        <p:spPr>
          <a:xfrm>
            <a:off x="857250" y="1952625"/>
            <a:ext cx="2476500" cy="323850"/>
          </a:xfrm>
          <a:prstGeom prst="rect">
            <a:avLst/>
          </a:prstGeom>
          <a:noFill/>
          <a:ln w="0">
            <a:noFill/>
            <a:prstDash val="solid"/>
          </a:ln>
        </p:spPr>
        <p:txBody>
          <a:bodyPr anchor="t"/>
          <a:lstStyle/>
          <a:p>
            <a:pPr algn="l">
              <a:defRPr sz="2025" b="1">
                <a:solidFill>
                  <a:srgbClr val="111111"/>
                </a:solidFill>
              </a:defRPr>
            </a:pPr>
            <a:r>
              <a:rPr sz="2025" b="1">
                <a:solidFill>
                  <a:srgbClr val="111111"/>
                </a:solidFill>
              </a:rPr>
              <a:t>Baseline scan</a:t>
            </a:r>
          </a:p>
        </p:txBody>
      </p:sp>
      <p:sp>
        <p:nvSpPr>
          <p:cNvPr id="5" name="矩形 4">
            <a:extLst>
              <a:ext uri="{FF2B5EF4-FFF2-40B4-BE49-F238E27FC236}">
                <a16:creationId xmlns:a16="http://schemas.microsoft.com/office/drawing/2014/main" id="{4CF30A94-3A94-4587-AC8C-67F04D71019A}"/>
              </a:ext>
            </a:extLst>
          </p:cNvPr>
          <p:cNvSpPr>
            <a:spLocks noGrp="1"/>
          </p:cNvSpPr>
          <p:nvPr/>
        </p:nvSpPr>
        <p:spPr>
          <a:xfrm>
            <a:off x="8524875" y="1952625"/>
            <a:ext cx="2476500" cy="323850"/>
          </a:xfrm>
          <a:prstGeom prst="rect">
            <a:avLst/>
          </a:prstGeom>
          <a:noFill/>
          <a:ln w="0">
            <a:noFill/>
            <a:prstDash val="solid"/>
          </a:ln>
        </p:spPr>
        <p:txBody>
          <a:bodyPr anchor="t"/>
          <a:lstStyle/>
          <a:p>
            <a:pPr algn="l">
              <a:defRPr sz="2025" b="1">
                <a:solidFill>
                  <a:srgbClr val="111111"/>
                </a:solidFill>
              </a:defRPr>
            </a:pPr>
            <a:r>
              <a:rPr sz="2025" b="1">
                <a:solidFill>
                  <a:srgbClr val="111111"/>
                </a:solidFill>
              </a:rPr>
              <a:t>Follow-up scan</a:t>
            </a:r>
          </a:p>
        </p:txBody>
      </p:sp>
      <p:sp>
        <p:nvSpPr>
          <p:cNvPr id="18" name="矩形 17">
            <a:extLst>
              <a:ext uri="{FF2B5EF4-FFF2-40B4-BE49-F238E27FC236}">
                <a16:creationId xmlns:a16="http://schemas.microsoft.com/office/drawing/2014/main" id="{216FAB5F-4D1B-4275-8B64-C90E59CF2270}"/>
              </a:ext>
            </a:extLst>
          </p:cNvPr>
          <p:cNvSpPr>
            <a:spLocks noGrp="1"/>
          </p:cNvSpPr>
          <p:nvPr/>
        </p:nvSpPr>
        <p:spPr>
          <a:xfrm>
            <a:off x="4698766" y="2559244"/>
            <a:ext cx="2571750" cy="2476500"/>
          </a:xfrm>
          <a:prstGeom prst="rect">
            <a:avLst/>
          </a:prstGeom>
          <a:solidFill>
            <a:srgbClr val="111111"/>
          </a:solidFill>
          <a:ln w="9525">
            <a:solidFill>
              <a:srgbClr val="111111"/>
            </a:solidFill>
            <a:prstDash val="solid"/>
          </a:ln>
        </p:spPr>
        <p:txBody>
          <a:bodyPr/>
          <a:lstStyle/>
          <a:p>
            <a:endParaRPr lang="zh-CN" altLang="en-US"/>
          </a:p>
        </p:txBody>
      </p:sp>
      <p:sp>
        <p:nvSpPr>
          <p:cNvPr id="19" name="矩形 18">
            <a:extLst>
              <a:ext uri="{FF2B5EF4-FFF2-40B4-BE49-F238E27FC236}">
                <a16:creationId xmlns:a16="http://schemas.microsoft.com/office/drawing/2014/main" id="{4D1C6747-7E95-4477-B6E1-3E76AE608786}"/>
              </a:ext>
            </a:extLst>
          </p:cNvPr>
          <p:cNvSpPr>
            <a:spLocks noGrp="1"/>
          </p:cNvSpPr>
          <p:nvPr/>
        </p:nvSpPr>
        <p:spPr>
          <a:xfrm>
            <a:off x="4984516" y="2844994"/>
            <a:ext cx="2000250" cy="323850"/>
          </a:xfrm>
          <a:prstGeom prst="rect">
            <a:avLst/>
          </a:prstGeom>
          <a:noFill/>
          <a:ln w="0">
            <a:noFill/>
            <a:prstDash val="solid"/>
          </a:ln>
        </p:spPr>
        <p:txBody>
          <a:bodyPr anchor="t"/>
          <a:lstStyle/>
          <a:p>
            <a:pPr algn="l">
              <a:defRPr sz="2100" b="1">
                <a:solidFill>
                  <a:srgbClr val="FFFFFF"/>
                </a:solidFill>
              </a:defRPr>
            </a:pPr>
            <a:r>
              <a:rPr sz="2100" b="1" dirty="0">
                <a:solidFill>
                  <a:srgbClr val="FFFFFF"/>
                </a:solidFill>
              </a:rPr>
              <a:t>Matching rules</a:t>
            </a:r>
          </a:p>
        </p:txBody>
      </p:sp>
      <p:sp>
        <p:nvSpPr>
          <p:cNvPr id="20" name="矩形 19">
            <a:extLst>
              <a:ext uri="{FF2B5EF4-FFF2-40B4-BE49-F238E27FC236}">
                <a16:creationId xmlns:a16="http://schemas.microsoft.com/office/drawing/2014/main" id="{53578450-4692-49F4-AB1D-311CFB385F95}"/>
              </a:ext>
            </a:extLst>
          </p:cNvPr>
          <p:cNvSpPr>
            <a:spLocks noGrp="1"/>
          </p:cNvSpPr>
          <p:nvPr/>
        </p:nvSpPr>
        <p:spPr>
          <a:xfrm>
            <a:off x="4984516" y="3416494"/>
            <a:ext cx="2000250" cy="1095375"/>
          </a:xfrm>
          <a:prstGeom prst="rect">
            <a:avLst/>
          </a:prstGeom>
          <a:noFill/>
          <a:ln w="0">
            <a:noFill/>
            <a:prstDash val="solid"/>
          </a:ln>
        </p:spPr>
        <p:txBody>
          <a:bodyPr anchor="t"/>
          <a:lstStyle/>
          <a:p>
            <a:pPr algn="l">
              <a:defRPr sz="1575" b="0">
                <a:solidFill>
                  <a:srgbClr val="FFFFFF"/>
                </a:solidFill>
              </a:defRPr>
            </a:pPr>
            <a:r>
              <a:rPr sz="1575" b="0" dirty="0">
                <a:solidFill>
                  <a:srgbClr val="FFFFFF"/>
                </a:solidFill>
              </a:rPr>
              <a:t>1. Same broad region</a:t>
            </a:r>
          </a:p>
          <a:p>
            <a:pPr algn="l">
              <a:defRPr sz="1575" b="0">
                <a:solidFill>
                  <a:srgbClr val="FFFFFF"/>
                </a:solidFill>
              </a:defRPr>
            </a:pPr>
            <a:r>
              <a:rPr sz="1575" b="0" dirty="0">
                <a:solidFill>
                  <a:srgbClr val="FFFFFF"/>
                </a:solidFill>
              </a:rPr>
              <a:t>2. Short centroid distance</a:t>
            </a:r>
          </a:p>
          <a:p>
            <a:pPr algn="l">
              <a:defRPr sz="1575" b="0">
                <a:solidFill>
                  <a:srgbClr val="FFFFFF"/>
                </a:solidFill>
              </a:defRPr>
            </a:pPr>
            <a:r>
              <a:rPr sz="1575" b="0" dirty="0">
                <a:solidFill>
                  <a:srgbClr val="FFFFFF"/>
                </a:solidFill>
              </a:rPr>
              <a:t>3. Mask overlap after alignment</a:t>
            </a:r>
          </a:p>
        </p:txBody>
      </p:sp>
      <p:sp>
        <p:nvSpPr>
          <p:cNvPr id="21" name="矩形 20">
            <a:extLst>
              <a:ext uri="{FF2B5EF4-FFF2-40B4-BE49-F238E27FC236}">
                <a16:creationId xmlns:a16="http://schemas.microsoft.com/office/drawing/2014/main" id="{2C778A2E-AC9C-445B-896E-8251FD73B6D2}"/>
              </a:ext>
            </a:extLst>
          </p:cNvPr>
          <p:cNvSpPr>
            <a:spLocks noGrp="1"/>
          </p:cNvSpPr>
          <p:nvPr/>
        </p:nvSpPr>
        <p:spPr>
          <a:xfrm>
            <a:off x="2857500" y="5572125"/>
            <a:ext cx="6667500" cy="323850"/>
          </a:xfrm>
          <a:prstGeom prst="rect">
            <a:avLst/>
          </a:prstGeom>
          <a:noFill/>
          <a:ln w="0">
            <a:noFill/>
            <a:prstDash val="solid"/>
          </a:ln>
        </p:spPr>
        <p:txBody>
          <a:bodyPr anchor="t"/>
          <a:lstStyle/>
          <a:p>
            <a:pPr algn="ctr">
              <a:defRPr sz="1800" b="1">
                <a:solidFill>
                  <a:srgbClr val="111111"/>
                </a:solidFill>
              </a:defRPr>
            </a:pPr>
            <a:r>
              <a:rPr sz="1800" b="1">
                <a:solidFill>
                  <a:srgbClr val="111111"/>
                </a:solidFill>
              </a:rPr>
              <a:t>Labels: persistent, newly detected, no longer detected</a:t>
            </a:r>
          </a:p>
        </p:txBody>
      </p:sp>
      <p:sp>
        <p:nvSpPr>
          <p:cNvPr id="22" name="矩形 21">
            <a:extLst>
              <a:ext uri="{FF2B5EF4-FFF2-40B4-BE49-F238E27FC236}">
                <a16:creationId xmlns:a16="http://schemas.microsoft.com/office/drawing/2014/main" id="{1B32ABE0-5898-441A-972D-D8B69FFA4294}"/>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7</a:t>
            </a:r>
          </a:p>
        </p:txBody>
      </p:sp>
      <p:pic>
        <p:nvPicPr>
          <p:cNvPr id="25" name="图片 24">
            <a:extLst>
              <a:ext uri="{FF2B5EF4-FFF2-40B4-BE49-F238E27FC236}">
                <a16:creationId xmlns:a16="http://schemas.microsoft.com/office/drawing/2014/main" id="{C1E316BD-6623-850C-B13B-F11B92D3D8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845" y="2539685"/>
            <a:ext cx="2952109" cy="2921630"/>
          </a:xfrm>
          <a:prstGeom prst="rect">
            <a:avLst/>
          </a:prstGeom>
        </p:spPr>
      </p:pic>
      <p:pic>
        <p:nvPicPr>
          <p:cNvPr id="27" name="图片 26">
            <a:extLst>
              <a:ext uri="{FF2B5EF4-FFF2-40B4-BE49-F238E27FC236}">
                <a16:creationId xmlns:a16="http://schemas.microsoft.com/office/drawing/2014/main" id="{099B0D0E-1FD9-CBFC-4AF2-23DDB47095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5329" y="2524312"/>
            <a:ext cx="3035592" cy="2912050"/>
          </a:xfrm>
          <a:prstGeom prst="rect">
            <a:avLst/>
          </a:prstGeom>
        </p:spPr>
      </p:pic>
    </p:spTree>
    <p:extLst>
      <p:ext uri="{BB962C8B-B14F-4D97-AF65-F5344CB8AC3E}">
        <p14:creationId xmlns:p14="http://schemas.microsoft.com/office/powerpoint/2010/main" val="1757179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29B0F62A-7F70-4EC3-9E84-CF913FD962CC}"/>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D73ED2A9-63FB-4F74-A8AD-F7BCE21DEF47}"/>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Success is measured by usable outputs</a:t>
            </a:r>
          </a:p>
        </p:txBody>
      </p:sp>
      <p:sp>
        <p:nvSpPr>
          <p:cNvPr id="3" name="矩形 2">
            <a:extLst>
              <a:ext uri="{FF2B5EF4-FFF2-40B4-BE49-F238E27FC236}">
                <a16:creationId xmlns:a16="http://schemas.microsoft.com/office/drawing/2014/main" id="{26BFA0CB-EFFD-4FD1-8CB9-7094CDDBCF98}"/>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2F879914-9ED1-452D-B9FC-FD0EB61E42F8}"/>
              </a:ext>
            </a:extLst>
          </p:cNvPr>
          <p:cNvSpPr>
            <a:spLocks noGrp="1"/>
          </p:cNvSpPr>
          <p:nvPr/>
        </p:nvSpPr>
        <p:spPr>
          <a:xfrm>
            <a:off x="762000" y="1857375"/>
            <a:ext cx="4095750" cy="30480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Deliverables</a:t>
            </a:r>
          </a:p>
        </p:txBody>
      </p:sp>
      <p:sp>
        <p:nvSpPr>
          <p:cNvPr id="5" name="矩形 4">
            <a:extLst>
              <a:ext uri="{FF2B5EF4-FFF2-40B4-BE49-F238E27FC236}">
                <a16:creationId xmlns:a16="http://schemas.microsoft.com/office/drawing/2014/main" id="{A7C9614B-EFDE-4C30-86D9-EA4BF4C00579}"/>
              </a:ext>
            </a:extLst>
          </p:cNvPr>
          <p:cNvSpPr>
            <a:spLocks noGrp="1"/>
          </p:cNvSpPr>
          <p:nvPr/>
        </p:nvSpPr>
        <p:spPr>
          <a:xfrm>
            <a:off x="6762750" y="1857375"/>
            <a:ext cx="4095750" cy="304800"/>
          </a:xfrm>
          <a:prstGeom prst="rect">
            <a:avLst/>
          </a:prstGeom>
          <a:noFill/>
          <a:ln w="0">
            <a:noFill/>
            <a:prstDash val="solid"/>
          </a:ln>
        </p:spPr>
        <p:txBody>
          <a:bodyPr anchor="t"/>
          <a:lstStyle/>
          <a:p>
            <a:pPr algn="l">
              <a:defRPr sz="1800" b="1">
                <a:solidFill>
                  <a:srgbClr val="111111"/>
                </a:solidFill>
              </a:defRPr>
            </a:pPr>
            <a:r>
              <a:rPr sz="1800" b="1">
                <a:solidFill>
                  <a:srgbClr val="111111"/>
                </a:solidFill>
              </a:rPr>
              <a:t>Success criteria</a:t>
            </a:r>
          </a:p>
        </p:txBody>
      </p:sp>
      <p:sp>
        <p:nvSpPr>
          <p:cNvPr id="6" name="矩形 5">
            <a:extLst>
              <a:ext uri="{FF2B5EF4-FFF2-40B4-BE49-F238E27FC236}">
                <a16:creationId xmlns:a16="http://schemas.microsoft.com/office/drawing/2014/main" id="{E6470D00-F664-4E8D-BF07-7764E222284A}"/>
              </a:ext>
            </a:extLst>
          </p:cNvPr>
          <p:cNvSpPr>
            <a:spLocks noGrp="1"/>
          </p:cNvSpPr>
          <p:nvPr/>
        </p:nvSpPr>
        <p:spPr>
          <a:xfrm>
            <a:off x="904875" y="2476500"/>
            <a:ext cx="447675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Reproducible Python pipeline</a:t>
            </a:r>
          </a:p>
        </p:txBody>
      </p:sp>
      <p:sp>
        <p:nvSpPr>
          <p:cNvPr id="7" name="矩形 6">
            <a:extLst>
              <a:ext uri="{FF2B5EF4-FFF2-40B4-BE49-F238E27FC236}">
                <a16:creationId xmlns:a16="http://schemas.microsoft.com/office/drawing/2014/main" id="{29E677E8-7277-42DB-AE6B-7FAE51027729}"/>
              </a:ext>
            </a:extLst>
          </p:cNvPr>
          <p:cNvSpPr>
            <a:spLocks noGrp="1"/>
          </p:cNvSpPr>
          <p:nvPr/>
        </p:nvSpPr>
        <p:spPr>
          <a:xfrm>
            <a:off x="904875" y="3028950"/>
            <a:ext cx="447675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Lesion and patient CSV tables</a:t>
            </a:r>
          </a:p>
        </p:txBody>
      </p:sp>
      <p:sp>
        <p:nvSpPr>
          <p:cNvPr id="8" name="矩形 7">
            <a:extLst>
              <a:ext uri="{FF2B5EF4-FFF2-40B4-BE49-F238E27FC236}">
                <a16:creationId xmlns:a16="http://schemas.microsoft.com/office/drawing/2014/main" id="{C9D4B7C4-A24D-4FE0-A3BD-657C5903162A}"/>
              </a:ext>
            </a:extLst>
          </p:cNvPr>
          <p:cNvSpPr>
            <a:spLocks noGrp="1"/>
          </p:cNvSpPr>
          <p:nvPr/>
        </p:nvSpPr>
        <p:spPr>
          <a:xfrm>
            <a:off x="904875" y="3581400"/>
            <a:ext cx="447675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Matching and change outputs</a:t>
            </a:r>
          </a:p>
        </p:txBody>
      </p:sp>
      <p:sp>
        <p:nvSpPr>
          <p:cNvPr id="9" name="矩形 8">
            <a:extLst>
              <a:ext uri="{FF2B5EF4-FFF2-40B4-BE49-F238E27FC236}">
                <a16:creationId xmlns:a16="http://schemas.microsoft.com/office/drawing/2014/main" id="{CCC2F301-778B-4B44-BBED-70B3881C90DE}"/>
              </a:ext>
            </a:extLst>
          </p:cNvPr>
          <p:cNvSpPr>
            <a:spLocks noGrp="1"/>
          </p:cNvSpPr>
          <p:nvPr/>
        </p:nvSpPr>
        <p:spPr>
          <a:xfrm>
            <a:off x="904875" y="4133850"/>
            <a:ext cx="447675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Waterfall and region-level plots</a:t>
            </a:r>
          </a:p>
        </p:txBody>
      </p:sp>
      <p:sp>
        <p:nvSpPr>
          <p:cNvPr id="10" name="矩形 9">
            <a:extLst>
              <a:ext uri="{FF2B5EF4-FFF2-40B4-BE49-F238E27FC236}">
                <a16:creationId xmlns:a16="http://schemas.microsoft.com/office/drawing/2014/main" id="{20BF24AA-9559-4815-B2CE-5BC7887BFF94}"/>
              </a:ext>
            </a:extLst>
          </p:cNvPr>
          <p:cNvSpPr>
            <a:spLocks noGrp="1"/>
          </p:cNvSpPr>
          <p:nvPr/>
        </p:nvSpPr>
        <p:spPr>
          <a:xfrm>
            <a:off x="904875" y="4686300"/>
            <a:ext cx="447675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Streamlit dashboard and final report</a:t>
            </a:r>
          </a:p>
        </p:txBody>
      </p:sp>
      <p:sp>
        <p:nvSpPr>
          <p:cNvPr id="11" name="矩形 10">
            <a:extLst>
              <a:ext uri="{FF2B5EF4-FFF2-40B4-BE49-F238E27FC236}">
                <a16:creationId xmlns:a16="http://schemas.microsoft.com/office/drawing/2014/main" id="{62CD2B62-8EC7-42C1-AD00-7237502B9F92}"/>
              </a:ext>
            </a:extLst>
          </p:cNvPr>
          <p:cNvSpPr>
            <a:spLocks noGrp="1"/>
          </p:cNvSpPr>
          <p:nvPr/>
        </p:nvSpPr>
        <p:spPr>
          <a:xfrm>
            <a:off x="6905625" y="2476500"/>
            <a:ext cx="419100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Processes selected multi-timepoint patients</a:t>
            </a:r>
          </a:p>
        </p:txBody>
      </p:sp>
      <p:sp>
        <p:nvSpPr>
          <p:cNvPr id="12" name="矩形 11">
            <a:extLst>
              <a:ext uri="{FF2B5EF4-FFF2-40B4-BE49-F238E27FC236}">
                <a16:creationId xmlns:a16="http://schemas.microsoft.com/office/drawing/2014/main" id="{0134B7A0-1978-484A-BC22-0CA696C95E1E}"/>
              </a:ext>
            </a:extLst>
          </p:cNvPr>
          <p:cNvSpPr>
            <a:spLocks noGrp="1"/>
          </p:cNvSpPr>
          <p:nvPr/>
        </p:nvSpPr>
        <p:spPr>
          <a:xfrm>
            <a:off x="6905625" y="3028950"/>
            <a:ext cx="419100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Produces clear lesion and patient summaries</a:t>
            </a:r>
          </a:p>
        </p:txBody>
      </p:sp>
      <p:sp>
        <p:nvSpPr>
          <p:cNvPr id="13" name="矩形 12">
            <a:extLst>
              <a:ext uri="{FF2B5EF4-FFF2-40B4-BE49-F238E27FC236}">
                <a16:creationId xmlns:a16="http://schemas.microsoft.com/office/drawing/2014/main" id="{F5655C07-403D-41BC-B79D-72DA28671536}"/>
              </a:ext>
            </a:extLst>
          </p:cNvPr>
          <p:cNvSpPr>
            <a:spLocks noGrp="1"/>
          </p:cNvSpPr>
          <p:nvPr/>
        </p:nvSpPr>
        <p:spPr>
          <a:xfrm>
            <a:off x="6905625" y="3581400"/>
            <a:ext cx="419100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Shows plots and matched lesions</a:t>
            </a:r>
          </a:p>
        </p:txBody>
      </p:sp>
      <p:sp>
        <p:nvSpPr>
          <p:cNvPr id="14" name="矩形 13">
            <a:extLst>
              <a:ext uri="{FF2B5EF4-FFF2-40B4-BE49-F238E27FC236}">
                <a16:creationId xmlns:a16="http://schemas.microsoft.com/office/drawing/2014/main" id="{E1F6A629-74F3-49B6-BF6A-926007ED5B33}"/>
              </a:ext>
            </a:extLst>
          </p:cNvPr>
          <p:cNvSpPr>
            <a:spLocks noGrp="1"/>
          </p:cNvSpPr>
          <p:nvPr/>
        </p:nvSpPr>
        <p:spPr>
          <a:xfrm>
            <a:off x="6905625" y="4133850"/>
            <a:ext cx="419100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Includes tests and validation checks</a:t>
            </a:r>
          </a:p>
        </p:txBody>
      </p:sp>
      <p:sp>
        <p:nvSpPr>
          <p:cNvPr id="15" name="矩形 14">
            <a:extLst>
              <a:ext uri="{FF2B5EF4-FFF2-40B4-BE49-F238E27FC236}">
                <a16:creationId xmlns:a16="http://schemas.microsoft.com/office/drawing/2014/main" id="{17487CFB-1315-4F9F-8C29-3A5EBEEF18DD}"/>
              </a:ext>
            </a:extLst>
          </p:cNvPr>
          <p:cNvSpPr>
            <a:spLocks noGrp="1"/>
          </p:cNvSpPr>
          <p:nvPr/>
        </p:nvSpPr>
        <p:spPr>
          <a:xfrm>
            <a:off x="6905625" y="4686300"/>
            <a:ext cx="4191000" cy="400050"/>
          </a:xfrm>
          <a:prstGeom prst="rect">
            <a:avLst/>
          </a:prstGeom>
          <a:noFill/>
          <a:ln w="0">
            <a:noFill/>
            <a:prstDash val="solid"/>
          </a:ln>
        </p:spPr>
        <p:txBody>
          <a:bodyPr anchor="t"/>
          <a:lstStyle/>
          <a:p>
            <a:pPr algn="l">
              <a:defRPr sz="1650" b="0">
                <a:solidFill>
                  <a:srgbClr val="111111"/>
                </a:solidFill>
              </a:defRPr>
            </a:pPr>
            <a:r>
              <a:rPr sz="1650" b="0">
                <a:solidFill>
                  <a:srgbClr val="111111"/>
                </a:solidFill>
              </a:rPr>
              <a:t>• States research-only guardrails</a:t>
            </a:r>
          </a:p>
        </p:txBody>
      </p:sp>
      <p:sp>
        <p:nvSpPr>
          <p:cNvPr id="16" name="矩形 15">
            <a:extLst>
              <a:ext uri="{FF2B5EF4-FFF2-40B4-BE49-F238E27FC236}">
                <a16:creationId xmlns:a16="http://schemas.microsoft.com/office/drawing/2014/main" id="{BF79A36F-90C4-47C7-BC05-9E8FF2509DB7}"/>
              </a:ext>
            </a:extLst>
          </p:cNvPr>
          <p:cNvSpPr>
            <a:spLocks noGrp="1"/>
          </p:cNvSpPr>
          <p:nvPr/>
        </p:nvSpPr>
        <p:spPr>
          <a:xfrm>
            <a:off x="6096000" y="1952625"/>
            <a:ext cx="9525" cy="3714750"/>
          </a:xfrm>
          <a:prstGeom prst="rect">
            <a:avLst/>
          </a:prstGeom>
          <a:solidFill>
            <a:srgbClr val="B8BCC4"/>
          </a:solidFill>
          <a:ln w="0">
            <a:solidFill>
              <a:srgbClr val="B8BCC4"/>
            </a:solidFill>
            <a:prstDash val="solid"/>
          </a:ln>
        </p:spPr>
        <p:txBody>
          <a:bodyPr/>
          <a:lstStyle/>
          <a:p>
            <a:endParaRPr lang="zh-CN" altLang="en-US"/>
          </a:p>
        </p:txBody>
      </p:sp>
      <p:sp>
        <p:nvSpPr>
          <p:cNvPr id="17" name="矩形 16">
            <a:extLst>
              <a:ext uri="{FF2B5EF4-FFF2-40B4-BE49-F238E27FC236}">
                <a16:creationId xmlns:a16="http://schemas.microsoft.com/office/drawing/2014/main" id="{30444989-8121-4E6A-9937-BDDDA8CE6165}"/>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8</a:t>
            </a:r>
          </a:p>
        </p:txBody>
      </p:sp>
    </p:spTree>
    <p:extLst>
      <p:ext uri="{BB962C8B-B14F-4D97-AF65-F5344CB8AC3E}">
        <p14:creationId xmlns:p14="http://schemas.microsoft.com/office/powerpoint/2010/main" val="649690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C41F6DA9-6486-4E94-8050-35743F1EF311}"/>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21960872-4E60-42DE-B25A-611DA3333EB3}"/>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The schedule follows the course assessment checkpoints</a:t>
            </a:r>
          </a:p>
        </p:txBody>
      </p:sp>
      <p:sp>
        <p:nvSpPr>
          <p:cNvPr id="3" name="矩形 2">
            <a:extLst>
              <a:ext uri="{FF2B5EF4-FFF2-40B4-BE49-F238E27FC236}">
                <a16:creationId xmlns:a16="http://schemas.microsoft.com/office/drawing/2014/main" id="{5651DB14-4FBA-4C37-8D6B-985028A2B209}"/>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DACFFB1E-FC65-4422-A5A7-109F7A2DFB53}"/>
              </a:ext>
            </a:extLst>
          </p:cNvPr>
          <p:cNvSpPr>
            <a:spLocks noGrp="1"/>
          </p:cNvSpPr>
          <p:nvPr/>
        </p:nvSpPr>
        <p:spPr>
          <a:xfrm>
            <a:off x="21907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1</a:t>
            </a:r>
          </a:p>
        </p:txBody>
      </p:sp>
      <p:sp>
        <p:nvSpPr>
          <p:cNvPr id="5" name="矩形 4">
            <a:extLst>
              <a:ext uri="{FF2B5EF4-FFF2-40B4-BE49-F238E27FC236}">
                <a16:creationId xmlns:a16="http://schemas.microsoft.com/office/drawing/2014/main" id="{B1257E8E-A17A-43C6-B981-814A90804693}"/>
              </a:ext>
            </a:extLst>
          </p:cNvPr>
          <p:cNvSpPr>
            <a:spLocks noGrp="1"/>
          </p:cNvSpPr>
          <p:nvPr/>
        </p:nvSpPr>
        <p:spPr>
          <a:xfrm>
            <a:off x="21907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6" name="矩形 5">
            <a:extLst>
              <a:ext uri="{FF2B5EF4-FFF2-40B4-BE49-F238E27FC236}">
                <a16:creationId xmlns:a16="http://schemas.microsoft.com/office/drawing/2014/main" id="{1C807AB3-4E9F-4084-9FE7-4430978B9C83}"/>
              </a:ext>
            </a:extLst>
          </p:cNvPr>
          <p:cNvSpPr>
            <a:spLocks noGrp="1"/>
          </p:cNvSpPr>
          <p:nvPr/>
        </p:nvSpPr>
        <p:spPr>
          <a:xfrm>
            <a:off x="278130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2</a:t>
            </a:r>
          </a:p>
        </p:txBody>
      </p:sp>
      <p:sp>
        <p:nvSpPr>
          <p:cNvPr id="7" name="矩形 6">
            <a:extLst>
              <a:ext uri="{FF2B5EF4-FFF2-40B4-BE49-F238E27FC236}">
                <a16:creationId xmlns:a16="http://schemas.microsoft.com/office/drawing/2014/main" id="{BEC02694-A030-4F31-8995-A6C016C598A4}"/>
              </a:ext>
            </a:extLst>
          </p:cNvPr>
          <p:cNvSpPr>
            <a:spLocks noGrp="1"/>
          </p:cNvSpPr>
          <p:nvPr/>
        </p:nvSpPr>
        <p:spPr>
          <a:xfrm>
            <a:off x="278130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8" name="矩形 7">
            <a:extLst>
              <a:ext uri="{FF2B5EF4-FFF2-40B4-BE49-F238E27FC236}">
                <a16:creationId xmlns:a16="http://schemas.microsoft.com/office/drawing/2014/main" id="{C679663B-994A-41E6-A14B-C4FFADB1B0C1}"/>
              </a:ext>
            </a:extLst>
          </p:cNvPr>
          <p:cNvSpPr>
            <a:spLocks noGrp="1"/>
          </p:cNvSpPr>
          <p:nvPr/>
        </p:nvSpPr>
        <p:spPr>
          <a:xfrm>
            <a:off x="33718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3</a:t>
            </a:r>
          </a:p>
        </p:txBody>
      </p:sp>
      <p:sp>
        <p:nvSpPr>
          <p:cNvPr id="9" name="矩形 8">
            <a:extLst>
              <a:ext uri="{FF2B5EF4-FFF2-40B4-BE49-F238E27FC236}">
                <a16:creationId xmlns:a16="http://schemas.microsoft.com/office/drawing/2014/main" id="{4FB55E98-3A11-4F84-B908-7B06FB16E2F1}"/>
              </a:ext>
            </a:extLst>
          </p:cNvPr>
          <p:cNvSpPr>
            <a:spLocks noGrp="1"/>
          </p:cNvSpPr>
          <p:nvPr/>
        </p:nvSpPr>
        <p:spPr>
          <a:xfrm>
            <a:off x="33718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10" name="矩形 9">
            <a:extLst>
              <a:ext uri="{FF2B5EF4-FFF2-40B4-BE49-F238E27FC236}">
                <a16:creationId xmlns:a16="http://schemas.microsoft.com/office/drawing/2014/main" id="{61B56F6B-6B9C-4664-B3A7-B33163A16C45}"/>
              </a:ext>
            </a:extLst>
          </p:cNvPr>
          <p:cNvSpPr>
            <a:spLocks noGrp="1"/>
          </p:cNvSpPr>
          <p:nvPr/>
        </p:nvSpPr>
        <p:spPr>
          <a:xfrm>
            <a:off x="396240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4</a:t>
            </a:r>
          </a:p>
        </p:txBody>
      </p:sp>
      <p:sp>
        <p:nvSpPr>
          <p:cNvPr id="11" name="矩形 10">
            <a:extLst>
              <a:ext uri="{FF2B5EF4-FFF2-40B4-BE49-F238E27FC236}">
                <a16:creationId xmlns:a16="http://schemas.microsoft.com/office/drawing/2014/main" id="{F5298192-2222-45CD-8271-FA60683E0B8E}"/>
              </a:ext>
            </a:extLst>
          </p:cNvPr>
          <p:cNvSpPr>
            <a:spLocks noGrp="1"/>
          </p:cNvSpPr>
          <p:nvPr/>
        </p:nvSpPr>
        <p:spPr>
          <a:xfrm>
            <a:off x="396240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12" name="矩形 11">
            <a:extLst>
              <a:ext uri="{FF2B5EF4-FFF2-40B4-BE49-F238E27FC236}">
                <a16:creationId xmlns:a16="http://schemas.microsoft.com/office/drawing/2014/main" id="{A6E16040-C390-4D51-9DB2-14DFBA5A7BF1}"/>
              </a:ext>
            </a:extLst>
          </p:cNvPr>
          <p:cNvSpPr>
            <a:spLocks noGrp="1"/>
          </p:cNvSpPr>
          <p:nvPr/>
        </p:nvSpPr>
        <p:spPr>
          <a:xfrm>
            <a:off x="45529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5</a:t>
            </a:r>
          </a:p>
        </p:txBody>
      </p:sp>
      <p:sp>
        <p:nvSpPr>
          <p:cNvPr id="13" name="矩形 12">
            <a:extLst>
              <a:ext uri="{FF2B5EF4-FFF2-40B4-BE49-F238E27FC236}">
                <a16:creationId xmlns:a16="http://schemas.microsoft.com/office/drawing/2014/main" id="{03EA3B9F-1EF3-4E4F-A173-ED432125A8B3}"/>
              </a:ext>
            </a:extLst>
          </p:cNvPr>
          <p:cNvSpPr>
            <a:spLocks noGrp="1"/>
          </p:cNvSpPr>
          <p:nvPr/>
        </p:nvSpPr>
        <p:spPr>
          <a:xfrm>
            <a:off x="45529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14" name="矩形 13">
            <a:extLst>
              <a:ext uri="{FF2B5EF4-FFF2-40B4-BE49-F238E27FC236}">
                <a16:creationId xmlns:a16="http://schemas.microsoft.com/office/drawing/2014/main" id="{F9C26E36-60D7-44AE-B7C0-460BB8EBDF2D}"/>
              </a:ext>
            </a:extLst>
          </p:cNvPr>
          <p:cNvSpPr>
            <a:spLocks noGrp="1"/>
          </p:cNvSpPr>
          <p:nvPr/>
        </p:nvSpPr>
        <p:spPr>
          <a:xfrm>
            <a:off x="514350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6</a:t>
            </a:r>
          </a:p>
        </p:txBody>
      </p:sp>
      <p:sp>
        <p:nvSpPr>
          <p:cNvPr id="15" name="矩形 14">
            <a:extLst>
              <a:ext uri="{FF2B5EF4-FFF2-40B4-BE49-F238E27FC236}">
                <a16:creationId xmlns:a16="http://schemas.microsoft.com/office/drawing/2014/main" id="{F0E6CB29-591D-47B9-B23E-8002DF6B8110}"/>
              </a:ext>
            </a:extLst>
          </p:cNvPr>
          <p:cNvSpPr>
            <a:spLocks noGrp="1"/>
          </p:cNvSpPr>
          <p:nvPr/>
        </p:nvSpPr>
        <p:spPr>
          <a:xfrm>
            <a:off x="514350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16" name="矩形 15">
            <a:extLst>
              <a:ext uri="{FF2B5EF4-FFF2-40B4-BE49-F238E27FC236}">
                <a16:creationId xmlns:a16="http://schemas.microsoft.com/office/drawing/2014/main" id="{27A6493C-398B-4607-AF6C-CFCA615F5033}"/>
              </a:ext>
            </a:extLst>
          </p:cNvPr>
          <p:cNvSpPr>
            <a:spLocks noGrp="1"/>
          </p:cNvSpPr>
          <p:nvPr/>
        </p:nvSpPr>
        <p:spPr>
          <a:xfrm>
            <a:off x="57340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7</a:t>
            </a:r>
          </a:p>
        </p:txBody>
      </p:sp>
      <p:sp>
        <p:nvSpPr>
          <p:cNvPr id="17" name="矩形 16">
            <a:extLst>
              <a:ext uri="{FF2B5EF4-FFF2-40B4-BE49-F238E27FC236}">
                <a16:creationId xmlns:a16="http://schemas.microsoft.com/office/drawing/2014/main" id="{65878BFF-B4A8-401F-A209-8755151BAC00}"/>
              </a:ext>
            </a:extLst>
          </p:cNvPr>
          <p:cNvSpPr>
            <a:spLocks noGrp="1"/>
          </p:cNvSpPr>
          <p:nvPr/>
        </p:nvSpPr>
        <p:spPr>
          <a:xfrm>
            <a:off x="57340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18" name="矩形 17">
            <a:extLst>
              <a:ext uri="{FF2B5EF4-FFF2-40B4-BE49-F238E27FC236}">
                <a16:creationId xmlns:a16="http://schemas.microsoft.com/office/drawing/2014/main" id="{BB5B0725-A27B-4DFE-AAAF-B4807FAE5F2D}"/>
              </a:ext>
            </a:extLst>
          </p:cNvPr>
          <p:cNvSpPr>
            <a:spLocks noGrp="1"/>
          </p:cNvSpPr>
          <p:nvPr/>
        </p:nvSpPr>
        <p:spPr>
          <a:xfrm>
            <a:off x="632460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8</a:t>
            </a:r>
          </a:p>
        </p:txBody>
      </p:sp>
      <p:sp>
        <p:nvSpPr>
          <p:cNvPr id="19" name="矩形 18">
            <a:extLst>
              <a:ext uri="{FF2B5EF4-FFF2-40B4-BE49-F238E27FC236}">
                <a16:creationId xmlns:a16="http://schemas.microsoft.com/office/drawing/2014/main" id="{AB92FF92-E105-4436-82B2-57464147C54A}"/>
              </a:ext>
            </a:extLst>
          </p:cNvPr>
          <p:cNvSpPr>
            <a:spLocks noGrp="1"/>
          </p:cNvSpPr>
          <p:nvPr/>
        </p:nvSpPr>
        <p:spPr>
          <a:xfrm>
            <a:off x="632460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20" name="矩形 19">
            <a:extLst>
              <a:ext uri="{FF2B5EF4-FFF2-40B4-BE49-F238E27FC236}">
                <a16:creationId xmlns:a16="http://schemas.microsoft.com/office/drawing/2014/main" id="{A4CA6933-395F-4747-910B-06EA93C29F07}"/>
              </a:ext>
            </a:extLst>
          </p:cNvPr>
          <p:cNvSpPr>
            <a:spLocks noGrp="1"/>
          </p:cNvSpPr>
          <p:nvPr/>
        </p:nvSpPr>
        <p:spPr>
          <a:xfrm>
            <a:off x="69151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9</a:t>
            </a:r>
          </a:p>
        </p:txBody>
      </p:sp>
      <p:sp>
        <p:nvSpPr>
          <p:cNvPr id="21" name="矩形 20">
            <a:extLst>
              <a:ext uri="{FF2B5EF4-FFF2-40B4-BE49-F238E27FC236}">
                <a16:creationId xmlns:a16="http://schemas.microsoft.com/office/drawing/2014/main" id="{C50205BC-E988-4270-9E1A-32B46836B017}"/>
              </a:ext>
            </a:extLst>
          </p:cNvPr>
          <p:cNvSpPr>
            <a:spLocks noGrp="1"/>
          </p:cNvSpPr>
          <p:nvPr/>
        </p:nvSpPr>
        <p:spPr>
          <a:xfrm>
            <a:off x="69151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22" name="矩形 21">
            <a:extLst>
              <a:ext uri="{FF2B5EF4-FFF2-40B4-BE49-F238E27FC236}">
                <a16:creationId xmlns:a16="http://schemas.microsoft.com/office/drawing/2014/main" id="{5E98B22F-0244-4AD2-8EB1-F35AB04252D9}"/>
              </a:ext>
            </a:extLst>
          </p:cNvPr>
          <p:cNvSpPr>
            <a:spLocks noGrp="1"/>
          </p:cNvSpPr>
          <p:nvPr/>
        </p:nvSpPr>
        <p:spPr>
          <a:xfrm>
            <a:off x="750570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10</a:t>
            </a:r>
          </a:p>
        </p:txBody>
      </p:sp>
      <p:sp>
        <p:nvSpPr>
          <p:cNvPr id="23" name="矩形 22">
            <a:extLst>
              <a:ext uri="{FF2B5EF4-FFF2-40B4-BE49-F238E27FC236}">
                <a16:creationId xmlns:a16="http://schemas.microsoft.com/office/drawing/2014/main" id="{66A25305-D2EF-427C-AEA9-B04D3E9C9370}"/>
              </a:ext>
            </a:extLst>
          </p:cNvPr>
          <p:cNvSpPr>
            <a:spLocks noGrp="1"/>
          </p:cNvSpPr>
          <p:nvPr/>
        </p:nvSpPr>
        <p:spPr>
          <a:xfrm>
            <a:off x="750570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24" name="矩形 23">
            <a:extLst>
              <a:ext uri="{FF2B5EF4-FFF2-40B4-BE49-F238E27FC236}">
                <a16:creationId xmlns:a16="http://schemas.microsoft.com/office/drawing/2014/main" id="{DB798276-C612-4836-8A7F-4929203F73D6}"/>
              </a:ext>
            </a:extLst>
          </p:cNvPr>
          <p:cNvSpPr>
            <a:spLocks noGrp="1"/>
          </p:cNvSpPr>
          <p:nvPr/>
        </p:nvSpPr>
        <p:spPr>
          <a:xfrm>
            <a:off x="80962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11</a:t>
            </a:r>
          </a:p>
        </p:txBody>
      </p:sp>
      <p:sp>
        <p:nvSpPr>
          <p:cNvPr id="25" name="矩形 24">
            <a:extLst>
              <a:ext uri="{FF2B5EF4-FFF2-40B4-BE49-F238E27FC236}">
                <a16:creationId xmlns:a16="http://schemas.microsoft.com/office/drawing/2014/main" id="{36A85E38-9D3B-4219-92BA-11E5820CEE98}"/>
              </a:ext>
            </a:extLst>
          </p:cNvPr>
          <p:cNvSpPr>
            <a:spLocks noGrp="1"/>
          </p:cNvSpPr>
          <p:nvPr/>
        </p:nvSpPr>
        <p:spPr>
          <a:xfrm>
            <a:off x="80962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26" name="矩形 25">
            <a:extLst>
              <a:ext uri="{FF2B5EF4-FFF2-40B4-BE49-F238E27FC236}">
                <a16:creationId xmlns:a16="http://schemas.microsoft.com/office/drawing/2014/main" id="{B6ED074B-7412-4563-BC3D-2CCF840FCCDF}"/>
              </a:ext>
            </a:extLst>
          </p:cNvPr>
          <p:cNvSpPr>
            <a:spLocks noGrp="1"/>
          </p:cNvSpPr>
          <p:nvPr/>
        </p:nvSpPr>
        <p:spPr>
          <a:xfrm>
            <a:off x="868680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12</a:t>
            </a:r>
          </a:p>
        </p:txBody>
      </p:sp>
      <p:sp>
        <p:nvSpPr>
          <p:cNvPr id="27" name="矩形 26">
            <a:extLst>
              <a:ext uri="{FF2B5EF4-FFF2-40B4-BE49-F238E27FC236}">
                <a16:creationId xmlns:a16="http://schemas.microsoft.com/office/drawing/2014/main" id="{4A9CFB59-C26A-4108-88BE-60E37B7524BD}"/>
              </a:ext>
            </a:extLst>
          </p:cNvPr>
          <p:cNvSpPr>
            <a:spLocks noGrp="1"/>
          </p:cNvSpPr>
          <p:nvPr/>
        </p:nvSpPr>
        <p:spPr>
          <a:xfrm>
            <a:off x="868680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28" name="矩形 27">
            <a:extLst>
              <a:ext uri="{FF2B5EF4-FFF2-40B4-BE49-F238E27FC236}">
                <a16:creationId xmlns:a16="http://schemas.microsoft.com/office/drawing/2014/main" id="{E41F420B-B238-4727-BEEC-9885151774CA}"/>
              </a:ext>
            </a:extLst>
          </p:cNvPr>
          <p:cNvSpPr>
            <a:spLocks noGrp="1"/>
          </p:cNvSpPr>
          <p:nvPr/>
        </p:nvSpPr>
        <p:spPr>
          <a:xfrm>
            <a:off x="9277350" y="1762125"/>
            <a:ext cx="323850" cy="228600"/>
          </a:xfrm>
          <a:prstGeom prst="rect">
            <a:avLst/>
          </a:prstGeom>
          <a:noFill/>
          <a:ln w="0">
            <a:noFill/>
            <a:prstDash val="solid"/>
          </a:ln>
        </p:spPr>
        <p:txBody>
          <a:bodyPr anchor="t"/>
          <a:lstStyle/>
          <a:p>
            <a:pPr algn="ctr">
              <a:defRPr sz="1200" b="1">
                <a:solidFill>
                  <a:srgbClr val="111111"/>
                </a:solidFill>
              </a:defRPr>
            </a:pPr>
            <a:r>
              <a:rPr sz="1200" b="1">
                <a:solidFill>
                  <a:srgbClr val="111111"/>
                </a:solidFill>
              </a:rPr>
              <a:t>13</a:t>
            </a:r>
          </a:p>
        </p:txBody>
      </p:sp>
      <p:sp>
        <p:nvSpPr>
          <p:cNvPr id="29" name="矩形 28">
            <a:extLst>
              <a:ext uri="{FF2B5EF4-FFF2-40B4-BE49-F238E27FC236}">
                <a16:creationId xmlns:a16="http://schemas.microsoft.com/office/drawing/2014/main" id="{0E84FE04-298B-4D75-9BCF-19B717ABA436}"/>
              </a:ext>
            </a:extLst>
          </p:cNvPr>
          <p:cNvSpPr>
            <a:spLocks noGrp="1"/>
          </p:cNvSpPr>
          <p:nvPr/>
        </p:nvSpPr>
        <p:spPr>
          <a:xfrm>
            <a:off x="9277350" y="2047875"/>
            <a:ext cx="9525" cy="3143250"/>
          </a:xfrm>
          <a:prstGeom prst="rect">
            <a:avLst/>
          </a:prstGeom>
          <a:solidFill>
            <a:srgbClr val="B8BCC4"/>
          </a:solidFill>
          <a:ln w="0">
            <a:solidFill>
              <a:srgbClr val="B8BCC4"/>
            </a:solidFill>
            <a:prstDash val="solid"/>
          </a:ln>
        </p:spPr>
        <p:txBody>
          <a:bodyPr/>
          <a:lstStyle/>
          <a:p>
            <a:endParaRPr lang="zh-CN" altLang="en-US"/>
          </a:p>
        </p:txBody>
      </p:sp>
      <p:sp>
        <p:nvSpPr>
          <p:cNvPr id="30" name="矩形 29">
            <a:extLst>
              <a:ext uri="{FF2B5EF4-FFF2-40B4-BE49-F238E27FC236}">
                <a16:creationId xmlns:a16="http://schemas.microsoft.com/office/drawing/2014/main" id="{D25A03BA-F887-4D00-9EBC-D4513396C0C3}"/>
              </a:ext>
            </a:extLst>
          </p:cNvPr>
          <p:cNvSpPr>
            <a:spLocks noGrp="1"/>
          </p:cNvSpPr>
          <p:nvPr/>
        </p:nvSpPr>
        <p:spPr>
          <a:xfrm>
            <a:off x="590550" y="2257425"/>
            <a:ext cx="1428750" cy="247650"/>
          </a:xfrm>
          <a:prstGeom prst="rect">
            <a:avLst/>
          </a:prstGeom>
          <a:noFill/>
          <a:ln w="0">
            <a:noFill/>
            <a:prstDash val="solid"/>
          </a:ln>
        </p:spPr>
        <p:txBody>
          <a:bodyPr anchor="t"/>
          <a:lstStyle/>
          <a:p>
            <a:pPr algn="l">
              <a:defRPr sz="1275" b="0">
                <a:solidFill>
                  <a:srgbClr val="111111"/>
                </a:solidFill>
              </a:defRPr>
            </a:pPr>
            <a:r>
              <a:rPr sz="1275" b="0">
                <a:solidFill>
                  <a:srgbClr val="111111"/>
                </a:solidFill>
              </a:rPr>
              <a:t>Scope &amp; proposal</a:t>
            </a:r>
          </a:p>
        </p:txBody>
      </p:sp>
      <p:sp>
        <p:nvSpPr>
          <p:cNvPr id="31" name="矩形 30">
            <a:extLst>
              <a:ext uri="{FF2B5EF4-FFF2-40B4-BE49-F238E27FC236}">
                <a16:creationId xmlns:a16="http://schemas.microsoft.com/office/drawing/2014/main" id="{E891EC82-8E5E-4204-9C1F-69BA17C14EDF}"/>
              </a:ext>
            </a:extLst>
          </p:cNvPr>
          <p:cNvSpPr>
            <a:spLocks noGrp="1"/>
          </p:cNvSpPr>
          <p:nvPr/>
        </p:nvSpPr>
        <p:spPr>
          <a:xfrm>
            <a:off x="2238375" y="2190750"/>
            <a:ext cx="1676400" cy="323850"/>
          </a:xfrm>
          <a:prstGeom prst="rect">
            <a:avLst/>
          </a:prstGeom>
          <a:solidFill>
            <a:srgbClr val="111111"/>
          </a:solidFill>
          <a:ln w="0">
            <a:solidFill>
              <a:srgbClr val="111111"/>
            </a:solidFill>
            <a:prstDash val="solid"/>
          </a:ln>
        </p:spPr>
        <p:txBody>
          <a:bodyPr/>
          <a:lstStyle/>
          <a:p>
            <a:endParaRPr lang="zh-CN" altLang="en-US"/>
          </a:p>
        </p:txBody>
      </p:sp>
      <p:sp>
        <p:nvSpPr>
          <p:cNvPr id="32" name="矩形 31">
            <a:extLst>
              <a:ext uri="{FF2B5EF4-FFF2-40B4-BE49-F238E27FC236}">
                <a16:creationId xmlns:a16="http://schemas.microsoft.com/office/drawing/2014/main" id="{47B629AA-E72D-43EB-8AC8-9015A0881B1D}"/>
              </a:ext>
            </a:extLst>
          </p:cNvPr>
          <p:cNvSpPr>
            <a:spLocks noGrp="1"/>
          </p:cNvSpPr>
          <p:nvPr/>
        </p:nvSpPr>
        <p:spPr>
          <a:xfrm>
            <a:off x="590550" y="2752725"/>
            <a:ext cx="1428750" cy="247650"/>
          </a:xfrm>
          <a:prstGeom prst="rect">
            <a:avLst/>
          </a:prstGeom>
          <a:noFill/>
          <a:ln w="0">
            <a:noFill/>
            <a:prstDash val="solid"/>
          </a:ln>
        </p:spPr>
        <p:txBody>
          <a:bodyPr anchor="t"/>
          <a:lstStyle/>
          <a:p>
            <a:pPr algn="l">
              <a:defRPr sz="1275" b="0">
                <a:solidFill>
                  <a:srgbClr val="111111"/>
                </a:solidFill>
              </a:defRPr>
            </a:pPr>
            <a:r>
              <a:rPr sz="1275" b="0">
                <a:solidFill>
                  <a:srgbClr val="111111"/>
                </a:solidFill>
              </a:rPr>
              <a:t>Data and image prototype</a:t>
            </a:r>
          </a:p>
        </p:txBody>
      </p:sp>
      <p:sp>
        <p:nvSpPr>
          <p:cNvPr id="33" name="矩形 32">
            <a:extLst>
              <a:ext uri="{FF2B5EF4-FFF2-40B4-BE49-F238E27FC236}">
                <a16:creationId xmlns:a16="http://schemas.microsoft.com/office/drawing/2014/main" id="{E2C2AD55-160F-4790-92F7-62CAC25CFFD6}"/>
              </a:ext>
            </a:extLst>
          </p:cNvPr>
          <p:cNvSpPr>
            <a:spLocks noGrp="1"/>
          </p:cNvSpPr>
          <p:nvPr/>
        </p:nvSpPr>
        <p:spPr>
          <a:xfrm>
            <a:off x="3419475" y="2686050"/>
            <a:ext cx="1676400" cy="323850"/>
          </a:xfrm>
          <a:prstGeom prst="rect">
            <a:avLst/>
          </a:prstGeom>
          <a:solidFill>
            <a:srgbClr val="3D8DFF"/>
          </a:solidFill>
          <a:ln w="0">
            <a:solidFill>
              <a:srgbClr val="3D8DFF"/>
            </a:solidFill>
            <a:prstDash val="solid"/>
          </a:ln>
        </p:spPr>
        <p:txBody>
          <a:bodyPr/>
          <a:lstStyle/>
          <a:p>
            <a:endParaRPr lang="zh-CN" altLang="en-US"/>
          </a:p>
        </p:txBody>
      </p:sp>
      <p:sp>
        <p:nvSpPr>
          <p:cNvPr id="34" name="矩形 33">
            <a:extLst>
              <a:ext uri="{FF2B5EF4-FFF2-40B4-BE49-F238E27FC236}">
                <a16:creationId xmlns:a16="http://schemas.microsoft.com/office/drawing/2014/main" id="{52836D47-8A94-441C-A89D-2C0B2AE42E61}"/>
              </a:ext>
            </a:extLst>
          </p:cNvPr>
          <p:cNvSpPr>
            <a:spLocks noGrp="1"/>
          </p:cNvSpPr>
          <p:nvPr/>
        </p:nvSpPr>
        <p:spPr>
          <a:xfrm>
            <a:off x="590550" y="3248025"/>
            <a:ext cx="1428750" cy="247650"/>
          </a:xfrm>
          <a:prstGeom prst="rect">
            <a:avLst/>
          </a:prstGeom>
          <a:noFill/>
          <a:ln w="0">
            <a:noFill/>
            <a:prstDash val="solid"/>
          </a:ln>
        </p:spPr>
        <p:txBody>
          <a:bodyPr anchor="t"/>
          <a:lstStyle/>
          <a:p>
            <a:pPr algn="l">
              <a:defRPr sz="1275" b="0">
                <a:solidFill>
                  <a:srgbClr val="111111"/>
                </a:solidFill>
              </a:defRPr>
            </a:pPr>
            <a:r>
              <a:rPr sz="1275" b="0">
                <a:solidFill>
                  <a:srgbClr val="111111"/>
                </a:solidFill>
              </a:rPr>
              <a:t>Features and matching</a:t>
            </a:r>
          </a:p>
        </p:txBody>
      </p:sp>
      <p:sp>
        <p:nvSpPr>
          <p:cNvPr id="35" name="矩形 34">
            <a:extLst>
              <a:ext uri="{FF2B5EF4-FFF2-40B4-BE49-F238E27FC236}">
                <a16:creationId xmlns:a16="http://schemas.microsoft.com/office/drawing/2014/main" id="{4B91A161-643D-4C62-9D32-4207701D55E6}"/>
              </a:ext>
            </a:extLst>
          </p:cNvPr>
          <p:cNvSpPr>
            <a:spLocks noGrp="1"/>
          </p:cNvSpPr>
          <p:nvPr/>
        </p:nvSpPr>
        <p:spPr>
          <a:xfrm>
            <a:off x="4600575" y="3181350"/>
            <a:ext cx="1676400" cy="323850"/>
          </a:xfrm>
          <a:prstGeom prst="rect">
            <a:avLst/>
          </a:prstGeom>
          <a:solidFill>
            <a:srgbClr val="2F7D5A"/>
          </a:solidFill>
          <a:ln w="0">
            <a:solidFill>
              <a:srgbClr val="2F7D5A"/>
            </a:solidFill>
            <a:prstDash val="solid"/>
          </a:ln>
        </p:spPr>
        <p:txBody>
          <a:bodyPr/>
          <a:lstStyle/>
          <a:p>
            <a:endParaRPr lang="zh-CN" altLang="en-US"/>
          </a:p>
        </p:txBody>
      </p:sp>
      <p:sp>
        <p:nvSpPr>
          <p:cNvPr id="36" name="矩形 35">
            <a:extLst>
              <a:ext uri="{FF2B5EF4-FFF2-40B4-BE49-F238E27FC236}">
                <a16:creationId xmlns:a16="http://schemas.microsoft.com/office/drawing/2014/main" id="{A9E79E48-B0F0-442A-BC35-56C4B27DFC06}"/>
              </a:ext>
            </a:extLst>
          </p:cNvPr>
          <p:cNvSpPr>
            <a:spLocks noGrp="1"/>
          </p:cNvSpPr>
          <p:nvPr/>
        </p:nvSpPr>
        <p:spPr>
          <a:xfrm>
            <a:off x="590550" y="3743325"/>
            <a:ext cx="1428750" cy="247650"/>
          </a:xfrm>
          <a:prstGeom prst="rect">
            <a:avLst/>
          </a:prstGeom>
          <a:noFill/>
          <a:ln w="0">
            <a:noFill/>
            <a:prstDash val="solid"/>
          </a:ln>
        </p:spPr>
        <p:txBody>
          <a:bodyPr anchor="t"/>
          <a:lstStyle/>
          <a:p>
            <a:pPr algn="l">
              <a:defRPr sz="1275" b="0">
                <a:solidFill>
                  <a:srgbClr val="111111"/>
                </a:solidFill>
              </a:defRPr>
            </a:pPr>
            <a:r>
              <a:rPr sz="1275" b="0">
                <a:solidFill>
                  <a:srgbClr val="111111"/>
                </a:solidFill>
              </a:rPr>
              <a:t>Dashboard prototype</a:t>
            </a:r>
          </a:p>
        </p:txBody>
      </p:sp>
      <p:sp>
        <p:nvSpPr>
          <p:cNvPr id="37" name="矩形 36">
            <a:extLst>
              <a:ext uri="{FF2B5EF4-FFF2-40B4-BE49-F238E27FC236}">
                <a16:creationId xmlns:a16="http://schemas.microsoft.com/office/drawing/2014/main" id="{0FEEB353-26F5-4FF5-9CBD-E40228D3451F}"/>
              </a:ext>
            </a:extLst>
          </p:cNvPr>
          <p:cNvSpPr>
            <a:spLocks noGrp="1"/>
          </p:cNvSpPr>
          <p:nvPr/>
        </p:nvSpPr>
        <p:spPr>
          <a:xfrm>
            <a:off x="6372225" y="3676650"/>
            <a:ext cx="1085850" cy="323850"/>
          </a:xfrm>
          <a:prstGeom prst="rect">
            <a:avLst/>
          </a:prstGeom>
          <a:solidFill>
            <a:srgbClr val="3D8DFF"/>
          </a:solidFill>
          <a:ln w="0">
            <a:solidFill>
              <a:srgbClr val="3D8DFF"/>
            </a:solidFill>
            <a:prstDash val="solid"/>
          </a:ln>
        </p:spPr>
        <p:txBody>
          <a:bodyPr/>
          <a:lstStyle/>
          <a:p>
            <a:endParaRPr lang="zh-CN" altLang="en-US"/>
          </a:p>
        </p:txBody>
      </p:sp>
      <p:sp>
        <p:nvSpPr>
          <p:cNvPr id="38" name="矩形 37">
            <a:extLst>
              <a:ext uri="{FF2B5EF4-FFF2-40B4-BE49-F238E27FC236}">
                <a16:creationId xmlns:a16="http://schemas.microsoft.com/office/drawing/2014/main" id="{4EAE65E7-B73A-4060-AFD9-C617ABDAA2AE}"/>
              </a:ext>
            </a:extLst>
          </p:cNvPr>
          <p:cNvSpPr>
            <a:spLocks noGrp="1"/>
          </p:cNvSpPr>
          <p:nvPr/>
        </p:nvSpPr>
        <p:spPr>
          <a:xfrm>
            <a:off x="590550" y="4238625"/>
            <a:ext cx="1428750" cy="247650"/>
          </a:xfrm>
          <a:prstGeom prst="rect">
            <a:avLst/>
          </a:prstGeom>
          <a:noFill/>
          <a:ln w="0">
            <a:noFill/>
            <a:prstDash val="solid"/>
          </a:ln>
        </p:spPr>
        <p:txBody>
          <a:bodyPr anchor="t"/>
          <a:lstStyle/>
          <a:p>
            <a:pPr algn="l">
              <a:defRPr sz="1275" b="0">
                <a:solidFill>
                  <a:srgbClr val="111111"/>
                </a:solidFill>
              </a:defRPr>
            </a:pPr>
            <a:r>
              <a:rPr sz="1275" b="0">
                <a:solidFill>
                  <a:srgbClr val="111111"/>
                </a:solidFill>
              </a:rPr>
              <a:t>Validation and refinement</a:t>
            </a:r>
          </a:p>
        </p:txBody>
      </p:sp>
      <p:sp>
        <p:nvSpPr>
          <p:cNvPr id="39" name="矩形 38">
            <a:extLst>
              <a:ext uri="{FF2B5EF4-FFF2-40B4-BE49-F238E27FC236}">
                <a16:creationId xmlns:a16="http://schemas.microsoft.com/office/drawing/2014/main" id="{12768BA3-1E46-49D2-B36C-65EDFBE35648}"/>
              </a:ext>
            </a:extLst>
          </p:cNvPr>
          <p:cNvSpPr>
            <a:spLocks noGrp="1"/>
          </p:cNvSpPr>
          <p:nvPr/>
        </p:nvSpPr>
        <p:spPr>
          <a:xfrm>
            <a:off x="6962775" y="4171950"/>
            <a:ext cx="1676400" cy="323850"/>
          </a:xfrm>
          <a:prstGeom prst="rect">
            <a:avLst/>
          </a:prstGeom>
          <a:solidFill>
            <a:srgbClr val="B26B00"/>
          </a:solidFill>
          <a:ln w="0">
            <a:solidFill>
              <a:srgbClr val="B26B00"/>
            </a:solidFill>
            <a:prstDash val="solid"/>
          </a:ln>
        </p:spPr>
        <p:txBody>
          <a:bodyPr/>
          <a:lstStyle/>
          <a:p>
            <a:endParaRPr lang="zh-CN" altLang="en-US"/>
          </a:p>
        </p:txBody>
      </p:sp>
      <p:sp>
        <p:nvSpPr>
          <p:cNvPr id="40" name="矩形 39">
            <a:extLst>
              <a:ext uri="{FF2B5EF4-FFF2-40B4-BE49-F238E27FC236}">
                <a16:creationId xmlns:a16="http://schemas.microsoft.com/office/drawing/2014/main" id="{CE54F921-7077-4F20-8C9C-6DAADD01EF48}"/>
              </a:ext>
            </a:extLst>
          </p:cNvPr>
          <p:cNvSpPr>
            <a:spLocks noGrp="1"/>
          </p:cNvSpPr>
          <p:nvPr/>
        </p:nvSpPr>
        <p:spPr>
          <a:xfrm>
            <a:off x="590550" y="4733925"/>
            <a:ext cx="1428750" cy="247650"/>
          </a:xfrm>
          <a:prstGeom prst="rect">
            <a:avLst/>
          </a:prstGeom>
          <a:noFill/>
          <a:ln w="0">
            <a:noFill/>
            <a:prstDash val="solid"/>
          </a:ln>
        </p:spPr>
        <p:txBody>
          <a:bodyPr anchor="t"/>
          <a:lstStyle/>
          <a:p>
            <a:pPr algn="l">
              <a:defRPr sz="1275" b="0">
                <a:solidFill>
                  <a:srgbClr val="111111"/>
                </a:solidFill>
              </a:defRPr>
            </a:pPr>
            <a:r>
              <a:rPr sz="1275" b="0">
                <a:solidFill>
                  <a:srgbClr val="111111"/>
                </a:solidFill>
              </a:rPr>
              <a:t>Final delivery and report</a:t>
            </a:r>
          </a:p>
        </p:txBody>
      </p:sp>
      <p:sp>
        <p:nvSpPr>
          <p:cNvPr id="41" name="矩形 40">
            <a:extLst>
              <a:ext uri="{FF2B5EF4-FFF2-40B4-BE49-F238E27FC236}">
                <a16:creationId xmlns:a16="http://schemas.microsoft.com/office/drawing/2014/main" id="{32DAEDC1-3C9A-4BC5-825B-61E09E0181D1}"/>
              </a:ext>
            </a:extLst>
          </p:cNvPr>
          <p:cNvSpPr>
            <a:spLocks noGrp="1"/>
          </p:cNvSpPr>
          <p:nvPr/>
        </p:nvSpPr>
        <p:spPr>
          <a:xfrm>
            <a:off x="8734425" y="4667250"/>
            <a:ext cx="1085850" cy="323850"/>
          </a:xfrm>
          <a:prstGeom prst="rect">
            <a:avLst/>
          </a:prstGeom>
          <a:solidFill>
            <a:srgbClr val="111111"/>
          </a:solidFill>
          <a:ln w="0">
            <a:solidFill>
              <a:srgbClr val="111111"/>
            </a:solidFill>
            <a:prstDash val="solid"/>
          </a:ln>
        </p:spPr>
        <p:txBody>
          <a:bodyPr/>
          <a:lstStyle/>
          <a:p>
            <a:endParaRPr lang="zh-CN" altLang="en-US"/>
          </a:p>
        </p:txBody>
      </p:sp>
      <p:sp>
        <p:nvSpPr>
          <p:cNvPr id="42" name="矩形 41">
            <a:extLst>
              <a:ext uri="{FF2B5EF4-FFF2-40B4-BE49-F238E27FC236}">
                <a16:creationId xmlns:a16="http://schemas.microsoft.com/office/drawing/2014/main" id="{7A68CA14-0166-4DC7-A56F-BD8CEA0AC543}"/>
              </a:ext>
            </a:extLst>
          </p:cNvPr>
          <p:cNvSpPr>
            <a:spLocks noGrp="1"/>
          </p:cNvSpPr>
          <p:nvPr/>
        </p:nvSpPr>
        <p:spPr>
          <a:xfrm>
            <a:off x="742950" y="5667375"/>
            <a:ext cx="10287000" cy="476250"/>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Key class checkpoints: proposal in Week 3, progress demo in Week 7, client deployment around Week 8, final delivery in Week 12, final report and demo in Week 13.</a:t>
            </a:r>
          </a:p>
        </p:txBody>
      </p:sp>
      <p:sp>
        <p:nvSpPr>
          <p:cNvPr id="43" name="矩形 42">
            <a:extLst>
              <a:ext uri="{FF2B5EF4-FFF2-40B4-BE49-F238E27FC236}">
                <a16:creationId xmlns:a16="http://schemas.microsoft.com/office/drawing/2014/main" id="{76A4E77B-D3DA-45D4-88B5-3AA75EB89B59}"/>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9</a:t>
            </a:r>
          </a:p>
        </p:txBody>
      </p:sp>
    </p:spTree>
    <p:extLst>
      <p:ext uri="{BB962C8B-B14F-4D97-AF65-F5344CB8AC3E}">
        <p14:creationId xmlns:p14="http://schemas.microsoft.com/office/powerpoint/2010/main" val="369799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0E4B10C8-9443-4614-B950-35D647B30179}"/>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EDBCDE12-9F1B-43D7-8BD4-88A5A14C861C}"/>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Roles are allocated around the pipeline</a:t>
            </a:r>
          </a:p>
        </p:txBody>
      </p:sp>
      <p:sp>
        <p:nvSpPr>
          <p:cNvPr id="3" name="矩形 2">
            <a:extLst>
              <a:ext uri="{FF2B5EF4-FFF2-40B4-BE49-F238E27FC236}">
                <a16:creationId xmlns:a16="http://schemas.microsoft.com/office/drawing/2014/main" id="{024AB708-67BA-4A58-BB37-2D4256BE72F2}"/>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9EB62561-42CB-416E-B4AB-443A9EB8A711}"/>
              </a:ext>
            </a:extLst>
          </p:cNvPr>
          <p:cNvSpPr>
            <a:spLocks noGrp="1"/>
          </p:cNvSpPr>
          <p:nvPr/>
        </p:nvSpPr>
        <p:spPr>
          <a:xfrm>
            <a:off x="714375" y="1952625"/>
            <a:ext cx="4762500" cy="1143000"/>
          </a:xfrm>
          <a:prstGeom prst="rect">
            <a:avLst/>
          </a:prstGeom>
          <a:solidFill>
            <a:srgbClr val="F0F2F5"/>
          </a:solidFill>
          <a:ln w="9525">
            <a:solidFill>
              <a:srgbClr val="B8BCC4"/>
            </a:solidFill>
            <a:prstDash val="solid"/>
          </a:ln>
        </p:spPr>
        <p:txBody>
          <a:bodyPr/>
          <a:lstStyle/>
          <a:p>
            <a:endParaRPr lang="zh-CN" altLang="en-US"/>
          </a:p>
        </p:txBody>
      </p:sp>
      <p:sp>
        <p:nvSpPr>
          <p:cNvPr id="5" name="矩形 4">
            <a:extLst>
              <a:ext uri="{FF2B5EF4-FFF2-40B4-BE49-F238E27FC236}">
                <a16:creationId xmlns:a16="http://schemas.microsoft.com/office/drawing/2014/main" id="{1FD5CEAE-C206-458A-A7AC-73AF2840D723}"/>
              </a:ext>
            </a:extLst>
          </p:cNvPr>
          <p:cNvSpPr>
            <a:spLocks noGrp="1"/>
          </p:cNvSpPr>
          <p:nvPr/>
        </p:nvSpPr>
        <p:spPr>
          <a:xfrm>
            <a:off x="942975" y="2143125"/>
            <a:ext cx="133350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Linkang Wen</a:t>
            </a:r>
          </a:p>
        </p:txBody>
      </p:sp>
      <p:sp>
        <p:nvSpPr>
          <p:cNvPr id="6" name="矩形 5">
            <a:extLst>
              <a:ext uri="{FF2B5EF4-FFF2-40B4-BE49-F238E27FC236}">
                <a16:creationId xmlns:a16="http://schemas.microsoft.com/office/drawing/2014/main" id="{61ED6349-3055-4029-BAB7-FE0DC496CCB7}"/>
              </a:ext>
            </a:extLst>
          </p:cNvPr>
          <p:cNvSpPr>
            <a:spLocks noGrp="1"/>
          </p:cNvSpPr>
          <p:nvPr/>
        </p:nvSpPr>
        <p:spPr>
          <a:xfrm>
            <a:off x="2333625" y="2124075"/>
            <a:ext cx="2714625" cy="2857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Project / Data Lead</a:t>
            </a:r>
          </a:p>
        </p:txBody>
      </p:sp>
      <p:sp>
        <p:nvSpPr>
          <p:cNvPr id="7" name="矩形 6">
            <a:extLst>
              <a:ext uri="{FF2B5EF4-FFF2-40B4-BE49-F238E27FC236}">
                <a16:creationId xmlns:a16="http://schemas.microsoft.com/office/drawing/2014/main" id="{3608D051-922D-4DFC-88CC-A514C2CE9F0C}"/>
              </a:ext>
            </a:extLst>
          </p:cNvPr>
          <p:cNvSpPr>
            <a:spLocks noGrp="1"/>
          </p:cNvSpPr>
          <p:nvPr/>
        </p:nvSpPr>
        <p:spPr>
          <a:xfrm>
            <a:off x="942975" y="2581275"/>
            <a:ext cx="4095750" cy="323850"/>
          </a:xfrm>
          <a:prstGeom prst="rect">
            <a:avLst/>
          </a:prstGeom>
          <a:noFill/>
          <a:ln w="0">
            <a:noFill/>
            <a:prstDash val="solid"/>
          </a:ln>
        </p:spPr>
        <p:txBody>
          <a:bodyPr anchor="t"/>
          <a:lstStyle/>
          <a:p>
            <a:pPr algn="l">
              <a:defRPr sz="1350" b="0">
                <a:solidFill>
                  <a:srgbClr val="5A5F68"/>
                </a:solidFill>
              </a:defRPr>
            </a:pPr>
            <a:r>
              <a:rPr sz="1350" b="0">
                <a:solidFill>
                  <a:srgbClr val="5A5F68"/>
                </a:solidFill>
              </a:rPr>
              <a:t>Timeline, meetings, scan manifest, dashboard integration.</a:t>
            </a:r>
          </a:p>
        </p:txBody>
      </p:sp>
      <p:sp>
        <p:nvSpPr>
          <p:cNvPr id="8" name="矩形 7">
            <a:extLst>
              <a:ext uri="{FF2B5EF4-FFF2-40B4-BE49-F238E27FC236}">
                <a16:creationId xmlns:a16="http://schemas.microsoft.com/office/drawing/2014/main" id="{FF587119-3C01-4AF4-807B-11152DD73AC2}"/>
              </a:ext>
            </a:extLst>
          </p:cNvPr>
          <p:cNvSpPr>
            <a:spLocks noGrp="1"/>
          </p:cNvSpPr>
          <p:nvPr/>
        </p:nvSpPr>
        <p:spPr>
          <a:xfrm>
            <a:off x="6238875" y="1952625"/>
            <a:ext cx="4762500" cy="1143000"/>
          </a:xfrm>
          <a:prstGeom prst="rect">
            <a:avLst/>
          </a:prstGeom>
          <a:solidFill>
            <a:srgbClr val="DDEEFF"/>
          </a:solidFill>
          <a:ln w="9525">
            <a:solidFill>
              <a:srgbClr val="B8BCC4"/>
            </a:solidFill>
            <a:prstDash val="solid"/>
          </a:ln>
        </p:spPr>
        <p:txBody>
          <a:bodyPr/>
          <a:lstStyle/>
          <a:p>
            <a:endParaRPr lang="zh-CN" altLang="en-US"/>
          </a:p>
        </p:txBody>
      </p:sp>
      <p:sp>
        <p:nvSpPr>
          <p:cNvPr id="9" name="矩形 8">
            <a:extLst>
              <a:ext uri="{FF2B5EF4-FFF2-40B4-BE49-F238E27FC236}">
                <a16:creationId xmlns:a16="http://schemas.microsoft.com/office/drawing/2014/main" id="{1A95C83A-C183-4523-A869-CF876A4E733C}"/>
              </a:ext>
            </a:extLst>
          </p:cNvPr>
          <p:cNvSpPr>
            <a:spLocks noGrp="1"/>
          </p:cNvSpPr>
          <p:nvPr/>
        </p:nvSpPr>
        <p:spPr>
          <a:xfrm>
            <a:off x="6467475" y="2143125"/>
            <a:ext cx="133350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Yuqi Wu</a:t>
            </a:r>
          </a:p>
        </p:txBody>
      </p:sp>
      <p:sp>
        <p:nvSpPr>
          <p:cNvPr id="10" name="矩形 9">
            <a:extLst>
              <a:ext uri="{FF2B5EF4-FFF2-40B4-BE49-F238E27FC236}">
                <a16:creationId xmlns:a16="http://schemas.microsoft.com/office/drawing/2014/main" id="{44569195-8935-486D-AB52-AAE10438B681}"/>
              </a:ext>
            </a:extLst>
          </p:cNvPr>
          <p:cNvSpPr>
            <a:spLocks noGrp="1"/>
          </p:cNvSpPr>
          <p:nvPr/>
        </p:nvSpPr>
        <p:spPr>
          <a:xfrm>
            <a:off x="7858125" y="2124075"/>
            <a:ext cx="2714625" cy="2857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Imaging Lead</a:t>
            </a:r>
          </a:p>
        </p:txBody>
      </p:sp>
      <p:sp>
        <p:nvSpPr>
          <p:cNvPr id="11" name="矩形 10">
            <a:extLst>
              <a:ext uri="{FF2B5EF4-FFF2-40B4-BE49-F238E27FC236}">
                <a16:creationId xmlns:a16="http://schemas.microsoft.com/office/drawing/2014/main" id="{A88A0E75-0995-4B54-BCC0-E819F6F73917}"/>
              </a:ext>
            </a:extLst>
          </p:cNvPr>
          <p:cNvSpPr>
            <a:spLocks noGrp="1"/>
          </p:cNvSpPr>
          <p:nvPr/>
        </p:nvSpPr>
        <p:spPr>
          <a:xfrm>
            <a:off x="6467475" y="2581275"/>
            <a:ext cx="4095750" cy="323850"/>
          </a:xfrm>
          <a:prstGeom prst="rect">
            <a:avLst/>
          </a:prstGeom>
          <a:noFill/>
          <a:ln w="0">
            <a:noFill/>
            <a:prstDash val="solid"/>
          </a:ln>
        </p:spPr>
        <p:txBody>
          <a:bodyPr anchor="t"/>
          <a:lstStyle/>
          <a:p>
            <a:pPr algn="l">
              <a:defRPr sz="1350" b="0">
                <a:solidFill>
                  <a:srgbClr val="5A5F68"/>
                </a:solidFill>
              </a:defRPr>
            </a:pPr>
            <a:r>
              <a:rPr sz="1350" b="0">
                <a:solidFill>
                  <a:srgbClr val="5A5F68"/>
                </a:solidFill>
              </a:rPr>
              <a:t>PET/CT loading, mask checks, overlays, dashboard support.</a:t>
            </a:r>
          </a:p>
        </p:txBody>
      </p:sp>
      <p:sp>
        <p:nvSpPr>
          <p:cNvPr id="12" name="矩形 11">
            <a:extLst>
              <a:ext uri="{FF2B5EF4-FFF2-40B4-BE49-F238E27FC236}">
                <a16:creationId xmlns:a16="http://schemas.microsoft.com/office/drawing/2014/main" id="{841BFCC0-1F20-4FF3-A58E-2CDA7F9F3CC8}"/>
              </a:ext>
            </a:extLst>
          </p:cNvPr>
          <p:cNvSpPr>
            <a:spLocks noGrp="1"/>
          </p:cNvSpPr>
          <p:nvPr/>
        </p:nvSpPr>
        <p:spPr>
          <a:xfrm>
            <a:off x="714375" y="3571875"/>
            <a:ext cx="4762500" cy="1143000"/>
          </a:xfrm>
          <a:prstGeom prst="rect">
            <a:avLst/>
          </a:prstGeom>
          <a:solidFill>
            <a:srgbClr val="F0F2F5"/>
          </a:solidFill>
          <a:ln w="9525">
            <a:solidFill>
              <a:srgbClr val="B8BCC4"/>
            </a:solidFill>
            <a:prstDash val="solid"/>
          </a:ln>
        </p:spPr>
        <p:txBody>
          <a:bodyPr/>
          <a:lstStyle/>
          <a:p>
            <a:endParaRPr lang="zh-CN" altLang="en-US"/>
          </a:p>
        </p:txBody>
      </p:sp>
      <p:sp>
        <p:nvSpPr>
          <p:cNvPr id="13" name="矩形 12">
            <a:extLst>
              <a:ext uri="{FF2B5EF4-FFF2-40B4-BE49-F238E27FC236}">
                <a16:creationId xmlns:a16="http://schemas.microsoft.com/office/drawing/2014/main" id="{38A8369F-64F7-4E0B-ABE2-4B7AA80E1DB6}"/>
              </a:ext>
            </a:extLst>
          </p:cNvPr>
          <p:cNvSpPr>
            <a:spLocks noGrp="1"/>
          </p:cNvSpPr>
          <p:nvPr/>
        </p:nvSpPr>
        <p:spPr>
          <a:xfrm>
            <a:off x="942975" y="3762375"/>
            <a:ext cx="133350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Qiang Li</a:t>
            </a:r>
          </a:p>
        </p:txBody>
      </p:sp>
      <p:sp>
        <p:nvSpPr>
          <p:cNvPr id="14" name="矩形 13">
            <a:extLst>
              <a:ext uri="{FF2B5EF4-FFF2-40B4-BE49-F238E27FC236}">
                <a16:creationId xmlns:a16="http://schemas.microsoft.com/office/drawing/2014/main" id="{E59A31CA-9604-4604-8689-397A92FFA884}"/>
              </a:ext>
            </a:extLst>
          </p:cNvPr>
          <p:cNvSpPr>
            <a:spLocks noGrp="1"/>
          </p:cNvSpPr>
          <p:nvPr/>
        </p:nvSpPr>
        <p:spPr>
          <a:xfrm>
            <a:off x="2333625" y="3743325"/>
            <a:ext cx="2714625" cy="2857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Feature / Metrics Lead</a:t>
            </a:r>
          </a:p>
        </p:txBody>
      </p:sp>
      <p:sp>
        <p:nvSpPr>
          <p:cNvPr id="15" name="矩形 14">
            <a:extLst>
              <a:ext uri="{FF2B5EF4-FFF2-40B4-BE49-F238E27FC236}">
                <a16:creationId xmlns:a16="http://schemas.microsoft.com/office/drawing/2014/main" id="{4095B01A-5A34-4EC7-A4B3-CC04DCCEBE76}"/>
              </a:ext>
            </a:extLst>
          </p:cNvPr>
          <p:cNvSpPr>
            <a:spLocks noGrp="1"/>
          </p:cNvSpPr>
          <p:nvPr/>
        </p:nvSpPr>
        <p:spPr>
          <a:xfrm>
            <a:off x="942975" y="4200525"/>
            <a:ext cx="4095750" cy="323850"/>
          </a:xfrm>
          <a:prstGeom prst="rect">
            <a:avLst/>
          </a:prstGeom>
          <a:noFill/>
          <a:ln w="0">
            <a:noFill/>
            <a:prstDash val="solid"/>
          </a:ln>
        </p:spPr>
        <p:txBody>
          <a:bodyPr anchor="t"/>
          <a:lstStyle/>
          <a:p>
            <a:pPr algn="l">
              <a:defRPr sz="1350" b="0">
                <a:solidFill>
                  <a:srgbClr val="5A5F68"/>
                </a:solidFill>
              </a:defRPr>
            </a:pPr>
            <a:r>
              <a:rPr sz="1350" b="0">
                <a:solidFill>
                  <a:srgbClr val="5A5F68"/>
                </a:solidFill>
              </a:rPr>
              <a:t>Volume, SUV, centroid, region, patient summaries.</a:t>
            </a:r>
          </a:p>
        </p:txBody>
      </p:sp>
      <p:sp>
        <p:nvSpPr>
          <p:cNvPr id="16" name="矩形 15">
            <a:extLst>
              <a:ext uri="{FF2B5EF4-FFF2-40B4-BE49-F238E27FC236}">
                <a16:creationId xmlns:a16="http://schemas.microsoft.com/office/drawing/2014/main" id="{FC293615-BE7A-4CF2-A582-FE7F82FE20B5}"/>
              </a:ext>
            </a:extLst>
          </p:cNvPr>
          <p:cNvSpPr>
            <a:spLocks noGrp="1"/>
          </p:cNvSpPr>
          <p:nvPr/>
        </p:nvSpPr>
        <p:spPr>
          <a:xfrm>
            <a:off x="6238875" y="3571875"/>
            <a:ext cx="4762500" cy="1143000"/>
          </a:xfrm>
          <a:prstGeom prst="rect">
            <a:avLst/>
          </a:prstGeom>
          <a:solidFill>
            <a:srgbClr val="DDEEFF"/>
          </a:solidFill>
          <a:ln w="9525">
            <a:solidFill>
              <a:srgbClr val="B8BCC4"/>
            </a:solidFill>
            <a:prstDash val="solid"/>
          </a:ln>
        </p:spPr>
        <p:txBody>
          <a:bodyPr/>
          <a:lstStyle/>
          <a:p>
            <a:endParaRPr lang="zh-CN" altLang="en-US"/>
          </a:p>
        </p:txBody>
      </p:sp>
      <p:sp>
        <p:nvSpPr>
          <p:cNvPr id="17" name="矩形 16">
            <a:extLst>
              <a:ext uri="{FF2B5EF4-FFF2-40B4-BE49-F238E27FC236}">
                <a16:creationId xmlns:a16="http://schemas.microsoft.com/office/drawing/2014/main" id="{AE6A4FC1-BDE9-4E50-8177-83A9393BDAD6}"/>
              </a:ext>
            </a:extLst>
          </p:cNvPr>
          <p:cNvSpPr>
            <a:spLocks noGrp="1"/>
          </p:cNvSpPr>
          <p:nvPr/>
        </p:nvSpPr>
        <p:spPr>
          <a:xfrm>
            <a:off x="6467475" y="3762375"/>
            <a:ext cx="133350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Haoxiong Pan</a:t>
            </a:r>
          </a:p>
        </p:txBody>
      </p:sp>
      <p:sp>
        <p:nvSpPr>
          <p:cNvPr id="18" name="矩形 17">
            <a:extLst>
              <a:ext uri="{FF2B5EF4-FFF2-40B4-BE49-F238E27FC236}">
                <a16:creationId xmlns:a16="http://schemas.microsoft.com/office/drawing/2014/main" id="{8B9FA2E7-F0B1-4A0F-8B6F-D152F3F2FCD2}"/>
              </a:ext>
            </a:extLst>
          </p:cNvPr>
          <p:cNvSpPr>
            <a:spLocks noGrp="1"/>
          </p:cNvSpPr>
          <p:nvPr/>
        </p:nvSpPr>
        <p:spPr>
          <a:xfrm>
            <a:off x="7858125" y="3743325"/>
            <a:ext cx="2714625" cy="28575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Algorithm / Evaluation Lead</a:t>
            </a:r>
          </a:p>
        </p:txBody>
      </p:sp>
      <p:sp>
        <p:nvSpPr>
          <p:cNvPr id="19" name="矩形 18">
            <a:extLst>
              <a:ext uri="{FF2B5EF4-FFF2-40B4-BE49-F238E27FC236}">
                <a16:creationId xmlns:a16="http://schemas.microsoft.com/office/drawing/2014/main" id="{05C333F1-A34C-449D-8580-314F604AAC55}"/>
              </a:ext>
            </a:extLst>
          </p:cNvPr>
          <p:cNvSpPr>
            <a:spLocks noGrp="1"/>
          </p:cNvSpPr>
          <p:nvPr/>
        </p:nvSpPr>
        <p:spPr>
          <a:xfrm>
            <a:off x="6467475" y="4200525"/>
            <a:ext cx="4095750" cy="323850"/>
          </a:xfrm>
          <a:prstGeom prst="rect">
            <a:avLst/>
          </a:prstGeom>
          <a:noFill/>
          <a:ln w="0">
            <a:noFill/>
            <a:prstDash val="solid"/>
          </a:ln>
        </p:spPr>
        <p:txBody>
          <a:bodyPr anchor="t"/>
          <a:lstStyle/>
          <a:p>
            <a:pPr algn="l">
              <a:defRPr sz="1350" b="0">
                <a:solidFill>
                  <a:srgbClr val="5A5F68"/>
                </a:solidFill>
              </a:defRPr>
            </a:pPr>
            <a:r>
              <a:rPr sz="1350" b="0">
                <a:solidFill>
                  <a:srgbClr val="5A5F68"/>
                </a:solidFill>
              </a:rPr>
              <a:t>Lesion matching, parameter testing, validation metrics.</a:t>
            </a:r>
          </a:p>
        </p:txBody>
      </p:sp>
      <p:sp>
        <p:nvSpPr>
          <p:cNvPr id="20" name="矩形 19">
            <a:extLst>
              <a:ext uri="{FF2B5EF4-FFF2-40B4-BE49-F238E27FC236}">
                <a16:creationId xmlns:a16="http://schemas.microsoft.com/office/drawing/2014/main" id="{1F9E32A1-A4CA-47B7-A295-D9DC4F6FC31A}"/>
              </a:ext>
            </a:extLst>
          </p:cNvPr>
          <p:cNvSpPr>
            <a:spLocks noGrp="1"/>
          </p:cNvSpPr>
          <p:nvPr/>
        </p:nvSpPr>
        <p:spPr>
          <a:xfrm>
            <a:off x="1143000" y="5476875"/>
            <a:ext cx="9048750" cy="419100"/>
          </a:xfrm>
          <a:prstGeom prst="rect">
            <a:avLst/>
          </a:prstGeom>
          <a:noFill/>
          <a:ln w="0">
            <a:noFill/>
            <a:prstDash val="solid"/>
          </a:ln>
        </p:spPr>
        <p:txBody>
          <a:bodyPr anchor="t"/>
          <a:lstStyle/>
          <a:p>
            <a:pPr algn="ctr">
              <a:defRPr sz="1650" b="0">
                <a:solidFill>
                  <a:srgbClr val="5A5F68"/>
                </a:solidFill>
              </a:defRPr>
            </a:pPr>
            <a:r>
              <a:rPr sz="1650" b="0">
                <a:solidFill>
                  <a:srgbClr val="5A5F68"/>
                </a:solidFill>
              </a:rPr>
              <a:t>Each role has a lead, but implementation and testing will be reviewed by at least one other member.</a:t>
            </a:r>
          </a:p>
        </p:txBody>
      </p:sp>
      <p:sp>
        <p:nvSpPr>
          <p:cNvPr id="21" name="矩形 20">
            <a:extLst>
              <a:ext uri="{FF2B5EF4-FFF2-40B4-BE49-F238E27FC236}">
                <a16:creationId xmlns:a16="http://schemas.microsoft.com/office/drawing/2014/main" id="{C653EEB8-AEDE-40AB-8D71-620AFD8703A0}"/>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10</a:t>
            </a:r>
          </a:p>
        </p:txBody>
      </p:sp>
    </p:spTree>
    <p:extLst>
      <p:ext uri="{BB962C8B-B14F-4D97-AF65-F5344CB8AC3E}">
        <p14:creationId xmlns:p14="http://schemas.microsoft.com/office/powerpoint/2010/main" val="1033417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F4713D79-2F91-4E34-BF5D-C3873C3359CA}"/>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5EA0905B-CAE0-4284-A57C-4BE637832F98}"/>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The main risks are known early</a:t>
            </a:r>
          </a:p>
        </p:txBody>
      </p:sp>
      <p:sp>
        <p:nvSpPr>
          <p:cNvPr id="3" name="矩形 2">
            <a:extLst>
              <a:ext uri="{FF2B5EF4-FFF2-40B4-BE49-F238E27FC236}">
                <a16:creationId xmlns:a16="http://schemas.microsoft.com/office/drawing/2014/main" id="{2403AA80-6157-4399-8107-B6162C55E8E5}"/>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F7C586E2-C2FB-4184-9958-E7587D32B895}"/>
              </a:ext>
            </a:extLst>
          </p:cNvPr>
          <p:cNvSpPr>
            <a:spLocks noGrp="1"/>
          </p:cNvSpPr>
          <p:nvPr/>
        </p:nvSpPr>
        <p:spPr>
          <a:xfrm>
            <a:off x="742950" y="1809750"/>
            <a:ext cx="1047750" cy="266700"/>
          </a:xfrm>
          <a:prstGeom prst="rect">
            <a:avLst/>
          </a:prstGeom>
          <a:noFill/>
          <a:ln w="0">
            <a:noFill/>
            <a:prstDash val="solid"/>
          </a:ln>
        </p:spPr>
        <p:txBody>
          <a:bodyPr anchor="t"/>
          <a:lstStyle/>
          <a:p>
            <a:pPr algn="l">
              <a:defRPr sz="1500" b="1">
                <a:solidFill>
                  <a:srgbClr val="3D8DFF"/>
                </a:solidFill>
              </a:defRPr>
            </a:pPr>
            <a:r>
              <a:rPr sz="1500" b="1">
                <a:solidFill>
                  <a:srgbClr val="3D8DFF"/>
                </a:solidFill>
              </a:rPr>
              <a:t>Risk 1</a:t>
            </a:r>
          </a:p>
        </p:txBody>
      </p:sp>
      <p:sp>
        <p:nvSpPr>
          <p:cNvPr id="5" name="矩形 4">
            <a:extLst>
              <a:ext uri="{FF2B5EF4-FFF2-40B4-BE49-F238E27FC236}">
                <a16:creationId xmlns:a16="http://schemas.microsoft.com/office/drawing/2014/main" id="{C34F499A-6BE1-48EC-96E0-5F8CA17A559E}"/>
              </a:ext>
            </a:extLst>
          </p:cNvPr>
          <p:cNvSpPr>
            <a:spLocks noGrp="1"/>
          </p:cNvSpPr>
          <p:nvPr/>
        </p:nvSpPr>
        <p:spPr>
          <a:xfrm>
            <a:off x="1952625" y="1809750"/>
            <a:ext cx="314325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Dataset pairing</a:t>
            </a:r>
          </a:p>
        </p:txBody>
      </p:sp>
      <p:sp>
        <p:nvSpPr>
          <p:cNvPr id="6" name="矩形 5">
            <a:extLst>
              <a:ext uri="{FF2B5EF4-FFF2-40B4-BE49-F238E27FC236}">
                <a16:creationId xmlns:a16="http://schemas.microsoft.com/office/drawing/2014/main" id="{77808868-78DA-4571-BAD8-70A3806CB5AC}"/>
              </a:ext>
            </a:extLst>
          </p:cNvPr>
          <p:cNvSpPr>
            <a:spLocks noGrp="1"/>
          </p:cNvSpPr>
          <p:nvPr/>
        </p:nvSpPr>
        <p:spPr>
          <a:xfrm>
            <a:off x="5334000" y="1809750"/>
            <a:ext cx="5334000" cy="400050"/>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Confirm hash and date parsing in the first data audit.</a:t>
            </a:r>
          </a:p>
        </p:txBody>
      </p:sp>
      <p:sp>
        <p:nvSpPr>
          <p:cNvPr id="7" name="矩形 6">
            <a:extLst>
              <a:ext uri="{FF2B5EF4-FFF2-40B4-BE49-F238E27FC236}">
                <a16:creationId xmlns:a16="http://schemas.microsoft.com/office/drawing/2014/main" id="{AAA5DB1A-7AC8-4884-8240-4E4C985CB095}"/>
              </a:ext>
            </a:extLst>
          </p:cNvPr>
          <p:cNvSpPr>
            <a:spLocks noGrp="1"/>
          </p:cNvSpPr>
          <p:nvPr/>
        </p:nvSpPr>
        <p:spPr>
          <a:xfrm>
            <a:off x="742950" y="2286000"/>
            <a:ext cx="10191750" cy="9525"/>
          </a:xfrm>
          <a:prstGeom prst="rect">
            <a:avLst/>
          </a:prstGeom>
          <a:solidFill>
            <a:srgbClr val="B8BCC4"/>
          </a:solidFill>
          <a:ln w="0">
            <a:solidFill>
              <a:srgbClr val="B8BCC4"/>
            </a:solidFill>
            <a:prstDash val="solid"/>
          </a:ln>
        </p:spPr>
        <p:txBody>
          <a:bodyPr/>
          <a:lstStyle/>
          <a:p>
            <a:endParaRPr lang="zh-CN" altLang="en-US"/>
          </a:p>
        </p:txBody>
      </p:sp>
      <p:sp>
        <p:nvSpPr>
          <p:cNvPr id="8" name="矩形 7">
            <a:extLst>
              <a:ext uri="{FF2B5EF4-FFF2-40B4-BE49-F238E27FC236}">
                <a16:creationId xmlns:a16="http://schemas.microsoft.com/office/drawing/2014/main" id="{B6A48074-CB6E-4172-AD0B-B7022EEC8941}"/>
              </a:ext>
            </a:extLst>
          </p:cNvPr>
          <p:cNvSpPr>
            <a:spLocks noGrp="1"/>
          </p:cNvSpPr>
          <p:nvPr/>
        </p:nvSpPr>
        <p:spPr>
          <a:xfrm>
            <a:off x="742950" y="2514600"/>
            <a:ext cx="1047750" cy="266700"/>
          </a:xfrm>
          <a:prstGeom prst="rect">
            <a:avLst/>
          </a:prstGeom>
          <a:noFill/>
          <a:ln w="0">
            <a:noFill/>
            <a:prstDash val="solid"/>
          </a:ln>
        </p:spPr>
        <p:txBody>
          <a:bodyPr anchor="t"/>
          <a:lstStyle/>
          <a:p>
            <a:pPr algn="l">
              <a:defRPr sz="1500" b="1">
                <a:solidFill>
                  <a:srgbClr val="3D8DFF"/>
                </a:solidFill>
              </a:defRPr>
            </a:pPr>
            <a:r>
              <a:rPr sz="1500" b="1">
                <a:solidFill>
                  <a:srgbClr val="3D8DFF"/>
                </a:solidFill>
              </a:rPr>
              <a:t>Risk 2</a:t>
            </a:r>
          </a:p>
        </p:txBody>
      </p:sp>
      <p:sp>
        <p:nvSpPr>
          <p:cNvPr id="9" name="矩形 8">
            <a:extLst>
              <a:ext uri="{FF2B5EF4-FFF2-40B4-BE49-F238E27FC236}">
                <a16:creationId xmlns:a16="http://schemas.microsoft.com/office/drawing/2014/main" id="{2F5B26F4-D55D-47C4-B6F1-F602091A7945}"/>
              </a:ext>
            </a:extLst>
          </p:cNvPr>
          <p:cNvSpPr>
            <a:spLocks noGrp="1"/>
          </p:cNvSpPr>
          <p:nvPr/>
        </p:nvSpPr>
        <p:spPr>
          <a:xfrm>
            <a:off x="1952625" y="2514600"/>
            <a:ext cx="314325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Large image files</a:t>
            </a:r>
          </a:p>
        </p:txBody>
      </p:sp>
      <p:sp>
        <p:nvSpPr>
          <p:cNvPr id="10" name="矩形 9">
            <a:extLst>
              <a:ext uri="{FF2B5EF4-FFF2-40B4-BE49-F238E27FC236}">
                <a16:creationId xmlns:a16="http://schemas.microsoft.com/office/drawing/2014/main" id="{ED5EB6A7-2E5C-48C5-AC47-C3A8B5E0C98B}"/>
              </a:ext>
            </a:extLst>
          </p:cNvPr>
          <p:cNvSpPr>
            <a:spLocks noGrp="1"/>
          </p:cNvSpPr>
          <p:nvPr/>
        </p:nvSpPr>
        <p:spPr>
          <a:xfrm>
            <a:off x="5334000" y="2514600"/>
            <a:ext cx="5334000" cy="400050"/>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Start with 10-15 cases and cache intermediate CSVs.</a:t>
            </a:r>
          </a:p>
        </p:txBody>
      </p:sp>
      <p:sp>
        <p:nvSpPr>
          <p:cNvPr id="11" name="矩形 10">
            <a:extLst>
              <a:ext uri="{FF2B5EF4-FFF2-40B4-BE49-F238E27FC236}">
                <a16:creationId xmlns:a16="http://schemas.microsoft.com/office/drawing/2014/main" id="{AC4396B9-1D37-402A-9198-A848554DB201}"/>
              </a:ext>
            </a:extLst>
          </p:cNvPr>
          <p:cNvSpPr>
            <a:spLocks noGrp="1"/>
          </p:cNvSpPr>
          <p:nvPr/>
        </p:nvSpPr>
        <p:spPr>
          <a:xfrm>
            <a:off x="742950" y="2990850"/>
            <a:ext cx="10191750" cy="9525"/>
          </a:xfrm>
          <a:prstGeom prst="rect">
            <a:avLst/>
          </a:prstGeom>
          <a:solidFill>
            <a:srgbClr val="B8BCC4"/>
          </a:solidFill>
          <a:ln w="0">
            <a:solidFill>
              <a:srgbClr val="B8BCC4"/>
            </a:solidFill>
            <a:prstDash val="solid"/>
          </a:ln>
        </p:spPr>
        <p:txBody>
          <a:bodyPr/>
          <a:lstStyle/>
          <a:p>
            <a:endParaRPr lang="zh-CN" altLang="en-US"/>
          </a:p>
        </p:txBody>
      </p:sp>
      <p:sp>
        <p:nvSpPr>
          <p:cNvPr id="12" name="矩形 11">
            <a:extLst>
              <a:ext uri="{FF2B5EF4-FFF2-40B4-BE49-F238E27FC236}">
                <a16:creationId xmlns:a16="http://schemas.microsoft.com/office/drawing/2014/main" id="{7B629FCC-10D3-4D25-BB0B-FA152F10AA6C}"/>
              </a:ext>
            </a:extLst>
          </p:cNvPr>
          <p:cNvSpPr>
            <a:spLocks noGrp="1"/>
          </p:cNvSpPr>
          <p:nvPr/>
        </p:nvSpPr>
        <p:spPr>
          <a:xfrm>
            <a:off x="742950" y="3219450"/>
            <a:ext cx="1047750" cy="266700"/>
          </a:xfrm>
          <a:prstGeom prst="rect">
            <a:avLst/>
          </a:prstGeom>
          <a:noFill/>
          <a:ln w="0">
            <a:noFill/>
            <a:prstDash val="solid"/>
          </a:ln>
        </p:spPr>
        <p:txBody>
          <a:bodyPr anchor="t"/>
          <a:lstStyle/>
          <a:p>
            <a:pPr algn="l">
              <a:defRPr sz="1500" b="1">
                <a:solidFill>
                  <a:srgbClr val="3D8DFF"/>
                </a:solidFill>
              </a:defRPr>
            </a:pPr>
            <a:r>
              <a:rPr sz="1500" b="1">
                <a:solidFill>
                  <a:srgbClr val="3D8DFF"/>
                </a:solidFill>
              </a:rPr>
              <a:t>Risk 3</a:t>
            </a:r>
          </a:p>
        </p:txBody>
      </p:sp>
      <p:sp>
        <p:nvSpPr>
          <p:cNvPr id="13" name="矩形 12">
            <a:extLst>
              <a:ext uri="{FF2B5EF4-FFF2-40B4-BE49-F238E27FC236}">
                <a16:creationId xmlns:a16="http://schemas.microsoft.com/office/drawing/2014/main" id="{B6618121-6681-4D98-9E90-5A3BD69A3C8B}"/>
              </a:ext>
            </a:extLst>
          </p:cNvPr>
          <p:cNvSpPr>
            <a:spLocks noGrp="1"/>
          </p:cNvSpPr>
          <p:nvPr/>
        </p:nvSpPr>
        <p:spPr>
          <a:xfrm>
            <a:off x="1952625" y="3219450"/>
            <a:ext cx="314325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Image alignment quality</a:t>
            </a:r>
          </a:p>
        </p:txBody>
      </p:sp>
      <p:sp>
        <p:nvSpPr>
          <p:cNvPr id="14" name="矩形 13">
            <a:extLst>
              <a:ext uri="{FF2B5EF4-FFF2-40B4-BE49-F238E27FC236}">
                <a16:creationId xmlns:a16="http://schemas.microsoft.com/office/drawing/2014/main" id="{E7E56EBC-548E-427E-8F57-E6CF1DA8A8EE}"/>
              </a:ext>
            </a:extLst>
          </p:cNvPr>
          <p:cNvSpPr>
            <a:spLocks noGrp="1"/>
          </p:cNvSpPr>
          <p:nvPr/>
        </p:nvSpPr>
        <p:spPr>
          <a:xfrm>
            <a:off x="5334000" y="3219450"/>
            <a:ext cx="5334000" cy="400050"/>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Use rigid alignment plus distance and region rules.</a:t>
            </a:r>
          </a:p>
        </p:txBody>
      </p:sp>
      <p:sp>
        <p:nvSpPr>
          <p:cNvPr id="15" name="矩形 14">
            <a:extLst>
              <a:ext uri="{FF2B5EF4-FFF2-40B4-BE49-F238E27FC236}">
                <a16:creationId xmlns:a16="http://schemas.microsoft.com/office/drawing/2014/main" id="{081AF6E3-C6C8-40BB-92B6-E6E19EA4A22D}"/>
              </a:ext>
            </a:extLst>
          </p:cNvPr>
          <p:cNvSpPr>
            <a:spLocks noGrp="1"/>
          </p:cNvSpPr>
          <p:nvPr/>
        </p:nvSpPr>
        <p:spPr>
          <a:xfrm>
            <a:off x="742950" y="3695700"/>
            <a:ext cx="10191750" cy="9525"/>
          </a:xfrm>
          <a:prstGeom prst="rect">
            <a:avLst/>
          </a:prstGeom>
          <a:solidFill>
            <a:srgbClr val="B8BCC4"/>
          </a:solidFill>
          <a:ln w="0">
            <a:solidFill>
              <a:srgbClr val="B8BCC4"/>
            </a:solidFill>
            <a:prstDash val="solid"/>
          </a:ln>
        </p:spPr>
        <p:txBody>
          <a:bodyPr/>
          <a:lstStyle/>
          <a:p>
            <a:endParaRPr lang="zh-CN" altLang="en-US"/>
          </a:p>
        </p:txBody>
      </p:sp>
      <p:sp>
        <p:nvSpPr>
          <p:cNvPr id="16" name="矩形 15">
            <a:extLst>
              <a:ext uri="{FF2B5EF4-FFF2-40B4-BE49-F238E27FC236}">
                <a16:creationId xmlns:a16="http://schemas.microsoft.com/office/drawing/2014/main" id="{59E28651-FB42-4A41-851D-910CFA98426A}"/>
              </a:ext>
            </a:extLst>
          </p:cNvPr>
          <p:cNvSpPr>
            <a:spLocks noGrp="1"/>
          </p:cNvSpPr>
          <p:nvPr/>
        </p:nvSpPr>
        <p:spPr>
          <a:xfrm>
            <a:off x="742950" y="3924300"/>
            <a:ext cx="1047750" cy="266700"/>
          </a:xfrm>
          <a:prstGeom prst="rect">
            <a:avLst/>
          </a:prstGeom>
          <a:noFill/>
          <a:ln w="0">
            <a:noFill/>
            <a:prstDash val="solid"/>
          </a:ln>
        </p:spPr>
        <p:txBody>
          <a:bodyPr anchor="t"/>
          <a:lstStyle/>
          <a:p>
            <a:pPr algn="l">
              <a:defRPr sz="1500" b="1">
                <a:solidFill>
                  <a:srgbClr val="3D8DFF"/>
                </a:solidFill>
              </a:defRPr>
            </a:pPr>
            <a:r>
              <a:rPr sz="1500" b="1">
                <a:solidFill>
                  <a:srgbClr val="3D8DFF"/>
                </a:solidFill>
              </a:rPr>
              <a:t>Risk 4</a:t>
            </a:r>
          </a:p>
        </p:txBody>
      </p:sp>
      <p:sp>
        <p:nvSpPr>
          <p:cNvPr id="17" name="矩形 16">
            <a:extLst>
              <a:ext uri="{FF2B5EF4-FFF2-40B4-BE49-F238E27FC236}">
                <a16:creationId xmlns:a16="http://schemas.microsoft.com/office/drawing/2014/main" id="{95CB3EFE-A7C3-4B8C-8284-0D6AC25D0754}"/>
              </a:ext>
            </a:extLst>
          </p:cNvPr>
          <p:cNvSpPr>
            <a:spLocks noGrp="1"/>
          </p:cNvSpPr>
          <p:nvPr/>
        </p:nvSpPr>
        <p:spPr>
          <a:xfrm>
            <a:off x="1952625" y="3924300"/>
            <a:ext cx="314325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Matching uncertainty</a:t>
            </a:r>
          </a:p>
        </p:txBody>
      </p:sp>
      <p:sp>
        <p:nvSpPr>
          <p:cNvPr id="18" name="矩形 17">
            <a:extLst>
              <a:ext uri="{FF2B5EF4-FFF2-40B4-BE49-F238E27FC236}">
                <a16:creationId xmlns:a16="http://schemas.microsoft.com/office/drawing/2014/main" id="{511F4619-6294-4F07-B4CB-FB2659881C74}"/>
              </a:ext>
            </a:extLst>
          </p:cNvPr>
          <p:cNvSpPr>
            <a:spLocks noGrp="1"/>
          </p:cNvSpPr>
          <p:nvPr/>
        </p:nvSpPr>
        <p:spPr>
          <a:xfrm>
            <a:off x="5334000" y="3924300"/>
            <a:ext cx="5334000" cy="400050"/>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Validate on autoPET-IV before applying to PSMA cases.</a:t>
            </a:r>
          </a:p>
        </p:txBody>
      </p:sp>
      <p:sp>
        <p:nvSpPr>
          <p:cNvPr id="19" name="矩形 18">
            <a:extLst>
              <a:ext uri="{FF2B5EF4-FFF2-40B4-BE49-F238E27FC236}">
                <a16:creationId xmlns:a16="http://schemas.microsoft.com/office/drawing/2014/main" id="{03583A7B-3F95-4AA2-B603-290AA57A23E0}"/>
              </a:ext>
            </a:extLst>
          </p:cNvPr>
          <p:cNvSpPr>
            <a:spLocks noGrp="1"/>
          </p:cNvSpPr>
          <p:nvPr/>
        </p:nvSpPr>
        <p:spPr>
          <a:xfrm>
            <a:off x="742950" y="4400550"/>
            <a:ext cx="10191750" cy="9525"/>
          </a:xfrm>
          <a:prstGeom prst="rect">
            <a:avLst/>
          </a:prstGeom>
          <a:solidFill>
            <a:srgbClr val="B8BCC4"/>
          </a:solidFill>
          <a:ln w="0">
            <a:solidFill>
              <a:srgbClr val="B8BCC4"/>
            </a:solidFill>
            <a:prstDash val="solid"/>
          </a:ln>
        </p:spPr>
        <p:txBody>
          <a:bodyPr/>
          <a:lstStyle/>
          <a:p>
            <a:endParaRPr lang="zh-CN" altLang="en-US"/>
          </a:p>
        </p:txBody>
      </p:sp>
      <p:sp>
        <p:nvSpPr>
          <p:cNvPr id="20" name="矩形 19">
            <a:extLst>
              <a:ext uri="{FF2B5EF4-FFF2-40B4-BE49-F238E27FC236}">
                <a16:creationId xmlns:a16="http://schemas.microsoft.com/office/drawing/2014/main" id="{2027E018-A6D2-4710-A3AE-43C421A810E9}"/>
              </a:ext>
            </a:extLst>
          </p:cNvPr>
          <p:cNvSpPr>
            <a:spLocks noGrp="1"/>
          </p:cNvSpPr>
          <p:nvPr/>
        </p:nvSpPr>
        <p:spPr>
          <a:xfrm>
            <a:off x="742950" y="4629150"/>
            <a:ext cx="1047750" cy="266700"/>
          </a:xfrm>
          <a:prstGeom prst="rect">
            <a:avLst/>
          </a:prstGeom>
          <a:noFill/>
          <a:ln w="0">
            <a:noFill/>
            <a:prstDash val="solid"/>
          </a:ln>
        </p:spPr>
        <p:txBody>
          <a:bodyPr anchor="t"/>
          <a:lstStyle/>
          <a:p>
            <a:pPr algn="l">
              <a:defRPr sz="1500" b="1">
                <a:solidFill>
                  <a:srgbClr val="3D8DFF"/>
                </a:solidFill>
              </a:defRPr>
            </a:pPr>
            <a:r>
              <a:rPr sz="1500" b="1">
                <a:solidFill>
                  <a:srgbClr val="3D8DFF"/>
                </a:solidFill>
              </a:rPr>
              <a:t>Risk 5</a:t>
            </a:r>
          </a:p>
        </p:txBody>
      </p:sp>
      <p:sp>
        <p:nvSpPr>
          <p:cNvPr id="21" name="矩形 20">
            <a:extLst>
              <a:ext uri="{FF2B5EF4-FFF2-40B4-BE49-F238E27FC236}">
                <a16:creationId xmlns:a16="http://schemas.microsoft.com/office/drawing/2014/main" id="{F7E07137-9986-4474-894F-DD53EB9A74E7}"/>
              </a:ext>
            </a:extLst>
          </p:cNvPr>
          <p:cNvSpPr>
            <a:spLocks noGrp="1"/>
          </p:cNvSpPr>
          <p:nvPr/>
        </p:nvSpPr>
        <p:spPr>
          <a:xfrm>
            <a:off x="1952625" y="4629150"/>
            <a:ext cx="3143250" cy="266700"/>
          </a:xfrm>
          <a:prstGeom prst="rect">
            <a:avLst/>
          </a:prstGeom>
          <a:noFill/>
          <a:ln w="0">
            <a:noFill/>
            <a:prstDash val="solid"/>
          </a:ln>
        </p:spPr>
        <p:txBody>
          <a:bodyPr anchor="t"/>
          <a:lstStyle/>
          <a:p>
            <a:pPr algn="l">
              <a:defRPr sz="1650" b="1">
                <a:solidFill>
                  <a:srgbClr val="111111"/>
                </a:solidFill>
              </a:defRPr>
            </a:pPr>
            <a:r>
              <a:rPr sz="1650" b="1">
                <a:solidFill>
                  <a:srgbClr val="111111"/>
                </a:solidFill>
              </a:rPr>
              <a:t>Dashboard workload</a:t>
            </a:r>
          </a:p>
        </p:txBody>
      </p:sp>
      <p:sp>
        <p:nvSpPr>
          <p:cNvPr id="22" name="矩形 21">
            <a:extLst>
              <a:ext uri="{FF2B5EF4-FFF2-40B4-BE49-F238E27FC236}">
                <a16:creationId xmlns:a16="http://schemas.microsoft.com/office/drawing/2014/main" id="{52B05AAA-C427-4604-973A-4149AAA92FCA}"/>
              </a:ext>
            </a:extLst>
          </p:cNvPr>
          <p:cNvSpPr>
            <a:spLocks noGrp="1"/>
          </p:cNvSpPr>
          <p:nvPr/>
        </p:nvSpPr>
        <p:spPr>
          <a:xfrm>
            <a:off x="5334000" y="4629150"/>
            <a:ext cx="5334000" cy="400050"/>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Prioritise tables and plots before advanced viewers.</a:t>
            </a:r>
          </a:p>
        </p:txBody>
      </p:sp>
      <p:sp>
        <p:nvSpPr>
          <p:cNvPr id="23" name="矩形 22">
            <a:extLst>
              <a:ext uri="{FF2B5EF4-FFF2-40B4-BE49-F238E27FC236}">
                <a16:creationId xmlns:a16="http://schemas.microsoft.com/office/drawing/2014/main" id="{C0E68DE4-3979-4B7F-85BB-8500EEC4E64B}"/>
              </a:ext>
            </a:extLst>
          </p:cNvPr>
          <p:cNvSpPr>
            <a:spLocks noGrp="1"/>
          </p:cNvSpPr>
          <p:nvPr/>
        </p:nvSpPr>
        <p:spPr>
          <a:xfrm>
            <a:off x="742950" y="5105400"/>
            <a:ext cx="10191750" cy="9525"/>
          </a:xfrm>
          <a:prstGeom prst="rect">
            <a:avLst/>
          </a:prstGeom>
          <a:solidFill>
            <a:srgbClr val="B8BCC4"/>
          </a:solidFill>
          <a:ln w="0">
            <a:solidFill>
              <a:srgbClr val="B8BCC4"/>
            </a:solidFill>
            <a:prstDash val="solid"/>
          </a:ln>
        </p:spPr>
        <p:txBody>
          <a:bodyPr/>
          <a:lstStyle/>
          <a:p>
            <a:endParaRPr lang="zh-CN" altLang="en-US"/>
          </a:p>
        </p:txBody>
      </p:sp>
      <p:sp>
        <p:nvSpPr>
          <p:cNvPr id="24" name="矩形 23">
            <a:extLst>
              <a:ext uri="{FF2B5EF4-FFF2-40B4-BE49-F238E27FC236}">
                <a16:creationId xmlns:a16="http://schemas.microsoft.com/office/drawing/2014/main" id="{19C19A17-B538-4AB6-8F5E-E5EF9F7ED4CE}"/>
              </a:ext>
            </a:extLst>
          </p:cNvPr>
          <p:cNvSpPr>
            <a:spLocks noGrp="1"/>
          </p:cNvSpPr>
          <p:nvPr/>
        </p:nvSpPr>
        <p:spPr>
          <a:xfrm>
            <a:off x="1143000" y="5715000"/>
            <a:ext cx="9048750" cy="323850"/>
          </a:xfrm>
          <a:prstGeom prst="rect">
            <a:avLst/>
          </a:prstGeom>
          <a:noFill/>
          <a:ln w="0">
            <a:noFill/>
            <a:prstDash val="solid"/>
          </a:ln>
        </p:spPr>
        <p:txBody>
          <a:bodyPr anchor="t"/>
          <a:lstStyle/>
          <a:p>
            <a:pPr algn="ctr">
              <a:defRPr sz="1725" b="1">
                <a:solidFill>
                  <a:srgbClr val="111111"/>
                </a:solidFill>
              </a:defRPr>
            </a:pPr>
            <a:r>
              <a:rPr sz="1725" b="1">
                <a:solidFill>
                  <a:srgbClr val="111111"/>
                </a:solidFill>
              </a:rPr>
              <a:t>Feedback requested: Are the matching rules and success criteria appropriate for a first client demo?</a:t>
            </a:r>
          </a:p>
        </p:txBody>
      </p:sp>
      <p:sp>
        <p:nvSpPr>
          <p:cNvPr id="25" name="矩形 24">
            <a:extLst>
              <a:ext uri="{FF2B5EF4-FFF2-40B4-BE49-F238E27FC236}">
                <a16:creationId xmlns:a16="http://schemas.microsoft.com/office/drawing/2014/main" id="{87721A60-60A4-44ED-B04A-0EC3B49E28D6}"/>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11</a:t>
            </a:r>
          </a:p>
        </p:txBody>
      </p:sp>
    </p:spTree>
    <p:extLst>
      <p:ext uri="{BB962C8B-B14F-4D97-AF65-F5344CB8AC3E}">
        <p14:creationId xmlns:p14="http://schemas.microsoft.com/office/powerpoint/2010/main" val="1889139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7F64184B-D62E-4BE4-B65C-9086C70448E7}"/>
              </a:ext>
            </a:extLst>
          </p:cNvPr>
          <p:cNvSpPr>
            <a:spLocks noGrp="1"/>
          </p:cNvSpPr>
          <p:nvPr/>
        </p:nvSpPr>
        <p:spPr>
          <a:xfrm>
            <a:off x="533400" y="323850"/>
            <a:ext cx="3429000" cy="266700"/>
          </a:xfrm>
          <a:prstGeom prst="rect">
            <a:avLst/>
          </a:prstGeom>
          <a:noFill/>
          <a:ln w="0">
            <a:noFill/>
            <a:prstDash val="solid"/>
          </a:ln>
        </p:spPr>
        <p:txBody>
          <a:bodyPr anchor="t"/>
          <a:lstStyle/>
          <a:p>
            <a:pPr algn="l">
              <a:defRPr sz="1350" b="1">
                <a:solidFill>
                  <a:srgbClr val="5A5F68"/>
                </a:solidFill>
              </a:defRPr>
            </a:pPr>
            <a:r>
              <a:rPr sz="1350" b="1">
                <a:solidFill>
                  <a:srgbClr val="5A5F68"/>
                </a:solidFill>
              </a:rPr>
              <a:t>Project proposal</a:t>
            </a:r>
          </a:p>
        </p:txBody>
      </p:sp>
      <p:sp>
        <p:nvSpPr>
          <p:cNvPr id="2" name="矩形 1">
            <a:extLst>
              <a:ext uri="{FF2B5EF4-FFF2-40B4-BE49-F238E27FC236}">
                <a16:creationId xmlns:a16="http://schemas.microsoft.com/office/drawing/2014/main" id="{162874A2-4B47-4D70-894F-3630B23E4394}"/>
              </a:ext>
            </a:extLst>
          </p:cNvPr>
          <p:cNvSpPr>
            <a:spLocks noGrp="1"/>
          </p:cNvSpPr>
          <p:nvPr/>
        </p:nvSpPr>
        <p:spPr>
          <a:xfrm>
            <a:off x="533400" y="742950"/>
            <a:ext cx="10287000" cy="552450"/>
          </a:xfrm>
          <a:prstGeom prst="rect">
            <a:avLst/>
          </a:prstGeom>
          <a:noFill/>
          <a:ln w="0">
            <a:noFill/>
            <a:prstDash val="solid"/>
          </a:ln>
        </p:spPr>
        <p:txBody>
          <a:bodyPr anchor="t"/>
          <a:lstStyle/>
          <a:p>
            <a:pPr algn="l">
              <a:defRPr sz="3000" b="1">
                <a:solidFill>
                  <a:srgbClr val="111111"/>
                </a:solidFill>
              </a:defRPr>
            </a:pPr>
            <a:r>
              <a:rPr sz="3000" b="1">
                <a:solidFill>
                  <a:srgbClr val="111111"/>
                </a:solidFill>
              </a:rPr>
              <a:t>References used for the proposal</a:t>
            </a:r>
          </a:p>
        </p:txBody>
      </p:sp>
      <p:sp>
        <p:nvSpPr>
          <p:cNvPr id="3" name="矩形 2">
            <a:extLst>
              <a:ext uri="{FF2B5EF4-FFF2-40B4-BE49-F238E27FC236}">
                <a16:creationId xmlns:a16="http://schemas.microsoft.com/office/drawing/2014/main" id="{6D4D3CF3-30A7-4D1E-AEA3-3E2B9CEE354F}"/>
              </a:ext>
            </a:extLst>
          </p:cNvPr>
          <p:cNvSpPr>
            <a:spLocks noGrp="1"/>
          </p:cNvSpPr>
          <p:nvPr/>
        </p:nvSpPr>
        <p:spPr>
          <a:xfrm>
            <a:off x="533400" y="1438275"/>
            <a:ext cx="11125200" cy="9525"/>
          </a:xfrm>
          <a:prstGeom prst="rect">
            <a:avLst/>
          </a:prstGeom>
          <a:solidFill>
            <a:srgbClr val="B8BCC4"/>
          </a:solidFill>
          <a:ln w="0">
            <a:solidFill>
              <a:srgbClr val="B8BCC4"/>
            </a:solidFill>
            <a:prstDash val="solid"/>
          </a:ln>
        </p:spPr>
        <p:txBody>
          <a:bodyPr/>
          <a:lstStyle/>
          <a:p>
            <a:endParaRPr lang="zh-CN" altLang="en-US"/>
          </a:p>
        </p:txBody>
      </p:sp>
      <p:sp>
        <p:nvSpPr>
          <p:cNvPr id="4" name="矩形 3">
            <a:extLst>
              <a:ext uri="{FF2B5EF4-FFF2-40B4-BE49-F238E27FC236}">
                <a16:creationId xmlns:a16="http://schemas.microsoft.com/office/drawing/2014/main" id="{F9D48DB7-2ACF-4A51-BDE7-84C31B2FF5B6}"/>
              </a:ext>
            </a:extLst>
          </p:cNvPr>
          <p:cNvSpPr>
            <a:spLocks noGrp="1"/>
          </p:cNvSpPr>
          <p:nvPr/>
        </p:nvSpPr>
        <p:spPr>
          <a:xfrm>
            <a:off x="857250" y="1809750"/>
            <a:ext cx="10096500" cy="333375"/>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1. autoPET III Grand Challenge. https://autopet-iii.grand-challenge.org/</a:t>
            </a:r>
          </a:p>
        </p:txBody>
      </p:sp>
      <p:sp>
        <p:nvSpPr>
          <p:cNvPr id="5" name="矩形 4">
            <a:extLst>
              <a:ext uri="{FF2B5EF4-FFF2-40B4-BE49-F238E27FC236}">
                <a16:creationId xmlns:a16="http://schemas.microsoft.com/office/drawing/2014/main" id="{653FA968-6AC8-4637-AB4D-D64A316F1D6D}"/>
              </a:ext>
            </a:extLst>
          </p:cNvPr>
          <p:cNvSpPr>
            <a:spLocks noGrp="1"/>
          </p:cNvSpPr>
          <p:nvPr/>
        </p:nvSpPr>
        <p:spPr>
          <a:xfrm>
            <a:off x="857250" y="2333625"/>
            <a:ext cx="10096500" cy="333375"/>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2. autoPET IV Grand Challenge. https://autopet-iv.grand-challenge.org/</a:t>
            </a:r>
          </a:p>
        </p:txBody>
      </p:sp>
      <p:sp>
        <p:nvSpPr>
          <p:cNvPr id="6" name="矩形 5">
            <a:extLst>
              <a:ext uri="{FF2B5EF4-FFF2-40B4-BE49-F238E27FC236}">
                <a16:creationId xmlns:a16="http://schemas.microsoft.com/office/drawing/2014/main" id="{80F8B95E-FA47-4ED3-BAAF-A9C5AFF8BD55}"/>
              </a:ext>
            </a:extLst>
          </p:cNvPr>
          <p:cNvSpPr>
            <a:spLocks noGrp="1"/>
          </p:cNvSpPr>
          <p:nvPr/>
        </p:nvSpPr>
        <p:spPr>
          <a:xfrm>
            <a:off x="857250" y="2857500"/>
            <a:ext cx="10096500" cy="333375"/>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3. TCIA PSMA-PET-CT-Lesions collection. https://www.cancerimagingarchive.net/collection/psma-pet-ct-lesions/</a:t>
            </a:r>
          </a:p>
        </p:txBody>
      </p:sp>
      <p:sp>
        <p:nvSpPr>
          <p:cNvPr id="7" name="矩形 6">
            <a:extLst>
              <a:ext uri="{FF2B5EF4-FFF2-40B4-BE49-F238E27FC236}">
                <a16:creationId xmlns:a16="http://schemas.microsoft.com/office/drawing/2014/main" id="{8E5CF45F-82D6-41F0-B910-636B9587611C}"/>
              </a:ext>
            </a:extLst>
          </p:cNvPr>
          <p:cNvSpPr>
            <a:spLocks noGrp="1"/>
          </p:cNvSpPr>
          <p:nvPr/>
        </p:nvSpPr>
        <p:spPr>
          <a:xfrm>
            <a:off x="857250" y="3381375"/>
            <a:ext cx="10096500" cy="333375"/>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4. autoPET-III PSMA-FDG-PET-CT-Lesions v3. https://fdat.uni-tuebingen.de/records/rdkqd-wdh87</a:t>
            </a:r>
          </a:p>
        </p:txBody>
      </p:sp>
      <p:sp>
        <p:nvSpPr>
          <p:cNvPr id="8" name="矩形 7">
            <a:extLst>
              <a:ext uri="{FF2B5EF4-FFF2-40B4-BE49-F238E27FC236}">
                <a16:creationId xmlns:a16="http://schemas.microsoft.com/office/drawing/2014/main" id="{79B9213A-7EBB-4F48-959C-44C4A034ACB3}"/>
              </a:ext>
            </a:extLst>
          </p:cNvPr>
          <p:cNvSpPr>
            <a:spLocks noGrp="1"/>
          </p:cNvSpPr>
          <p:nvPr/>
        </p:nvSpPr>
        <p:spPr>
          <a:xfrm>
            <a:off x="857250" y="3905250"/>
            <a:ext cx="10096500" cy="333375"/>
          </a:xfrm>
          <a:prstGeom prst="rect">
            <a:avLst/>
          </a:prstGeom>
          <a:noFill/>
          <a:ln w="0">
            <a:noFill/>
            <a:prstDash val="solid"/>
          </a:ln>
        </p:spPr>
        <p:txBody>
          <a:bodyPr anchor="t"/>
          <a:lstStyle/>
          <a:p>
            <a:pPr algn="l">
              <a:defRPr sz="1500" b="0">
                <a:solidFill>
                  <a:srgbClr val="111111"/>
                </a:solidFill>
              </a:defRPr>
            </a:pPr>
            <a:r>
              <a:rPr sz="1500" b="0">
                <a:solidFill>
                  <a:srgbClr val="111111"/>
                </a:solidFill>
              </a:rPr>
              <a:t>5. autoPET-IV Task 2 Longitudinal-CT. https://fdat.uni-tuebingen.de/records/75kj1-64747</a:t>
            </a:r>
          </a:p>
        </p:txBody>
      </p:sp>
      <p:sp>
        <p:nvSpPr>
          <p:cNvPr id="9" name="矩形 8">
            <a:extLst>
              <a:ext uri="{FF2B5EF4-FFF2-40B4-BE49-F238E27FC236}">
                <a16:creationId xmlns:a16="http://schemas.microsoft.com/office/drawing/2014/main" id="{486EA368-1DB9-4036-953C-074C7CC13EB3}"/>
              </a:ext>
            </a:extLst>
          </p:cNvPr>
          <p:cNvSpPr>
            <a:spLocks noGrp="1"/>
          </p:cNvSpPr>
          <p:nvPr/>
        </p:nvSpPr>
        <p:spPr>
          <a:xfrm>
            <a:off x="857250" y="4429125"/>
            <a:ext cx="10096500" cy="333375"/>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6. SimpleITK documentation. https://simpleitk.org/</a:t>
            </a:r>
          </a:p>
        </p:txBody>
      </p:sp>
      <p:sp>
        <p:nvSpPr>
          <p:cNvPr id="10" name="矩形 9">
            <a:extLst>
              <a:ext uri="{FF2B5EF4-FFF2-40B4-BE49-F238E27FC236}">
                <a16:creationId xmlns:a16="http://schemas.microsoft.com/office/drawing/2014/main" id="{FDCDDA5C-F04F-40E2-97C8-8D83D5F83685}"/>
              </a:ext>
            </a:extLst>
          </p:cNvPr>
          <p:cNvSpPr>
            <a:spLocks noGrp="1"/>
          </p:cNvSpPr>
          <p:nvPr/>
        </p:nvSpPr>
        <p:spPr>
          <a:xfrm>
            <a:off x="857250" y="4953000"/>
            <a:ext cx="10096500" cy="333375"/>
          </a:xfrm>
          <a:prstGeom prst="rect">
            <a:avLst/>
          </a:prstGeom>
          <a:noFill/>
          <a:ln w="0">
            <a:noFill/>
            <a:prstDash val="solid"/>
          </a:ln>
        </p:spPr>
        <p:txBody>
          <a:bodyPr anchor="t"/>
          <a:lstStyle/>
          <a:p>
            <a:pPr algn="l">
              <a:defRPr sz="1500" b="0">
                <a:solidFill>
                  <a:srgbClr val="5A5F68"/>
                </a:solidFill>
              </a:defRPr>
            </a:pPr>
            <a:r>
              <a:rPr sz="1500" b="0">
                <a:solidFill>
                  <a:srgbClr val="5A5F68"/>
                </a:solidFill>
              </a:rPr>
              <a:t>7. Streamlit documentation. https://docs.streamlit.io/</a:t>
            </a:r>
          </a:p>
        </p:txBody>
      </p:sp>
      <p:sp>
        <p:nvSpPr>
          <p:cNvPr id="11" name="矩形 10">
            <a:extLst>
              <a:ext uri="{FF2B5EF4-FFF2-40B4-BE49-F238E27FC236}">
                <a16:creationId xmlns:a16="http://schemas.microsoft.com/office/drawing/2014/main" id="{CD705D10-CC08-49D4-A7DD-3A0C5BF0B8D3}"/>
              </a:ext>
            </a:extLst>
          </p:cNvPr>
          <p:cNvSpPr>
            <a:spLocks noGrp="1"/>
          </p:cNvSpPr>
          <p:nvPr/>
        </p:nvSpPr>
        <p:spPr>
          <a:xfrm>
            <a:off x="857250" y="5715000"/>
            <a:ext cx="9810750" cy="381000"/>
          </a:xfrm>
          <a:prstGeom prst="rect">
            <a:avLst/>
          </a:prstGeom>
          <a:noFill/>
          <a:ln w="0">
            <a:noFill/>
            <a:prstDash val="solid"/>
          </a:ln>
        </p:spPr>
        <p:txBody>
          <a:bodyPr anchor="t"/>
          <a:lstStyle/>
          <a:p>
            <a:pPr algn="l">
              <a:defRPr sz="1500" b="1">
                <a:solidFill>
                  <a:srgbClr val="5A5F68"/>
                </a:solidFill>
              </a:defRPr>
            </a:pPr>
            <a:r>
              <a:rPr sz="1500" b="1">
                <a:solidFill>
                  <a:srgbClr val="5A5F68"/>
                </a:solidFill>
              </a:rPr>
              <a:t>Internal course sources: P31 project brief, W3 scope template, and Week 4 presentation marking sheet.</a:t>
            </a:r>
          </a:p>
        </p:txBody>
      </p:sp>
      <p:sp>
        <p:nvSpPr>
          <p:cNvPr id="12" name="矩形 11">
            <a:extLst>
              <a:ext uri="{FF2B5EF4-FFF2-40B4-BE49-F238E27FC236}">
                <a16:creationId xmlns:a16="http://schemas.microsoft.com/office/drawing/2014/main" id="{B296DCDF-6837-4E02-B677-B8B4EF81FE1C}"/>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12</a:t>
            </a:r>
          </a:p>
        </p:txBody>
      </p:sp>
    </p:spTree>
    <p:extLst>
      <p:ext uri="{BB962C8B-B14F-4D97-AF65-F5344CB8AC3E}">
        <p14:creationId xmlns:p14="http://schemas.microsoft.com/office/powerpoint/2010/main" val="1285165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EB45A7C2-3192-4BC1-9679-CECC91954A34}"/>
              </a:ext>
            </a:extLst>
          </p:cNvPr>
          <p:cNvSpPr>
            <a:spLocks noGrp="1"/>
          </p:cNvSpPr>
          <p:nvPr/>
        </p:nvSpPr>
        <p:spPr>
          <a:xfrm>
            <a:off x="533400" y="609600"/>
            <a:ext cx="4953000" cy="381000"/>
          </a:xfrm>
          <a:prstGeom prst="rect">
            <a:avLst/>
          </a:prstGeom>
          <a:noFill/>
          <a:ln w="0">
            <a:noFill/>
            <a:prstDash val="solid"/>
          </a:ln>
        </p:spPr>
        <p:txBody>
          <a:bodyPr anchor="t"/>
          <a:lstStyle/>
          <a:p>
            <a:pPr algn="l">
              <a:defRPr sz="2250" b="1">
                <a:solidFill>
                  <a:srgbClr val="5A5F68"/>
                </a:solidFill>
              </a:defRPr>
            </a:pPr>
            <a:r>
              <a:rPr sz="2250" b="1">
                <a:solidFill>
                  <a:srgbClr val="5A5F68"/>
                </a:solidFill>
              </a:rPr>
              <a:t>Prepared for discussion</a:t>
            </a:r>
          </a:p>
        </p:txBody>
      </p:sp>
      <p:sp>
        <p:nvSpPr>
          <p:cNvPr id="2" name="矩形 1">
            <a:extLst>
              <a:ext uri="{FF2B5EF4-FFF2-40B4-BE49-F238E27FC236}">
                <a16:creationId xmlns:a16="http://schemas.microsoft.com/office/drawing/2014/main" id="{4004B521-03DF-490B-9962-0FC668C5027D}"/>
              </a:ext>
            </a:extLst>
          </p:cNvPr>
          <p:cNvSpPr>
            <a:spLocks noGrp="1"/>
          </p:cNvSpPr>
          <p:nvPr/>
        </p:nvSpPr>
        <p:spPr>
          <a:xfrm>
            <a:off x="533400" y="2333625"/>
            <a:ext cx="5334000" cy="762000"/>
          </a:xfrm>
          <a:prstGeom prst="rect">
            <a:avLst/>
          </a:prstGeom>
          <a:noFill/>
          <a:ln w="0">
            <a:noFill/>
            <a:prstDash val="solid"/>
          </a:ln>
        </p:spPr>
        <p:txBody>
          <a:bodyPr anchor="t"/>
          <a:lstStyle/>
          <a:p>
            <a:pPr algn="l">
              <a:defRPr sz="5400" b="1">
                <a:solidFill>
                  <a:srgbClr val="111111"/>
                </a:solidFill>
              </a:defRPr>
            </a:pPr>
            <a:r>
              <a:rPr sz="5400" b="1">
                <a:solidFill>
                  <a:srgbClr val="111111"/>
                </a:solidFill>
              </a:rPr>
              <a:t>Questions</a:t>
            </a:r>
          </a:p>
        </p:txBody>
      </p:sp>
      <p:sp>
        <p:nvSpPr>
          <p:cNvPr id="3" name="矩形 2">
            <a:extLst>
              <a:ext uri="{FF2B5EF4-FFF2-40B4-BE49-F238E27FC236}">
                <a16:creationId xmlns:a16="http://schemas.microsoft.com/office/drawing/2014/main" id="{A002AA58-374E-49B2-BCC1-D29DD52F88CA}"/>
              </a:ext>
            </a:extLst>
          </p:cNvPr>
          <p:cNvSpPr>
            <a:spLocks noGrp="1"/>
          </p:cNvSpPr>
          <p:nvPr/>
        </p:nvSpPr>
        <p:spPr>
          <a:xfrm>
            <a:off x="552450" y="3429000"/>
            <a:ext cx="6858000" cy="495300"/>
          </a:xfrm>
          <a:prstGeom prst="rect">
            <a:avLst/>
          </a:prstGeom>
          <a:noFill/>
          <a:ln w="0">
            <a:noFill/>
            <a:prstDash val="solid"/>
          </a:ln>
        </p:spPr>
        <p:txBody>
          <a:bodyPr anchor="t"/>
          <a:lstStyle/>
          <a:p>
            <a:pPr algn="l">
              <a:defRPr sz="1950" b="0">
                <a:solidFill>
                  <a:srgbClr val="5A5F68"/>
                </a:solidFill>
              </a:defRPr>
            </a:pPr>
            <a:r>
              <a:rPr sz="1950" b="0">
                <a:solidFill>
                  <a:srgbClr val="5A5F68"/>
                </a:solidFill>
              </a:rPr>
              <a:t>Project proposal, scope, roles, and next two-week implementation plan</a:t>
            </a:r>
          </a:p>
        </p:txBody>
      </p:sp>
      <p:sp>
        <p:nvSpPr>
          <p:cNvPr id="4" name="矩形 3">
            <a:extLst>
              <a:ext uri="{FF2B5EF4-FFF2-40B4-BE49-F238E27FC236}">
                <a16:creationId xmlns:a16="http://schemas.microsoft.com/office/drawing/2014/main" id="{D4E1980A-9C65-47E8-A96C-995887A0910C}"/>
              </a:ext>
            </a:extLst>
          </p:cNvPr>
          <p:cNvSpPr>
            <a:spLocks noGrp="1"/>
          </p:cNvSpPr>
          <p:nvPr/>
        </p:nvSpPr>
        <p:spPr>
          <a:xfrm>
            <a:off x="552450" y="4333875"/>
            <a:ext cx="2381250" cy="47625"/>
          </a:xfrm>
          <a:prstGeom prst="rect">
            <a:avLst/>
          </a:prstGeom>
          <a:solidFill>
            <a:srgbClr val="3D8DFF"/>
          </a:solidFill>
          <a:ln w="0">
            <a:solidFill>
              <a:srgbClr val="3D8DFF"/>
            </a:solidFill>
            <a:prstDash val="solid"/>
          </a:ln>
        </p:spPr>
        <p:txBody>
          <a:bodyPr/>
          <a:lstStyle/>
          <a:p>
            <a:endParaRPr lang="zh-CN" altLang="en-US"/>
          </a:p>
        </p:txBody>
      </p:sp>
      <p:sp>
        <p:nvSpPr>
          <p:cNvPr id="5" name="矩形 4">
            <a:extLst>
              <a:ext uri="{FF2B5EF4-FFF2-40B4-BE49-F238E27FC236}">
                <a16:creationId xmlns:a16="http://schemas.microsoft.com/office/drawing/2014/main" id="{E56DE316-F414-4634-A111-7998627E0772}"/>
              </a:ext>
            </a:extLst>
          </p:cNvPr>
          <p:cNvSpPr>
            <a:spLocks noGrp="1"/>
          </p:cNvSpPr>
          <p:nvPr/>
        </p:nvSpPr>
        <p:spPr>
          <a:xfrm>
            <a:off x="11334750" y="6334125"/>
            <a:ext cx="381000" cy="228600"/>
          </a:xfrm>
          <a:prstGeom prst="rect">
            <a:avLst/>
          </a:prstGeom>
          <a:noFill/>
          <a:ln w="0">
            <a:noFill/>
            <a:prstDash val="solid"/>
          </a:ln>
        </p:spPr>
        <p:txBody>
          <a:bodyPr anchor="t"/>
          <a:lstStyle/>
          <a:p>
            <a:pPr algn="r">
              <a:defRPr sz="1050" b="0">
                <a:solidFill>
                  <a:srgbClr val="5A5F68"/>
                </a:solidFill>
              </a:defRPr>
            </a:pPr>
            <a:r>
              <a:rPr sz="1050" b="0">
                <a:solidFill>
                  <a:srgbClr val="5A5F68"/>
                </a:solidFill>
              </a:rPr>
              <a:t>13</a:t>
            </a:r>
          </a:p>
        </p:txBody>
      </p:sp>
    </p:spTree>
    <p:extLst>
      <p:ext uri="{BB962C8B-B14F-4D97-AF65-F5344CB8AC3E}">
        <p14:creationId xmlns:p14="http://schemas.microsoft.com/office/powerpoint/2010/main" val="19563101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2364</Words>
  <Application>Microsoft Macintosh PowerPoint</Application>
  <DocSecurity>0</DocSecurity>
  <PresentationFormat>宽屏</PresentationFormat>
  <Paragraphs>261</Paragraphs>
  <Slides>13</Slides>
  <Notes>13</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13</vt:i4>
      </vt:variant>
    </vt:vector>
  </HeadingPairs>
  <TitlesOfParts>
    <vt:vector size="15"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qiang li</cp:lastModifiedBy>
  <cp:revision>5</cp:revision>
  <dcterms:created xsi:type="dcterms:W3CDTF">2026-08-21T12:50:04Z</dcterms:created>
  <dcterms:modified xsi:type="dcterms:W3CDTF">2026-08-23T10:25:22Z</dcterms:modified>
</cp:coreProperties>
</file>